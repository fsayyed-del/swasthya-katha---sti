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60" r:id="rId4"/>
    <p:sldId id="259" r:id="rId5"/>
    <p:sldId id="261" r:id="rId6"/>
    <p:sldId id="263" r:id="rId7"/>
    <p:sldId id="799" r:id="rId8"/>
    <p:sldId id="264" r:id="rId9"/>
    <p:sldId id="265" r:id="rId10"/>
    <p:sldId id="266" r:id="rId11"/>
    <p:sldId id="267" r:id="rId12"/>
    <p:sldId id="268" r:id="rId13"/>
    <p:sldId id="269" r:id="rId14"/>
    <p:sldId id="270" r:id="rId15"/>
    <p:sldId id="271" r:id="rId16"/>
    <p:sldId id="272" r:id="rId17"/>
    <p:sldId id="273" r:id="rId18"/>
    <p:sldId id="772" r:id="rId19"/>
    <p:sldId id="771" r:id="rId20"/>
    <p:sldId id="774" r:id="rId21"/>
    <p:sldId id="775" r:id="rId22"/>
    <p:sldId id="782" r:id="rId23"/>
    <p:sldId id="783" r:id="rId24"/>
    <p:sldId id="789" r:id="rId25"/>
    <p:sldId id="790" r:id="rId26"/>
    <p:sldId id="791" r:id="rId27"/>
    <p:sldId id="792" r:id="rId28"/>
    <p:sldId id="793" r:id="rId29"/>
    <p:sldId id="794" r:id="rId30"/>
    <p:sldId id="795" r:id="rId31"/>
    <p:sldId id="796" r:id="rId32"/>
    <p:sldId id="797" r:id="rId33"/>
    <p:sldId id="787" r:id="rId34"/>
    <p:sldId id="788" r:id="rId35"/>
    <p:sldId id="79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1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B06339-9C85-4F64-A082-B46596154A40}" type="doc">
      <dgm:prSet loTypeId="urn:microsoft.com/office/officeart/2005/8/layout/process1" loCatId="process" qsTypeId="urn:microsoft.com/office/officeart/2005/8/quickstyle/simple1" qsCatId="simple" csTypeId="urn:microsoft.com/office/officeart/2005/8/colors/colorful5" csCatId="colorful" phldr="1"/>
      <dgm:spPr/>
    </dgm:pt>
    <dgm:pt modelId="{82BBAD31-3BDF-40CF-8A13-CF88B642CF63}">
      <dgm:prSet phldrT="[Text]" custT="1"/>
      <dgm:spPr>
        <a:solidFill>
          <a:srgbClr val="C00000"/>
        </a:solidFill>
      </dgm:spPr>
      <dgm:t>
        <a:bodyPr/>
        <a:lstStyle/>
        <a:p>
          <a:r>
            <a:rPr lang="en-US" sz="2000" b="1" dirty="0">
              <a:solidFill>
                <a:schemeClr val="bg1"/>
              </a:solidFill>
            </a:rPr>
            <a:t>High risk groups</a:t>
          </a:r>
        </a:p>
        <a:p>
          <a:r>
            <a:rPr lang="en-US" sz="2000" b="1" dirty="0">
              <a:solidFill>
                <a:schemeClr val="bg1"/>
              </a:solidFill>
            </a:rPr>
            <a:t>(FSW, MSM, IDU, TG)</a:t>
          </a:r>
        </a:p>
      </dgm:t>
    </dgm:pt>
    <dgm:pt modelId="{1CD2AD3B-D591-41C4-A9D8-B8A8C667E143}" type="parTrans" cxnId="{5D823FBC-CF72-44D9-B407-B5D26AFD05E6}">
      <dgm:prSet/>
      <dgm:spPr/>
      <dgm:t>
        <a:bodyPr/>
        <a:lstStyle/>
        <a:p>
          <a:endParaRPr lang="en-US" sz="2000" b="1">
            <a:solidFill>
              <a:schemeClr val="tx1"/>
            </a:solidFill>
          </a:endParaRPr>
        </a:p>
      </dgm:t>
    </dgm:pt>
    <dgm:pt modelId="{8D6B78A9-4223-4823-8FB9-222D84371D1D}" type="sibTrans" cxnId="{5D823FBC-CF72-44D9-B407-B5D26AFD05E6}">
      <dgm:prSet custT="1"/>
      <dgm:spPr/>
      <dgm:t>
        <a:bodyPr/>
        <a:lstStyle/>
        <a:p>
          <a:endParaRPr lang="en-US" sz="1050" b="1">
            <a:solidFill>
              <a:schemeClr val="tx1"/>
            </a:solidFill>
          </a:endParaRPr>
        </a:p>
      </dgm:t>
    </dgm:pt>
    <dgm:pt modelId="{A0DB944D-59F9-4C3F-B6ED-6D2F281F0D13}">
      <dgm:prSet phldrT="[Text]" custT="1"/>
      <dgm:spPr>
        <a:solidFill>
          <a:srgbClr val="000099"/>
        </a:solidFill>
      </dgm:spPr>
      <dgm:t>
        <a:bodyPr/>
        <a:lstStyle/>
        <a:p>
          <a:r>
            <a:rPr lang="en-US" sz="2000" b="1" dirty="0">
              <a:solidFill>
                <a:schemeClr val="bg1"/>
              </a:solidFill>
            </a:rPr>
            <a:t>Bridge Population</a:t>
          </a:r>
        </a:p>
        <a:p>
          <a:r>
            <a:rPr lang="en-US" sz="2000" b="1" dirty="0">
              <a:solidFill>
                <a:schemeClr val="bg1"/>
              </a:solidFill>
            </a:rPr>
            <a:t>(Migrant workers &amp; Truckers)</a:t>
          </a:r>
        </a:p>
      </dgm:t>
    </dgm:pt>
    <dgm:pt modelId="{F0763A4D-453E-48C7-B506-9CC595BA26C7}" type="parTrans" cxnId="{6B23865E-B44B-4869-8089-698B189C2C3E}">
      <dgm:prSet/>
      <dgm:spPr/>
      <dgm:t>
        <a:bodyPr/>
        <a:lstStyle/>
        <a:p>
          <a:endParaRPr lang="en-US" sz="2000" b="1">
            <a:solidFill>
              <a:schemeClr val="tx1"/>
            </a:solidFill>
          </a:endParaRPr>
        </a:p>
      </dgm:t>
    </dgm:pt>
    <dgm:pt modelId="{F7761CDD-BFE1-44F9-804C-B7A873BF51BF}" type="sibTrans" cxnId="{6B23865E-B44B-4869-8089-698B189C2C3E}">
      <dgm:prSet custT="1"/>
      <dgm:spPr/>
      <dgm:t>
        <a:bodyPr/>
        <a:lstStyle/>
        <a:p>
          <a:endParaRPr lang="en-US" sz="1050" b="1">
            <a:solidFill>
              <a:schemeClr val="tx1"/>
            </a:solidFill>
          </a:endParaRPr>
        </a:p>
      </dgm:t>
    </dgm:pt>
    <dgm:pt modelId="{DB7AF0CE-79FA-41DC-A117-5FFB579216FA}">
      <dgm:prSet phldrT="[Text]" custT="1"/>
      <dgm:spPr>
        <a:solidFill>
          <a:schemeClr val="accent1">
            <a:lumMod val="25000"/>
          </a:schemeClr>
        </a:solidFill>
      </dgm:spPr>
      <dgm:t>
        <a:bodyPr/>
        <a:lstStyle/>
        <a:p>
          <a:r>
            <a:rPr lang="en-US" sz="2000" b="1" dirty="0">
              <a:solidFill>
                <a:schemeClr val="bg1"/>
              </a:solidFill>
            </a:rPr>
            <a:t>General Population</a:t>
          </a:r>
        </a:p>
        <a:p>
          <a:r>
            <a:rPr lang="en-US" sz="2000" b="1" dirty="0">
              <a:solidFill>
                <a:schemeClr val="bg1"/>
              </a:solidFill>
            </a:rPr>
            <a:t>(Low risk Men &amp; Women)</a:t>
          </a:r>
        </a:p>
      </dgm:t>
    </dgm:pt>
    <dgm:pt modelId="{596EC0D6-7039-48F0-A529-67709503A0B5}" type="parTrans" cxnId="{643E2EAF-5B58-4FDD-A233-400533105BC6}">
      <dgm:prSet/>
      <dgm:spPr/>
      <dgm:t>
        <a:bodyPr/>
        <a:lstStyle/>
        <a:p>
          <a:endParaRPr lang="en-US" sz="2000" b="1">
            <a:solidFill>
              <a:schemeClr val="tx1"/>
            </a:solidFill>
          </a:endParaRPr>
        </a:p>
      </dgm:t>
    </dgm:pt>
    <dgm:pt modelId="{9671EA69-6D6E-4FCC-B923-459B43729C4A}" type="sibTrans" cxnId="{643E2EAF-5B58-4FDD-A233-400533105BC6}">
      <dgm:prSet custT="1"/>
      <dgm:spPr/>
      <dgm:t>
        <a:bodyPr/>
        <a:lstStyle/>
        <a:p>
          <a:endParaRPr lang="en-US" sz="1050" b="1">
            <a:solidFill>
              <a:schemeClr val="tx1"/>
            </a:solidFill>
          </a:endParaRPr>
        </a:p>
      </dgm:t>
    </dgm:pt>
    <dgm:pt modelId="{A49731DE-509C-49F9-9479-F927D90C7334}">
      <dgm:prSet custT="1"/>
      <dgm:spPr>
        <a:solidFill>
          <a:schemeClr val="accent6">
            <a:lumMod val="75000"/>
          </a:schemeClr>
        </a:solidFill>
      </dgm:spPr>
      <dgm:t>
        <a:bodyPr/>
        <a:lstStyle/>
        <a:p>
          <a:r>
            <a:rPr lang="en-US" sz="2000" b="1" dirty="0">
              <a:solidFill>
                <a:schemeClr val="bg1"/>
              </a:solidFill>
            </a:rPr>
            <a:t>New born Children</a:t>
          </a:r>
        </a:p>
      </dgm:t>
    </dgm:pt>
    <dgm:pt modelId="{F06D9BEF-E53A-48DB-973E-FBBE9D57F53C}" type="parTrans" cxnId="{3CED5278-C72C-452C-BBBB-88F7CAA78CDF}">
      <dgm:prSet/>
      <dgm:spPr/>
      <dgm:t>
        <a:bodyPr/>
        <a:lstStyle/>
        <a:p>
          <a:endParaRPr lang="en-US" sz="2000" b="1">
            <a:solidFill>
              <a:schemeClr val="tx1"/>
            </a:solidFill>
          </a:endParaRPr>
        </a:p>
      </dgm:t>
    </dgm:pt>
    <dgm:pt modelId="{D289ACDF-496A-4933-A08F-E0E416629B74}" type="sibTrans" cxnId="{3CED5278-C72C-452C-BBBB-88F7CAA78CDF}">
      <dgm:prSet/>
      <dgm:spPr/>
      <dgm:t>
        <a:bodyPr/>
        <a:lstStyle/>
        <a:p>
          <a:endParaRPr lang="en-US" sz="2000" b="1">
            <a:solidFill>
              <a:schemeClr val="tx1"/>
            </a:solidFill>
          </a:endParaRPr>
        </a:p>
      </dgm:t>
    </dgm:pt>
    <dgm:pt modelId="{EB17D36C-5347-4473-AAB8-332A79565DD8}" type="pres">
      <dgm:prSet presAssocID="{2EB06339-9C85-4F64-A082-B46596154A40}" presName="Name0" presStyleCnt="0">
        <dgm:presLayoutVars>
          <dgm:dir/>
          <dgm:resizeHandles val="exact"/>
        </dgm:presLayoutVars>
      </dgm:prSet>
      <dgm:spPr/>
    </dgm:pt>
    <dgm:pt modelId="{9B6328B8-821B-4448-8774-4ADA56B6D858}" type="pres">
      <dgm:prSet presAssocID="{82BBAD31-3BDF-40CF-8A13-CF88B642CF63}" presName="node" presStyleLbl="node1" presStyleIdx="0" presStyleCnt="4">
        <dgm:presLayoutVars>
          <dgm:bulletEnabled val="1"/>
        </dgm:presLayoutVars>
      </dgm:prSet>
      <dgm:spPr/>
    </dgm:pt>
    <dgm:pt modelId="{BC5E18C4-F77D-4C06-B91A-0A1F6B09544C}" type="pres">
      <dgm:prSet presAssocID="{8D6B78A9-4223-4823-8FB9-222D84371D1D}" presName="sibTrans" presStyleLbl="sibTrans2D1" presStyleIdx="0" presStyleCnt="3" custScaleY="55227"/>
      <dgm:spPr/>
    </dgm:pt>
    <dgm:pt modelId="{7B26A079-3217-4944-BA5F-86D4C453C89A}" type="pres">
      <dgm:prSet presAssocID="{8D6B78A9-4223-4823-8FB9-222D84371D1D}" presName="connectorText" presStyleLbl="sibTrans2D1" presStyleIdx="0" presStyleCnt="3"/>
      <dgm:spPr/>
    </dgm:pt>
    <dgm:pt modelId="{24EACAAD-E857-4701-BA26-049E5F233971}" type="pres">
      <dgm:prSet presAssocID="{A0DB944D-59F9-4C3F-B6ED-6D2F281F0D13}" presName="node" presStyleLbl="node1" presStyleIdx="1" presStyleCnt="4">
        <dgm:presLayoutVars>
          <dgm:bulletEnabled val="1"/>
        </dgm:presLayoutVars>
      </dgm:prSet>
      <dgm:spPr/>
    </dgm:pt>
    <dgm:pt modelId="{EFF8C3FF-086C-41DC-A238-7B233D3F8CC9}" type="pres">
      <dgm:prSet presAssocID="{F7761CDD-BFE1-44F9-804C-B7A873BF51BF}" presName="sibTrans" presStyleLbl="sibTrans2D1" presStyleIdx="1" presStyleCnt="3" custScaleY="55227"/>
      <dgm:spPr/>
    </dgm:pt>
    <dgm:pt modelId="{BA6F8E72-BF51-46FD-A286-72B38741FB9F}" type="pres">
      <dgm:prSet presAssocID="{F7761CDD-BFE1-44F9-804C-B7A873BF51BF}" presName="connectorText" presStyleLbl="sibTrans2D1" presStyleIdx="1" presStyleCnt="3"/>
      <dgm:spPr/>
    </dgm:pt>
    <dgm:pt modelId="{AFAB19FB-A049-460A-B11F-6D3D5DE5CAB6}" type="pres">
      <dgm:prSet presAssocID="{DB7AF0CE-79FA-41DC-A117-5FFB579216FA}" presName="node" presStyleLbl="node1" presStyleIdx="2" presStyleCnt="4">
        <dgm:presLayoutVars>
          <dgm:bulletEnabled val="1"/>
        </dgm:presLayoutVars>
      </dgm:prSet>
      <dgm:spPr/>
    </dgm:pt>
    <dgm:pt modelId="{25B1E6CA-8A2B-45C6-8F22-72281732F69F}" type="pres">
      <dgm:prSet presAssocID="{9671EA69-6D6E-4FCC-B923-459B43729C4A}" presName="sibTrans" presStyleLbl="sibTrans2D1" presStyleIdx="2" presStyleCnt="3" custScaleY="55227"/>
      <dgm:spPr/>
    </dgm:pt>
    <dgm:pt modelId="{63CCFA46-71C7-43FA-95E2-AC5819DE69CD}" type="pres">
      <dgm:prSet presAssocID="{9671EA69-6D6E-4FCC-B923-459B43729C4A}" presName="connectorText" presStyleLbl="sibTrans2D1" presStyleIdx="2" presStyleCnt="3"/>
      <dgm:spPr/>
    </dgm:pt>
    <dgm:pt modelId="{F82C121E-16A0-4BD2-8DBA-637D5C505666}" type="pres">
      <dgm:prSet presAssocID="{A49731DE-509C-49F9-9479-F927D90C7334}" presName="node" presStyleLbl="node1" presStyleIdx="3" presStyleCnt="4">
        <dgm:presLayoutVars>
          <dgm:bulletEnabled val="1"/>
        </dgm:presLayoutVars>
      </dgm:prSet>
      <dgm:spPr/>
    </dgm:pt>
  </dgm:ptLst>
  <dgm:cxnLst>
    <dgm:cxn modelId="{3EA2CA2B-BF3F-43F3-BA73-55737CD03589}" type="presOf" srcId="{9671EA69-6D6E-4FCC-B923-459B43729C4A}" destId="{63CCFA46-71C7-43FA-95E2-AC5819DE69CD}" srcOrd="1" destOrd="0" presId="urn:microsoft.com/office/officeart/2005/8/layout/process1"/>
    <dgm:cxn modelId="{6B23865E-B44B-4869-8089-698B189C2C3E}" srcId="{2EB06339-9C85-4F64-A082-B46596154A40}" destId="{A0DB944D-59F9-4C3F-B6ED-6D2F281F0D13}" srcOrd="1" destOrd="0" parTransId="{F0763A4D-453E-48C7-B506-9CC595BA26C7}" sibTransId="{F7761CDD-BFE1-44F9-804C-B7A873BF51BF}"/>
    <dgm:cxn modelId="{17D5E44B-7074-4F16-BAAD-C72B0B0D0759}" type="presOf" srcId="{A0DB944D-59F9-4C3F-B6ED-6D2F281F0D13}" destId="{24EACAAD-E857-4701-BA26-049E5F233971}" srcOrd="0" destOrd="0" presId="urn:microsoft.com/office/officeart/2005/8/layout/process1"/>
    <dgm:cxn modelId="{3CED5278-C72C-452C-BBBB-88F7CAA78CDF}" srcId="{2EB06339-9C85-4F64-A082-B46596154A40}" destId="{A49731DE-509C-49F9-9479-F927D90C7334}" srcOrd="3" destOrd="0" parTransId="{F06D9BEF-E53A-48DB-973E-FBBE9D57F53C}" sibTransId="{D289ACDF-496A-4933-A08F-E0E416629B74}"/>
    <dgm:cxn modelId="{2A3B7E59-67CF-47CC-8450-6CF765B922F4}" type="presOf" srcId="{82BBAD31-3BDF-40CF-8A13-CF88B642CF63}" destId="{9B6328B8-821B-4448-8774-4ADA56B6D858}" srcOrd="0" destOrd="0" presId="urn:microsoft.com/office/officeart/2005/8/layout/process1"/>
    <dgm:cxn modelId="{4FA36890-1A96-44BC-BAA5-1210B012D2B2}" type="presOf" srcId="{F7761CDD-BFE1-44F9-804C-B7A873BF51BF}" destId="{EFF8C3FF-086C-41DC-A238-7B233D3F8CC9}" srcOrd="0" destOrd="0" presId="urn:microsoft.com/office/officeart/2005/8/layout/process1"/>
    <dgm:cxn modelId="{3DEF6996-E042-4BE8-BAE2-F8F981B9F3DF}" type="presOf" srcId="{DB7AF0CE-79FA-41DC-A117-5FFB579216FA}" destId="{AFAB19FB-A049-460A-B11F-6D3D5DE5CAB6}" srcOrd="0" destOrd="0" presId="urn:microsoft.com/office/officeart/2005/8/layout/process1"/>
    <dgm:cxn modelId="{6B173F9A-7E37-4E69-9F68-54A25192DD54}" type="presOf" srcId="{8D6B78A9-4223-4823-8FB9-222D84371D1D}" destId="{7B26A079-3217-4944-BA5F-86D4C453C89A}" srcOrd="1" destOrd="0" presId="urn:microsoft.com/office/officeart/2005/8/layout/process1"/>
    <dgm:cxn modelId="{643E2EAF-5B58-4FDD-A233-400533105BC6}" srcId="{2EB06339-9C85-4F64-A082-B46596154A40}" destId="{DB7AF0CE-79FA-41DC-A117-5FFB579216FA}" srcOrd="2" destOrd="0" parTransId="{596EC0D6-7039-48F0-A529-67709503A0B5}" sibTransId="{9671EA69-6D6E-4FCC-B923-459B43729C4A}"/>
    <dgm:cxn modelId="{5D823FBC-CF72-44D9-B407-B5D26AFD05E6}" srcId="{2EB06339-9C85-4F64-A082-B46596154A40}" destId="{82BBAD31-3BDF-40CF-8A13-CF88B642CF63}" srcOrd="0" destOrd="0" parTransId="{1CD2AD3B-D591-41C4-A9D8-B8A8C667E143}" sibTransId="{8D6B78A9-4223-4823-8FB9-222D84371D1D}"/>
    <dgm:cxn modelId="{6387C7C1-F915-4F7B-AD58-ED00E29A25F5}" type="presOf" srcId="{2EB06339-9C85-4F64-A082-B46596154A40}" destId="{EB17D36C-5347-4473-AAB8-332A79565DD8}" srcOrd="0" destOrd="0" presId="urn:microsoft.com/office/officeart/2005/8/layout/process1"/>
    <dgm:cxn modelId="{C6E0C6CB-03AF-4776-8788-98EEE9F7A20B}" type="presOf" srcId="{A49731DE-509C-49F9-9479-F927D90C7334}" destId="{F82C121E-16A0-4BD2-8DBA-637D5C505666}" srcOrd="0" destOrd="0" presId="urn:microsoft.com/office/officeart/2005/8/layout/process1"/>
    <dgm:cxn modelId="{FCF1DDD6-923A-45AD-A191-959096D74735}" type="presOf" srcId="{8D6B78A9-4223-4823-8FB9-222D84371D1D}" destId="{BC5E18C4-F77D-4C06-B91A-0A1F6B09544C}" srcOrd="0" destOrd="0" presId="urn:microsoft.com/office/officeart/2005/8/layout/process1"/>
    <dgm:cxn modelId="{8A17E1F2-C379-4FDD-96F3-D8B77F736DD6}" type="presOf" srcId="{F7761CDD-BFE1-44F9-804C-B7A873BF51BF}" destId="{BA6F8E72-BF51-46FD-A286-72B38741FB9F}" srcOrd="1" destOrd="0" presId="urn:microsoft.com/office/officeart/2005/8/layout/process1"/>
    <dgm:cxn modelId="{41691FFD-945B-4EC8-89B2-E8E77DFCACB9}" type="presOf" srcId="{9671EA69-6D6E-4FCC-B923-459B43729C4A}" destId="{25B1E6CA-8A2B-45C6-8F22-72281732F69F}" srcOrd="0" destOrd="0" presId="urn:microsoft.com/office/officeart/2005/8/layout/process1"/>
    <dgm:cxn modelId="{3A4F38B5-C5AC-4036-8247-8DA1CDB903B0}" type="presParOf" srcId="{EB17D36C-5347-4473-AAB8-332A79565DD8}" destId="{9B6328B8-821B-4448-8774-4ADA56B6D858}" srcOrd="0" destOrd="0" presId="urn:microsoft.com/office/officeart/2005/8/layout/process1"/>
    <dgm:cxn modelId="{4BB29DF7-422B-460B-BA8E-8D5EA6362460}" type="presParOf" srcId="{EB17D36C-5347-4473-AAB8-332A79565DD8}" destId="{BC5E18C4-F77D-4C06-B91A-0A1F6B09544C}" srcOrd="1" destOrd="0" presId="urn:microsoft.com/office/officeart/2005/8/layout/process1"/>
    <dgm:cxn modelId="{90E54F45-A620-45CD-9BEF-33AF9D25B81A}" type="presParOf" srcId="{BC5E18C4-F77D-4C06-B91A-0A1F6B09544C}" destId="{7B26A079-3217-4944-BA5F-86D4C453C89A}" srcOrd="0" destOrd="0" presId="urn:microsoft.com/office/officeart/2005/8/layout/process1"/>
    <dgm:cxn modelId="{D33E7E96-D04A-4AA9-9FD5-FE3C193A19C8}" type="presParOf" srcId="{EB17D36C-5347-4473-AAB8-332A79565DD8}" destId="{24EACAAD-E857-4701-BA26-049E5F233971}" srcOrd="2" destOrd="0" presId="urn:microsoft.com/office/officeart/2005/8/layout/process1"/>
    <dgm:cxn modelId="{4601FF54-93D3-46A0-8B03-E77C3D071721}" type="presParOf" srcId="{EB17D36C-5347-4473-AAB8-332A79565DD8}" destId="{EFF8C3FF-086C-41DC-A238-7B233D3F8CC9}" srcOrd="3" destOrd="0" presId="urn:microsoft.com/office/officeart/2005/8/layout/process1"/>
    <dgm:cxn modelId="{87C77FB8-39A6-467B-8EFF-27C0E937A2B8}" type="presParOf" srcId="{EFF8C3FF-086C-41DC-A238-7B233D3F8CC9}" destId="{BA6F8E72-BF51-46FD-A286-72B38741FB9F}" srcOrd="0" destOrd="0" presId="urn:microsoft.com/office/officeart/2005/8/layout/process1"/>
    <dgm:cxn modelId="{A8F26E0B-F0C8-4B24-9ED8-8245FFEE7811}" type="presParOf" srcId="{EB17D36C-5347-4473-AAB8-332A79565DD8}" destId="{AFAB19FB-A049-460A-B11F-6D3D5DE5CAB6}" srcOrd="4" destOrd="0" presId="urn:microsoft.com/office/officeart/2005/8/layout/process1"/>
    <dgm:cxn modelId="{C892E75C-A3A7-437F-9A19-B5DF03F95FD0}" type="presParOf" srcId="{EB17D36C-5347-4473-AAB8-332A79565DD8}" destId="{25B1E6CA-8A2B-45C6-8F22-72281732F69F}" srcOrd="5" destOrd="0" presId="urn:microsoft.com/office/officeart/2005/8/layout/process1"/>
    <dgm:cxn modelId="{BA589575-C9BC-46D0-A45A-35A1EB07822B}" type="presParOf" srcId="{25B1E6CA-8A2B-45C6-8F22-72281732F69F}" destId="{63CCFA46-71C7-43FA-95E2-AC5819DE69CD}" srcOrd="0" destOrd="0" presId="urn:microsoft.com/office/officeart/2005/8/layout/process1"/>
    <dgm:cxn modelId="{2A015D9C-158C-43A4-81C0-7CF9580EF212}" type="presParOf" srcId="{EB17D36C-5347-4473-AAB8-332A79565DD8}" destId="{F82C121E-16A0-4BD2-8DBA-637D5C505666}" srcOrd="6" destOrd="0" presId="urn:microsoft.com/office/officeart/2005/8/layout/process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328B8-821B-4448-8774-4ADA56B6D858}">
      <dsp:nvSpPr>
        <dsp:cNvPr id="0" name=""/>
        <dsp:cNvSpPr/>
      </dsp:nvSpPr>
      <dsp:spPr>
        <a:xfrm>
          <a:off x="3817" y="452837"/>
          <a:ext cx="1669070" cy="1761325"/>
        </a:xfrm>
        <a:prstGeom prst="roundRect">
          <a:avLst>
            <a:gd name="adj" fmla="val 10000"/>
          </a:avLst>
        </a:prstGeom>
        <a:solidFill>
          <a:srgbClr val="C0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rPr>
            <a:t>High risk groups</a:t>
          </a:r>
        </a:p>
        <a:p>
          <a:pPr marL="0" lvl="0" indent="0" algn="ctr" defTabSz="889000">
            <a:lnSpc>
              <a:spcPct val="90000"/>
            </a:lnSpc>
            <a:spcBef>
              <a:spcPct val="0"/>
            </a:spcBef>
            <a:spcAft>
              <a:spcPct val="35000"/>
            </a:spcAft>
            <a:buNone/>
          </a:pPr>
          <a:r>
            <a:rPr lang="en-US" sz="2000" b="1" kern="1200" dirty="0">
              <a:solidFill>
                <a:schemeClr val="bg1"/>
              </a:solidFill>
            </a:rPr>
            <a:t>(FSW, MSM, IDU, TG)</a:t>
          </a:r>
        </a:p>
      </dsp:txBody>
      <dsp:txXfrm>
        <a:off x="52702" y="501722"/>
        <a:ext cx="1571300" cy="1663555"/>
      </dsp:txXfrm>
    </dsp:sp>
    <dsp:sp modelId="{BC5E18C4-F77D-4C06-B91A-0A1F6B09544C}">
      <dsp:nvSpPr>
        <dsp:cNvPr id="0" name=""/>
        <dsp:cNvSpPr/>
      </dsp:nvSpPr>
      <dsp:spPr>
        <a:xfrm>
          <a:off x="1839794" y="1219199"/>
          <a:ext cx="353842" cy="22860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b="1" kern="1200">
            <a:solidFill>
              <a:schemeClr val="tx1"/>
            </a:solidFill>
          </a:endParaRPr>
        </a:p>
      </dsp:txBody>
      <dsp:txXfrm>
        <a:off x="1839794" y="1264919"/>
        <a:ext cx="285262" cy="137160"/>
      </dsp:txXfrm>
    </dsp:sp>
    <dsp:sp modelId="{24EACAAD-E857-4701-BA26-049E5F233971}">
      <dsp:nvSpPr>
        <dsp:cNvPr id="0" name=""/>
        <dsp:cNvSpPr/>
      </dsp:nvSpPr>
      <dsp:spPr>
        <a:xfrm>
          <a:off x="2340515" y="452837"/>
          <a:ext cx="1669070" cy="1761325"/>
        </a:xfrm>
        <a:prstGeom prst="roundRect">
          <a:avLst>
            <a:gd name="adj" fmla="val 10000"/>
          </a:avLst>
        </a:prstGeom>
        <a:solidFill>
          <a:srgbClr val="000099"/>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rPr>
            <a:t>Bridge Population</a:t>
          </a:r>
        </a:p>
        <a:p>
          <a:pPr marL="0" lvl="0" indent="0" algn="ctr" defTabSz="889000">
            <a:lnSpc>
              <a:spcPct val="90000"/>
            </a:lnSpc>
            <a:spcBef>
              <a:spcPct val="0"/>
            </a:spcBef>
            <a:spcAft>
              <a:spcPct val="35000"/>
            </a:spcAft>
            <a:buNone/>
          </a:pPr>
          <a:r>
            <a:rPr lang="en-US" sz="2000" b="1" kern="1200" dirty="0">
              <a:solidFill>
                <a:schemeClr val="bg1"/>
              </a:solidFill>
            </a:rPr>
            <a:t>(Migrant workers &amp; Truckers)</a:t>
          </a:r>
        </a:p>
      </dsp:txBody>
      <dsp:txXfrm>
        <a:off x="2389400" y="501722"/>
        <a:ext cx="1571300" cy="1663555"/>
      </dsp:txXfrm>
    </dsp:sp>
    <dsp:sp modelId="{EFF8C3FF-086C-41DC-A238-7B233D3F8CC9}">
      <dsp:nvSpPr>
        <dsp:cNvPr id="0" name=""/>
        <dsp:cNvSpPr/>
      </dsp:nvSpPr>
      <dsp:spPr>
        <a:xfrm>
          <a:off x="4176492" y="1219199"/>
          <a:ext cx="353842" cy="228600"/>
        </a:xfrm>
        <a:prstGeom prst="rightArrow">
          <a:avLst>
            <a:gd name="adj1" fmla="val 60000"/>
            <a:gd name="adj2" fmla="val 50000"/>
          </a:avLst>
        </a:prstGeom>
        <a:solidFill>
          <a:schemeClr val="accent5">
            <a:hueOff val="-6076075"/>
            <a:satOff val="-413"/>
            <a:lumOff val="98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b="1" kern="1200">
            <a:solidFill>
              <a:schemeClr val="tx1"/>
            </a:solidFill>
          </a:endParaRPr>
        </a:p>
      </dsp:txBody>
      <dsp:txXfrm>
        <a:off x="4176492" y="1264919"/>
        <a:ext cx="285262" cy="137160"/>
      </dsp:txXfrm>
    </dsp:sp>
    <dsp:sp modelId="{AFAB19FB-A049-460A-B11F-6D3D5DE5CAB6}">
      <dsp:nvSpPr>
        <dsp:cNvPr id="0" name=""/>
        <dsp:cNvSpPr/>
      </dsp:nvSpPr>
      <dsp:spPr>
        <a:xfrm>
          <a:off x="4677214" y="452837"/>
          <a:ext cx="1669070" cy="1761325"/>
        </a:xfrm>
        <a:prstGeom prst="roundRect">
          <a:avLst>
            <a:gd name="adj" fmla="val 10000"/>
          </a:avLst>
        </a:prstGeom>
        <a:solidFill>
          <a:schemeClr val="accent1">
            <a:lumMod val="2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rPr>
            <a:t>General Population</a:t>
          </a:r>
        </a:p>
        <a:p>
          <a:pPr marL="0" lvl="0" indent="0" algn="ctr" defTabSz="889000">
            <a:lnSpc>
              <a:spcPct val="90000"/>
            </a:lnSpc>
            <a:spcBef>
              <a:spcPct val="0"/>
            </a:spcBef>
            <a:spcAft>
              <a:spcPct val="35000"/>
            </a:spcAft>
            <a:buNone/>
          </a:pPr>
          <a:r>
            <a:rPr lang="en-US" sz="2000" b="1" kern="1200" dirty="0">
              <a:solidFill>
                <a:schemeClr val="bg1"/>
              </a:solidFill>
            </a:rPr>
            <a:t>(Low risk Men &amp; Women)</a:t>
          </a:r>
        </a:p>
      </dsp:txBody>
      <dsp:txXfrm>
        <a:off x="4726099" y="501722"/>
        <a:ext cx="1571300" cy="1663555"/>
      </dsp:txXfrm>
    </dsp:sp>
    <dsp:sp modelId="{25B1E6CA-8A2B-45C6-8F22-72281732F69F}">
      <dsp:nvSpPr>
        <dsp:cNvPr id="0" name=""/>
        <dsp:cNvSpPr/>
      </dsp:nvSpPr>
      <dsp:spPr>
        <a:xfrm>
          <a:off x="6513191" y="1219199"/>
          <a:ext cx="353842" cy="228600"/>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b="1" kern="1200">
            <a:solidFill>
              <a:schemeClr val="tx1"/>
            </a:solidFill>
          </a:endParaRPr>
        </a:p>
      </dsp:txBody>
      <dsp:txXfrm>
        <a:off x="6513191" y="1264919"/>
        <a:ext cx="285262" cy="137160"/>
      </dsp:txXfrm>
    </dsp:sp>
    <dsp:sp modelId="{F82C121E-16A0-4BD2-8DBA-637D5C505666}">
      <dsp:nvSpPr>
        <dsp:cNvPr id="0" name=""/>
        <dsp:cNvSpPr/>
      </dsp:nvSpPr>
      <dsp:spPr>
        <a:xfrm>
          <a:off x="7013912" y="452837"/>
          <a:ext cx="1669070" cy="1761325"/>
        </a:xfrm>
        <a:prstGeom prst="roundRect">
          <a:avLst>
            <a:gd name="adj" fmla="val 10000"/>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rPr>
            <a:t>New born Children</a:t>
          </a:r>
        </a:p>
      </dsp:txBody>
      <dsp:txXfrm>
        <a:off x="7062797" y="501722"/>
        <a:ext cx="1571300" cy="166355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93E12E-4536-411B-A46E-439EC2C775BF}"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E9EF2-7ED1-4C73-96A9-B3272FB189FE}" type="slidenum">
              <a:rPr lang="en-US" smtClean="0"/>
              <a:t>‹#›</a:t>
            </a:fld>
            <a:endParaRPr lang="en-US"/>
          </a:p>
        </p:txBody>
      </p:sp>
    </p:spTree>
    <p:extLst>
      <p:ext uri="{BB962C8B-B14F-4D97-AF65-F5344CB8AC3E}">
        <p14:creationId xmlns:p14="http://schemas.microsoft.com/office/powerpoint/2010/main" val="206250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6BA1697C-0944-8152-7A1C-B3713F8E9A73}"/>
              </a:ext>
            </a:extLst>
          </p:cNvPr>
          <p:cNvSpPr>
            <a:spLocks noGrp="1" noRot="1" noChangeAspect="1" noChangeArrowheads="1" noTextEdit="1"/>
          </p:cNvSpPr>
          <p:nvPr>
            <p:ph type="sldImg"/>
          </p:nvPr>
        </p:nvSpPr>
        <p:spPr>
          <a:ln/>
        </p:spPr>
      </p:sp>
      <p:sp>
        <p:nvSpPr>
          <p:cNvPr id="10243" name="Notes Placeholder 2">
            <a:extLst>
              <a:ext uri="{FF2B5EF4-FFF2-40B4-BE49-F238E27FC236}">
                <a16:creationId xmlns:a16="http://schemas.microsoft.com/office/drawing/2014/main" id="{AADDBBF8-BE63-7277-BFC6-AB4426B9CD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b="1">
                <a:latin typeface="Arial" panose="020B0604020202020204" pitchFamily="34" charset="0"/>
              </a:rPr>
              <a:t>References</a:t>
            </a:r>
          </a:p>
          <a:p>
            <a:pPr>
              <a:lnSpc>
                <a:spcPct val="90000"/>
              </a:lnSpc>
              <a:buFont typeface="Calibri" panose="020F0502020204030204" pitchFamily="34" charset="0"/>
              <a:buAutoNum type="arabicPeriod"/>
            </a:pPr>
            <a:r>
              <a:rPr lang="en-US" altLang="en-US">
                <a:latin typeface="Arial" panose="020B0604020202020204" pitchFamily="34" charset="0"/>
              </a:rPr>
              <a:t>CDC.  </a:t>
            </a:r>
            <a:r>
              <a:rPr lang="en-US" altLang="en-US" b="1">
                <a:latin typeface="Arial" panose="020B0604020202020204" pitchFamily="34" charset="0"/>
              </a:rPr>
              <a:t>STDs and HIV – CDC Fact Sheet </a:t>
            </a:r>
            <a:r>
              <a:rPr lang="en-US" altLang="en-US">
                <a:latin typeface="Arial" panose="020B0604020202020204" pitchFamily="34" charset="0"/>
              </a:rPr>
              <a:t>(2015)  www.cdc.gov/std/hiv (accessed 3/9/2015)</a:t>
            </a:r>
          </a:p>
          <a:p>
            <a:pPr>
              <a:lnSpc>
                <a:spcPct val="90000"/>
              </a:lnSpc>
              <a:buFont typeface="Calibri" panose="020F0502020204030204" pitchFamily="34" charset="0"/>
              <a:buAutoNum type="arabicPeriod"/>
            </a:pPr>
            <a:r>
              <a:rPr lang="en-US" altLang="en-US">
                <a:latin typeface="Arial" panose="020B0604020202020204" pitchFamily="34" charset="0"/>
              </a:rPr>
              <a:t>Cohen, MS.  (2014).  STDs amplify transmission of HIV:  Where do WE go from here?.  Webinar – CDC STD Prevention Science Series, presented 12/11/14.  www.cdc.gov/std/training/webinars.</a:t>
            </a:r>
          </a:p>
          <a:p>
            <a:pPr>
              <a:lnSpc>
                <a:spcPct val="90000"/>
              </a:lnSpc>
              <a:buFont typeface="Calibri" panose="020F0502020204030204" pitchFamily="34" charset="0"/>
              <a:buAutoNum type="arabicPeriod"/>
            </a:pPr>
            <a:r>
              <a:rPr lang="en-US" altLang="en-US">
                <a:latin typeface="Arial" panose="020B0604020202020204" pitchFamily="34" charset="0"/>
              </a:rPr>
              <a:t>Cohen, MS &amp; Pilcher, CD.  (2005). Amplified HIV transmission and new approaches to HIV prevention. </a:t>
            </a:r>
            <a:r>
              <a:rPr lang="en-US" altLang="en-US" b="1" i="1">
                <a:latin typeface="Arial" panose="020B0604020202020204" pitchFamily="34" charset="0"/>
              </a:rPr>
              <a:t>The Journal of Infectious Diseases, 191</a:t>
            </a:r>
            <a:r>
              <a:rPr lang="en-US" altLang="en-US" b="1">
                <a:latin typeface="Arial" panose="020B0604020202020204" pitchFamily="34" charset="0"/>
              </a:rPr>
              <a:t>, </a:t>
            </a:r>
            <a:r>
              <a:rPr lang="en-US" altLang="en-US">
                <a:latin typeface="Arial" panose="020B0604020202020204" pitchFamily="34" charset="0"/>
              </a:rPr>
              <a:t>p 1391–3. </a:t>
            </a:r>
          </a:p>
          <a:p>
            <a:pPr>
              <a:lnSpc>
                <a:spcPct val="90000"/>
              </a:lnSpc>
              <a:buFont typeface="Calibri" panose="020F0502020204030204" pitchFamily="34" charset="0"/>
              <a:buAutoNum type="arabicPeriod"/>
            </a:pPr>
            <a:r>
              <a:rPr lang="en-US" altLang="en-US">
                <a:latin typeface="Arial" panose="020B0604020202020204" pitchFamily="34" charset="0"/>
              </a:rPr>
              <a:t>Hitchcock, PJ.  (1996).  Screening and treatment of sexually transmitted diseases:  an important strategy for reducing the risk of HIV transmission.  </a:t>
            </a:r>
            <a:r>
              <a:rPr lang="en-US" altLang="en-US" b="1" i="1">
                <a:latin typeface="Arial" panose="020B0604020202020204" pitchFamily="34" charset="0"/>
              </a:rPr>
              <a:t>AIDS PATIENT CARE and STDs, 10 </a:t>
            </a:r>
            <a:r>
              <a:rPr lang="en-US" altLang="en-US">
                <a:latin typeface="Arial" panose="020B0604020202020204" pitchFamily="34" charset="0"/>
              </a:rPr>
              <a:t>(3), p 10-15.</a:t>
            </a:r>
          </a:p>
          <a:p>
            <a:pPr>
              <a:lnSpc>
                <a:spcPct val="90000"/>
              </a:lnSpc>
              <a:buFont typeface="Calibri" panose="020F0502020204030204" pitchFamily="34" charset="0"/>
              <a:buAutoNum type="arabicPeriod"/>
            </a:pPr>
            <a:r>
              <a:rPr lang="en-US" altLang="en-US">
                <a:latin typeface="Arial" panose="020B0604020202020204" pitchFamily="34" charset="0"/>
              </a:rPr>
              <a:t>Royce, RA,  Sena, A, Cates, W, Cohen, MS.  (1997).  Sexual transmission of HIV.  </a:t>
            </a:r>
            <a:r>
              <a:rPr lang="en-US" altLang="en-US" b="1" i="1">
                <a:latin typeface="Arial" panose="020B0604020202020204" pitchFamily="34" charset="0"/>
              </a:rPr>
              <a:t>New England Journal of Medicine, 336 </a:t>
            </a:r>
            <a:r>
              <a:rPr lang="en-US" altLang="en-US">
                <a:latin typeface="Arial" panose="020B0604020202020204" pitchFamily="34" charset="0"/>
              </a:rPr>
              <a:t>(15), p 1072-78.</a:t>
            </a:r>
          </a:p>
          <a:p>
            <a:pPr>
              <a:lnSpc>
                <a:spcPct val="90000"/>
              </a:lnSpc>
              <a:buFont typeface="Calibri" panose="020F0502020204030204" pitchFamily="34" charset="0"/>
              <a:buAutoNum type="arabicPeriod"/>
            </a:pPr>
            <a:r>
              <a:rPr lang="en-US" altLang="en-US">
                <a:latin typeface="Arial" panose="020B0604020202020204" pitchFamily="34" charset="0"/>
              </a:rPr>
              <a:t>Rothenberg, RB, Wasserheit, JN, St Louis, ME, Douglas, JM, and the ad hoc STD/HIV Transmission Group.  (2000).  The effect of treating sexually transmitted diseases on the transmission of HIV in dually infected person.  </a:t>
            </a:r>
            <a:r>
              <a:rPr lang="en-US" altLang="en-US" b="1" i="1">
                <a:latin typeface="Arial" panose="020B0604020202020204" pitchFamily="34" charset="0"/>
              </a:rPr>
              <a:t>STD, 27 </a:t>
            </a:r>
            <a:r>
              <a:rPr lang="en-US" altLang="en-US">
                <a:latin typeface="Arial" panose="020B0604020202020204" pitchFamily="34" charset="0"/>
              </a:rPr>
              <a:t>(7), p 411-16. </a:t>
            </a:r>
          </a:p>
          <a:p>
            <a:pPr>
              <a:lnSpc>
                <a:spcPct val="90000"/>
              </a:lnSpc>
              <a:buFont typeface="Calibri" panose="020F0502020204030204" pitchFamily="34" charset="0"/>
              <a:buAutoNum type="arabicPeriod"/>
            </a:pPr>
            <a:r>
              <a:rPr lang="en-US" altLang="en-US">
                <a:latin typeface="Arial" panose="020B0604020202020204" pitchFamily="34" charset="0"/>
              </a:rPr>
              <a:t>Sullivan, AK, Atkins, MC, Boag, F.  (1997).  Factors facilitating the sexual transmission of HIV-1.  </a:t>
            </a:r>
            <a:r>
              <a:rPr lang="en-US" altLang="en-US" b="1" i="1">
                <a:latin typeface="Arial" panose="020B0604020202020204" pitchFamily="34" charset="0"/>
              </a:rPr>
              <a:t>AIDS PATIENT CARE and STDs, 11 </a:t>
            </a:r>
            <a:r>
              <a:rPr lang="en-US" altLang="en-US">
                <a:latin typeface="Arial" panose="020B0604020202020204" pitchFamily="34" charset="0"/>
              </a:rPr>
              <a:t>(3), p 167-77.</a:t>
            </a:r>
          </a:p>
          <a:p>
            <a:pPr>
              <a:lnSpc>
                <a:spcPct val="90000"/>
              </a:lnSpc>
              <a:buFont typeface="Calibri" panose="020F0502020204030204" pitchFamily="34" charset="0"/>
              <a:buAutoNum type="arabicPeriod"/>
            </a:pPr>
            <a:r>
              <a:rPr lang="en-US" altLang="en-US">
                <a:latin typeface="Arial" panose="020B0604020202020204" pitchFamily="34" charset="0"/>
              </a:rPr>
              <a:t>St Luis, ME, Wasserheit, JN, Gayle, HD.  (1997).  Editorial:  Janus considers the HIV pandemic – harnessing recent advances to enhance AIDS prevention.  </a:t>
            </a:r>
            <a:r>
              <a:rPr lang="en-US" altLang="en-US" b="1" i="1">
                <a:latin typeface="Arial" panose="020B0604020202020204" pitchFamily="34" charset="0"/>
              </a:rPr>
              <a:t>American Journal of Public Health, 87</a:t>
            </a:r>
            <a:r>
              <a:rPr lang="en-US" altLang="en-US">
                <a:latin typeface="Arial" panose="020B0604020202020204" pitchFamily="34" charset="0"/>
              </a:rPr>
              <a:t> (1), p 10-12.</a:t>
            </a:r>
          </a:p>
          <a:p>
            <a:pPr>
              <a:lnSpc>
                <a:spcPct val="90000"/>
              </a:lnSpc>
              <a:buFont typeface="Calibri" panose="020F0502020204030204" pitchFamily="34" charset="0"/>
              <a:buAutoNum type="arabicPeriod"/>
            </a:pPr>
            <a:r>
              <a:rPr lang="en-US" altLang="en-US">
                <a:latin typeface="Arial" panose="020B0604020202020204" pitchFamily="34" charset="0"/>
              </a:rPr>
              <a:t>Wasserheit, JN.  (1992).  Epidemiological synergy  Interrelationships between human immunodeficiency virus infection and other sexually transmitted diseases.  </a:t>
            </a:r>
            <a:r>
              <a:rPr lang="en-US" altLang="en-US" b="1" i="1">
                <a:latin typeface="Arial" panose="020B0604020202020204" pitchFamily="34" charset="0"/>
              </a:rPr>
              <a:t>Sexually Transmitted Diseases, 19</a:t>
            </a:r>
            <a:r>
              <a:rPr lang="en-US" altLang="en-US">
                <a:latin typeface="Arial" panose="020B0604020202020204" pitchFamily="34" charset="0"/>
              </a:rPr>
              <a:t> (2), p 61-77.</a:t>
            </a:r>
          </a:p>
        </p:txBody>
      </p:sp>
      <p:sp>
        <p:nvSpPr>
          <p:cNvPr id="10244" name="Slide Number Placeholder 3">
            <a:extLst>
              <a:ext uri="{FF2B5EF4-FFF2-40B4-BE49-F238E27FC236}">
                <a16:creationId xmlns:a16="http://schemas.microsoft.com/office/drawing/2014/main" id="{2BE75E6B-CAB9-D3E4-3666-39A464F6F7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4EBEB744-86EF-4A13-832E-D58930FD9664}" type="slidenum">
              <a:rPr lang="en-US" altLang="en-US"/>
              <a:pPr>
                <a:spcBef>
                  <a:spcPct val="0"/>
                </a:spcBef>
              </a:pPr>
              <a:t>20</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62A7F57C-1445-EFD1-0F44-3D56F42FBB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D76B4AEB-58D3-4EBA-8E96-23A414190A7B}" type="slidenum">
              <a:rPr lang="en-US" altLang="en-US"/>
              <a:pPr>
                <a:spcBef>
                  <a:spcPct val="0"/>
                </a:spcBef>
              </a:pPr>
              <a:t>22</a:t>
            </a:fld>
            <a:endParaRPr lang="en-US" altLang="en-US"/>
          </a:p>
        </p:txBody>
      </p:sp>
      <p:sp>
        <p:nvSpPr>
          <p:cNvPr id="37891" name="Rectangle 2">
            <a:extLst>
              <a:ext uri="{FF2B5EF4-FFF2-40B4-BE49-F238E27FC236}">
                <a16:creationId xmlns:a16="http://schemas.microsoft.com/office/drawing/2014/main" id="{1091DFC4-DE13-16DF-4E45-9494EE1F16C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9E235F71-1525-470D-9638-CFC862776D5B}"/>
              </a:ext>
            </a:extLst>
          </p:cNvPr>
          <p:cNvSpPr>
            <a:spLocks noGrp="1" noChangeArrowheads="1"/>
          </p:cNvSpPr>
          <p:nvPr>
            <p:ph type="body" idx="1"/>
          </p:nvPr>
        </p:nvSpPr>
        <p:spPr>
          <a:xfrm>
            <a:off x="207963" y="4665663"/>
            <a:ext cx="6470650" cy="4970462"/>
          </a:xfrm>
          <a:ln/>
        </p:spPr>
        <p:txBody>
          <a:bodyPr/>
          <a:lstStyle/>
          <a:p>
            <a:pPr>
              <a:spcBef>
                <a:spcPts val="0"/>
              </a:spcBef>
              <a:spcAft>
                <a:spcPts val="0"/>
              </a:spcAft>
              <a:defRPr/>
            </a:pPr>
            <a:r>
              <a:rPr lang="en-US" b="1" u="sng" dirty="0">
                <a:latin typeface="Arial" pitchFamily="34" charset="0"/>
                <a:ea typeface="Times New Roman"/>
                <a:cs typeface="Arial" pitchFamily="34" charset="0"/>
              </a:rPr>
              <a:t>Trainer Notes:</a:t>
            </a:r>
            <a:endParaRPr lang="en-GB" dirty="0">
              <a:latin typeface="Arial" pitchFamily="34" charset="0"/>
              <a:ea typeface="Times New Roman"/>
              <a:cs typeface="Arial" pitchFamily="34" charset="0"/>
            </a:endParaRPr>
          </a:p>
          <a:p>
            <a:pPr>
              <a:spcBef>
                <a:spcPts val="0"/>
              </a:spcBef>
              <a:spcAft>
                <a:spcPts val="0"/>
              </a:spcAft>
              <a:defRPr/>
            </a:pPr>
            <a:r>
              <a:rPr lang="en-GB" sz="900" dirty="0">
                <a:latin typeface="Arial" pitchFamily="34" charset="0"/>
                <a:ea typeface="Times New Roman"/>
                <a:cs typeface="Arial" pitchFamily="34" charset="0"/>
              </a:rPr>
              <a:t> </a:t>
            </a:r>
          </a:p>
          <a:p>
            <a:pPr marL="342900" indent="-342900">
              <a:spcBef>
                <a:spcPts val="0"/>
              </a:spcBef>
              <a:spcAft>
                <a:spcPts val="0"/>
              </a:spcAft>
              <a:buFont typeface="Times New Roman"/>
              <a:buChar char="•"/>
              <a:tabLst>
                <a:tab pos="228600" algn="l"/>
                <a:tab pos="457200" algn="l"/>
              </a:tabLst>
              <a:defRPr/>
            </a:pPr>
            <a:r>
              <a:rPr lang="en-US" sz="900" dirty="0">
                <a:latin typeface="Arial" pitchFamily="34" charset="0"/>
                <a:ea typeface="Times New Roman"/>
                <a:cs typeface="Arial" pitchFamily="34" charset="0"/>
              </a:rPr>
              <a:t>Ask participants to take a moment and think of the advantages and disadvantages of the different approaches </a:t>
            </a:r>
            <a:endParaRPr lang="en-GB" sz="900" dirty="0">
              <a:latin typeface="Arial" pitchFamily="34" charset="0"/>
              <a:ea typeface="Times New Roman"/>
              <a:cs typeface="Arial" pitchFamily="34" charset="0"/>
            </a:endParaRPr>
          </a:p>
          <a:p>
            <a:pPr marL="342900" indent="-342900">
              <a:spcBef>
                <a:spcPts val="0"/>
              </a:spcBef>
              <a:spcAft>
                <a:spcPts val="0"/>
              </a:spcAft>
              <a:buFont typeface="Times New Roman"/>
              <a:buChar char="•"/>
              <a:tabLst>
                <a:tab pos="228600" algn="l"/>
                <a:tab pos="457200" algn="l"/>
              </a:tabLst>
              <a:defRPr/>
            </a:pPr>
            <a:r>
              <a:rPr lang="en-US" sz="900" dirty="0">
                <a:latin typeface="Arial" pitchFamily="34" charset="0"/>
                <a:ea typeface="Times New Roman"/>
                <a:cs typeface="Arial" pitchFamily="34" charset="0"/>
              </a:rPr>
              <a:t>Discuss the different approaches in the management of STIs. </a:t>
            </a:r>
            <a:endParaRPr lang="en-GB" sz="900" dirty="0">
              <a:latin typeface="Arial" pitchFamily="34" charset="0"/>
              <a:ea typeface="Times New Roman"/>
              <a:cs typeface="Arial" pitchFamily="34" charset="0"/>
            </a:endParaRPr>
          </a:p>
          <a:p>
            <a:pPr marL="342900" indent="-342900">
              <a:spcBef>
                <a:spcPts val="0"/>
              </a:spcBef>
              <a:spcAft>
                <a:spcPts val="0"/>
              </a:spcAft>
              <a:buFont typeface="Times New Roman"/>
              <a:buChar char="•"/>
              <a:tabLst>
                <a:tab pos="228600" algn="l"/>
                <a:tab pos="457200" algn="l"/>
              </a:tabLst>
              <a:defRPr/>
            </a:pPr>
            <a:r>
              <a:rPr lang="en-US" sz="900" dirty="0">
                <a:latin typeface="Arial" pitchFamily="34" charset="0"/>
                <a:ea typeface="Times New Roman"/>
                <a:cs typeface="Arial" pitchFamily="34" charset="0"/>
              </a:rPr>
              <a:t>There are four management approaches in the management of STIs that are applicable at individual, group and community level. </a:t>
            </a:r>
            <a:endParaRPr lang="en-GB" sz="900" dirty="0">
              <a:latin typeface="Arial" pitchFamily="34" charset="0"/>
              <a:ea typeface="Times New Roman"/>
              <a:cs typeface="Arial" pitchFamily="34" charset="0"/>
            </a:endParaRPr>
          </a:p>
          <a:p>
            <a:pPr>
              <a:spcBef>
                <a:spcPts val="0"/>
              </a:spcBef>
              <a:spcAft>
                <a:spcPts val="0"/>
              </a:spcAft>
              <a:defRPr/>
            </a:pPr>
            <a:r>
              <a:rPr lang="en-GB" sz="900" b="1" u="sng" dirty="0">
                <a:latin typeface="Arial" pitchFamily="34" charset="0"/>
                <a:ea typeface="Times New Roman"/>
                <a:cs typeface="Arial" pitchFamily="34" charset="0"/>
              </a:rPr>
              <a:t>1. Aetiologic Approach: </a:t>
            </a:r>
            <a:endParaRPr lang="en-GB" sz="900" dirty="0">
              <a:latin typeface="Arial" pitchFamily="34" charset="0"/>
              <a:ea typeface="Times New Roman"/>
              <a:cs typeface="Arial" pitchFamily="34" charset="0"/>
            </a:endParaRPr>
          </a:p>
          <a:p>
            <a:pPr>
              <a:spcBef>
                <a:spcPts val="0"/>
              </a:spcBef>
              <a:spcAft>
                <a:spcPts val="0"/>
              </a:spcAft>
              <a:defRPr/>
            </a:pPr>
            <a:r>
              <a:rPr lang="en-GB" sz="900" dirty="0">
                <a:latin typeface="Arial" pitchFamily="34" charset="0"/>
                <a:ea typeface="Times New Roman"/>
                <a:cs typeface="Arial" pitchFamily="34" charset="0"/>
              </a:rPr>
              <a:t>The </a:t>
            </a:r>
            <a:r>
              <a:rPr lang="en-GB" sz="900" b="1" dirty="0">
                <a:latin typeface="Arial" pitchFamily="34" charset="0"/>
                <a:ea typeface="Times New Roman"/>
                <a:cs typeface="Arial" pitchFamily="34" charset="0"/>
              </a:rPr>
              <a:t>aetiologic approach</a:t>
            </a:r>
            <a:r>
              <a:rPr lang="en-GB" sz="900" dirty="0">
                <a:latin typeface="Arial" pitchFamily="34" charset="0"/>
                <a:ea typeface="Times New Roman"/>
                <a:cs typeface="Arial" pitchFamily="34" charset="0"/>
              </a:rPr>
              <a:t> stresses identifying causative organism and treating the specific aetiology identified. Problems with this approach include: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The need for expensive laboratory support (dark field microscopy)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The need for sophisticated tests (e.g., Chlamydia)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The delay in initiation of treatment of cases until the results return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Loss of follow up of cases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Interpretation of results may be difficult (Quality control of results and testing procedures needs to be an ongoing process)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Partner treatment is difficult to ensure. </a:t>
            </a:r>
            <a:r>
              <a:rPr lang="en-GB" sz="900" b="1" dirty="0">
                <a:latin typeface="Arial" pitchFamily="34" charset="0"/>
                <a:ea typeface="Times New Roman"/>
                <a:cs typeface="Arial" pitchFamily="34" charset="0"/>
              </a:rPr>
              <a:t> </a:t>
            </a:r>
            <a:r>
              <a:rPr lang="en-GB" sz="900" dirty="0">
                <a:latin typeface="Arial" pitchFamily="34" charset="0"/>
                <a:ea typeface="Times New Roman"/>
                <a:cs typeface="Arial" pitchFamily="34" charset="0"/>
              </a:rPr>
              <a:t> </a:t>
            </a:r>
          </a:p>
          <a:p>
            <a:pPr>
              <a:spcBef>
                <a:spcPts val="0"/>
              </a:spcBef>
              <a:spcAft>
                <a:spcPts val="0"/>
              </a:spcAft>
              <a:defRPr/>
            </a:pPr>
            <a:r>
              <a:rPr lang="en-GB" sz="900" b="1" dirty="0">
                <a:latin typeface="Arial" pitchFamily="34" charset="0"/>
                <a:ea typeface="Times New Roman"/>
                <a:cs typeface="Arial" pitchFamily="34" charset="0"/>
              </a:rPr>
              <a:t>2. </a:t>
            </a:r>
            <a:r>
              <a:rPr lang="en-GB" sz="900" b="1" u="sng" dirty="0">
                <a:latin typeface="Arial" pitchFamily="34" charset="0"/>
                <a:ea typeface="Times New Roman"/>
                <a:cs typeface="Arial" pitchFamily="34" charset="0"/>
              </a:rPr>
              <a:t>Clinical Approach:</a:t>
            </a:r>
            <a:r>
              <a:rPr lang="en-GB" sz="900" dirty="0">
                <a:latin typeface="Arial" pitchFamily="34" charset="0"/>
                <a:ea typeface="Times New Roman"/>
                <a:cs typeface="Arial" pitchFamily="34" charset="0"/>
              </a:rPr>
              <a:t>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The </a:t>
            </a:r>
            <a:r>
              <a:rPr lang="en-GB" sz="900" b="1" dirty="0">
                <a:latin typeface="Arial" pitchFamily="34" charset="0"/>
                <a:ea typeface="Times New Roman"/>
                <a:cs typeface="Arial" pitchFamily="34" charset="0"/>
              </a:rPr>
              <a:t>clinical approach</a:t>
            </a:r>
            <a:r>
              <a:rPr lang="en-GB" sz="900" dirty="0">
                <a:latin typeface="Arial" pitchFamily="34" charset="0"/>
                <a:ea typeface="Times New Roman"/>
                <a:cs typeface="Arial" pitchFamily="34" charset="0"/>
              </a:rPr>
              <a:t> focuses on the clinical experience of the treating physician, who relies on specificity of clinical manifestations and appearance of lesions to make a diagnosis.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Studies have documented the unreliability of clinical diagnosis to provide STI treatment. </a:t>
            </a:r>
          </a:p>
          <a:p>
            <a:pPr marL="342900" indent="-342900">
              <a:spcBef>
                <a:spcPts val="0"/>
              </a:spcBef>
              <a:spcAft>
                <a:spcPts val="0"/>
              </a:spcAft>
              <a:buFont typeface="Times New Roman"/>
              <a:buChar char="•"/>
              <a:defRPr/>
            </a:pPr>
            <a:r>
              <a:rPr lang="en-GB" sz="900" dirty="0">
                <a:latin typeface="Arial" pitchFamily="34" charset="0"/>
                <a:ea typeface="Times New Roman"/>
                <a:cs typeface="Arial" pitchFamily="34" charset="0"/>
              </a:rPr>
              <a:t>In studies done abroad, only 30% of patients with </a:t>
            </a:r>
            <a:r>
              <a:rPr lang="en-GB" sz="900" dirty="0" err="1">
                <a:latin typeface="Arial" pitchFamily="34" charset="0"/>
                <a:ea typeface="Times New Roman"/>
                <a:cs typeface="Arial" pitchFamily="34" charset="0"/>
              </a:rPr>
              <a:t>chancroid</a:t>
            </a:r>
            <a:r>
              <a:rPr lang="en-GB" sz="900" dirty="0">
                <a:latin typeface="Arial" pitchFamily="34" charset="0"/>
                <a:ea typeface="Times New Roman"/>
                <a:cs typeface="Arial" pitchFamily="34" charset="0"/>
              </a:rPr>
              <a:t> and 10% of patients with mixed infections were identified correctly. </a:t>
            </a:r>
            <a:r>
              <a:rPr lang="en-GB" sz="900" b="1" dirty="0">
                <a:latin typeface="Arial" pitchFamily="34" charset="0"/>
                <a:ea typeface="Times New Roman"/>
                <a:cs typeface="Arial" pitchFamily="34" charset="0"/>
              </a:rPr>
              <a:t> </a:t>
            </a:r>
            <a:r>
              <a:rPr lang="en-GB" sz="900" dirty="0">
                <a:latin typeface="Arial" pitchFamily="34" charset="0"/>
                <a:ea typeface="Times New Roman"/>
                <a:cs typeface="Arial" pitchFamily="34" charset="0"/>
              </a:rPr>
              <a:t> </a:t>
            </a:r>
          </a:p>
          <a:p>
            <a:pPr>
              <a:spcBef>
                <a:spcPts val="0"/>
              </a:spcBef>
              <a:spcAft>
                <a:spcPts val="0"/>
              </a:spcAft>
              <a:defRPr/>
            </a:pPr>
            <a:r>
              <a:rPr lang="en-GB" sz="900" b="1" dirty="0">
                <a:latin typeface="Arial" pitchFamily="34" charset="0"/>
                <a:ea typeface="Times New Roman"/>
                <a:cs typeface="Arial" pitchFamily="34" charset="0"/>
              </a:rPr>
              <a:t>3. </a:t>
            </a:r>
            <a:r>
              <a:rPr lang="en-GB" sz="900" b="1" u="sng" dirty="0">
                <a:latin typeface="Arial" pitchFamily="34" charset="0"/>
                <a:ea typeface="Times New Roman"/>
                <a:cs typeface="Arial" pitchFamily="34" charset="0"/>
              </a:rPr>
              <a:t>Syndromic Approach:</a:t>
            </a:r>
            <a:r>
              <a:rPr lang="en-GB" sz="900" dirty="0">
                <a:latin typeface="Arial" pitchFamily="34" charset="0"/>
                <a:ea typeface="Times New Roman"/>
                <a:cs typeface="Arial" pitchFamily="34" charset="0"/>
              </a:rPr>
              <a:t> </a:t>
            </a:r>
          </a:p>
          <a:p>
            <a:pPr>
              <a:spcBef>
                <a:spcPts val="0"/>
              </a:spcBef>
              <a:spcAft>
                <a:spcPts val="0"/>
              </a:spcAft>
              <a:defRPr/>
            </a:pPr>
            <a:r>
              <a:rPr lang="en-GB" sz="900" dirty="0">
                <a:latin typeface="Arial" pitchFamily="34" charset="0"/>
                <a:ea typeface="Times New Roman"/>
                <a:cs typeface="Arial" pitchFamily="34" charset="0"/>
              </a:rPr>
              <a:t>The </a:t>
            </a:r>
            <a:r>
              <a:rPr lang="en-GB" sz="900" b="1" dirty="0">
                <a:latin typeface="Arial" pitchFamily="34" charset="0"/>
                <a:ea typeface="Times New Roman"/>
                <a:cs typeface="Arial" pitchFamily="34" charset="0"/>
              </a:rPr>
              <a:t>syndromic approach</a:t>
            </a:r>
            <a:r>
              <a:rPr lang="en-GB" sz="900" dirty="0">
                <a:latin typeface="Arial" pitchFamily="34" charset="0"/>
                <a:ea typeface="Times New Roman"/>
                <a:cs typeface="Arial" pitchFamily="34" charset="0"/>
              </a:rPr>
              <a:t> gives treatment to all possible STIs that cause the syndrome based on epidemiological and laboratory data. This is a simple, easy to follow method, which can be practiced by community health workers. </a:t>
            </a:r>
          </a:p>
          <a:p>
            <a:pPr marL="342900" indent="-342900">
              <a:spcBef>
                <a:spcPts val="0"/>
              </a:spcBef>
              <a:spcAft>
                <a:spcPts val="0"/>
              </a:spcAft>
              <a:buFont typeface="Arial"/>
              <a:buChar char="•"/>
              <a:tabLst>
                <a:tab pos="228600" algn="l"/>
              </a:tabLst>
              <a:defRPr/>
            </a:pPr>
            <a:r>
              <a:rPr lang="en-GB" sz="900" dirty="0">
                <a:latin typeface="Arial" pitchFamily="34" charset="0"/>
                <a:ea typeface="Times New Roman"/>
                <a:cs typeface="Arial" pitchFamily="34" charset="0"/>
              </a:rPr>
              <a:t>Patients are treated at the first visit </a:t>
            </a:r>
          </a:p>
          <a:p>
            <a:pPr marL="342900" indent="-342900">
              <a:spcBef>
                <a:spcPts val="0"/>
              </a:spcBef>
              <a:spcAft>
                <a:spcPts val="0"/>
              </a:spcAft>
              <a:buFont typeface="Arial"/>
              <a:buChar char="•"/>
              <a:tabLst>
                <a:tab pos="228600" algn="l"/>
              </a:tabLst>
              <a:defRPr/>
            </a:pPr>
            <a:r>
              <a:rPr lang="en-GB" sz="900" dirty="0">
                <a:latin typeface="Arial" pitchFamily="34" charset="0"/>
                <a:ea typeface="Times New Roman"/>
                <a:cs typeface="Arial" pitchFamily="34" charset="0"/>
              </a:rPr>
              <a:t>Minimal equipment/lab support is necessary </a:t>
            </a:r>
          </a:p>
          <a:p>
            <a:pPr marL="342900" indent="-342900">
              <a:spcBef>
                <a:spcPts val="0"/>
              </a:spcBef>
              <a:spcAft>
                <a:spcPts val="0"/>
              </a:spcAft>
              <a:buFont typeface="Arial"/>
              <a:buChar char="•"/>
              <a:tabLst>
                <a:tab pos="228600" algn="l"/>
              </a:tabLst>
              <a:defRPr/>
            </a:pPr>
            <a:r>
              <a:rPr lang="en-GB" sz="900" dirty="0">
                <a:latin typeface="Arial" pitchFamily="34" charset="0"/>
                <a:ea typeface="Times New Roman"/>
                <a:cs typeface="Arial" pitchFamily="34" charset="0"/>
              </a:rPr>
              <a:t>It is effective in the presence of mixed infections. </a:t>
            </a:r>
          </a:p>
          <a:p>
            <a:pPr marL="342900" indent="-342900">
              <a:spcBef>
                <a:spcPts val="0"/>
              </a:spcBef>
              <a:spcAft>
                <a:spcPts val="0"/>
              </a:spcAft>
              <a:buFont typeface="Arial"/>
              <a:buChar char="•"/>
              <a:tabLst>
                <a:tab pos="228600" algn="l"/>
              </a:tabLst>
              <a:defRPr/>
            </a:pPr>
            <a:r>
              <a:rPr lang="en-GB" sz="900" dirty="0">
                <a:latin typeface="Arial" pitchFamily="34" charset="0"/>
                <a:ea typeface="Times New Roman"/>
                <a:cs typeface="Arial" pitchFamily="34" charset="0"/>
              </a:rPr>
              <a:t>Presence of STI complications or conditions not included within flowchart algorithms necessitate referral to STI specialists for individual assessment and correct treatment. </a:t>
            </a:r>
            <a:r>
              <a:rPr lang="en-GB" sz="900" b="1" dirty="0">
                <a:latin typeface="Arial" pitchFamily="34" charset="0"/>
                <a:ea typeface="Times New Roman"/>
                <a:cs typeface="Arial" pitchFamily="34" charset="0"/>
              </a:rPr>
              <a:t> </a:t>
            </a:r>
            <a:r>
              <a:rPr lang="en-GB" sz="900" dirty="0">
                <a:latin typeface="Arial" pitchFamily="34" charset="0"/>
                <a:ea typeface="Times New Roman"/>
                <a:cs typeface="Arial" pitchFamily="34" charset="0"/>
              </a:rPr>
              <a:t> </a:t>
            </a:r>
          </a:p>
          <a:p>
            <a:pPr>
              <a:spcBef>
                <a:spcPts val="0"/>
              </a:spcBef>
              <a:spcAft>
                <a:spcPts val="0"/>
              </a:spcAft>
              <a:defRPr/>
            </a:pPr>
            <a:r>
              <a:rPr lang="en-GB" sz="900" b="1" dirty="0">
                <a:latin typeface="Arial" pitchFamily="34" charset="0"/>
                <a:ea typeface="Times New Roman"/>
                <a:cs typeface="Arial" pitchFamily="34" charset="0"/>
              </a:rPr>
              <a:t>4. </a:t>
            </a:r>
            <a:r>
              <a:rPr lang="en-GB" sz="900" b="1" u="sng" dirty="0">
                <a:latin typeface="Arial" pitchFamily="34" charset="0"/>
                <a:ea typeface="Times New Roman"/>
                <a:cs typeface="Arial" pitchFamily="34" charset="0"/>
              </a:rPr>
              <a:t>Presumptive Approach:</a:t>
            </a:r>
            <a:r>
              <a:rPr lang="en-GB" sz="900" dirty="0">
                <a:latin typeface="Arial" pitchFamily="34" charset="0"/>
                <a:ea typeface="Times New Roman"/>
                <a:cs typeface="Arial" pitchFamily="34" charset="0"/>
              </a:rPr>
              <a:t> </a:t>
            </a:r>
          </a:p>
          <a:p>
            <a:pPr>
              <a:spcBef>
                <a:spcPts val="0"/>
              </a:spcBef>
              <a:spcAft>
                <a:spcPts val="0"/>
              </a:spcAft>
              <a:defRPr/>
            </a:pPr>
            <a:r>
              <a:rPr lang="en-GB" sz="900" dirty="0">
                <a:latin typeface="Arial" pitchFamily="34" charset="0"/>
                <a:ea typeface="Times New Roman"/>
                <a:cs typeface="Arial" pitchFamily="34" charset="0"/>
              </a:rPr>
              <a:t>The</a:t>
            </a:r>
            <a:r>
              <a:rPr lang="en-GB" sz="900" b="1" dirty="0">
                <a:latin typeface="Arial" pitchFamily="34" charset="0"/>
                <a:ea typeface="Times New Roman"/>
                <a:cs typeface="Arial" pitchFamily="34" charset="0"/>
              </a:rPr>
              <a:t> presumptive approach</a:t>
            </a:r>
            <a:r>
              <a:rPr lang="en-GB" sz="900" dirty="0">
                <a:latin typeface="Arial" pitchFamily="34" charset="0"/>
                <a:ea typeface="Times New Roman"/>
                <a:cs typeface="Arial" pitchFamily="34" charset="0"/>
              </a:rPr>
              <a:t> aims to treat asymptomatic STIs within high risk groups. </a:t>
            </a:r>
          </a:p>
          <a:p>
            <a:pPr>
              <a:spcBef>
                <a:spcPts val="0"/>
              </a:spcBef>
              <a:spcAft>
                <a:spcPts val="0"/>
              </a:spcAft>
              <a:defRPr/>
            </a:pPr>
            <a:r>
              <a:rPr lang="en-GB" sz="900" dirty="0">
                <a:latin typeface="Arial" pitchFamily="34" charset="0"/>
                <a:ea typeface="Times New Roman"/>
                <a:cs typeface="Arial" pitchFamily="34" charset="0"/>
              </a:rPr>
              <a:t>Presumptive approach treats all prevalent STIs in the community at the time of first visit, irrespective of whether patients are symptomatic or not. Single dose therapy is given. The risk of dissemination of resistance within the community needs to be considered.    </a:t>
            </a:r>
          </a:p>
          <a:p>
            <a:pPr>
              <a:spcBef>
                <a:spcPts val="0"/>
              </a:spcBef>
              <a:spcAft>
                <a:spcPts val="0"/>
              </a:spcAft>
              <a:defRPr/>
            </a:pPr>
            <a:r>
              <a:rPr lang="en-US" sz="900" u="sng" dirty="0">
                <a:latin typeface="Arial" pitchFamily="34" charset="0"/>
                <a:ea typeface="Times New Roman"/>
                <a:cs typeface="Arial" pitchFamily="34" charset="0"/>
              </a:rPr>
              <a:t>From a public health perspective, interventions which benefit the group and community level are essential for controlling STIs. </a:t>
            </a:r>
            <a:endParaRPr lang="en-GB" sz="900" u="sng" dirty="0">
              <a:latin typeface="Arial" pitchFamily="34" charset="0"/>
              <a:ea typeface="Times New Roman"/>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C9E8C2F1-9405-96FE-3791-5472FB11A3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B18DC13D-EA43-49EB-A29D-5A5B583D8A21}" type="slidenum">
              <a:rPr lang="en-US" altLang="en-US"/>
              <a:pPr>
                <a:spcBef>
                  <a:spcPct val="0"/>
                </a:spcBef>
              </a:pPr>
              <a:t>23</a:t>
            </a:fld>
            <a:endParaRPr lang="en-US" altLang="en-US"/>
          </a:p>
        </p:txBody>
      </p:sp>
      <p:sp>
        <p:nvSpPr>
          <p:cNvPr id="43011" name="Rectangle 2">
            <a:extLst>
              <a:ext uri="{FF2B5EF4-FFF2-40B4-BE49-F238E27FC236}">
                <a16:creationId xmlns:a16="http://schemas.microsoft.com/office/drawing/2014/main" id="{C465BB3D-46E8-46CE-A3E7-2AED4D3B3CCD}"/>
              </a:ext>
            </a:extLst>
          </p:cNvPr>
          <p:cNvSpPr>
            <a:spLocks noGrp="1" noRot="1" noChangeAspect="1" noChangeArrowheads="1" noTextEdit="1"/>
          </p:cNvSpPr>
          <p:nvPr>
            <p:ph type="sldImg"/>
          </p:nvPr>
        </p:nvSpPr>
        <p:spPr>
          <a:solidFill>
            <a:srgbClr val="FFFFFF"/>
          </a:solidFill>
          <a:ln/>
        </p:spPr>
      </p:sp>
      <p:sp>
        <p:nvSpPr>
          <p:cNvPr id="56324" name="Rectangle 3">
            <a:extLst>
              <a:ext uri="{FF2B5EF4-FFF2-40B4-BE49-F238E27FC236}">
                <a16:creationId xmlns:a16="http://schemas.microsoft.com/office/drawing/2014/main" id="{E224481D-C1B1-470E-94A7-09FE421776CD}"/>
              </a:ext>
            </a:extLst>
          </p:cNvPr>
          <p:cNvSpPr>
            <a:spLocks noGrp="1" noChangeArrowheads="1"/>
          </p:cNvSpPr>
          <p:nvPr>
            <p:ph type="body" idx="1"/>
          </p:nvPr>
        </p:nvSpPr>
        <p:spPr>
          <a:solidFill>
            <a:srgbClr val="FFFFFF"/>
          </a:solidFill>
          <a:ln/>
        </p:spPr>
        <p:txBody>
          <a:bodyPr/>
          <a:lstStyle/>
          <a:p>
            <a:pPr>
              <a:defRPr/>
            </a:pPr>
            <a:r>
              <a:rPr lang="en-IN" b="1" dirty="0">
                <a:solidFill>
                  <a:srgbClr val="000000"/>
                </a:solidFill>
                <a:latin typeface="Arial" pitchFamily="34" charset="0"/>
                <a:ea typeface="MS PGothic" pitchFamily="34" charset="-128"/>
              </a:rPr>
              <a:t>Step 3: Syndromic Management (Slides 23-34)-20 minutes</a:t>
            </a:r>
          </a:p>
          <a:p>
            <a:pPr>
              <a:spcAft>
                <a:spcPts val="0"/>
              </a:spcAft>
              <a:defRPr/>
            </a:pPr>
            <a:r>
              <a:rPr lang="en-US" b="1"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spcAft>
                <a:spcPts val="0"/>
              </a:spcAft>
              <a:defRPr/>
            </a:pPr>
            <a:r>
              <a:rPr lang="en-US" b="1" u="sng" dirty="0">
                <a:latin typeface="Arial" pitchFamily="34" charset="0"/>
                <a:ea typeface="Times New Roman"/>
                <a:cs typeface="Arial" pitchFamily="34" charset="0"/>
              </a:rPr>
              <a:t>Trainer Notes:</a:t>
            </a:r>
            <a:r>
              <a:rPr lang="en-US" b="1" dirty="0">
                <a:latin typeface="Arial" pitchFamily="34" charset="0"/>
                <a:ea typeface="Times New Roman"/>
                <a:cs typeface="Arial" pitchFamily="34" charset="0"/>
              </a:rPr>
              <a:t> </a:t>
            </a:r>
            <a:r>
              <a:rPr lang="en-GB" dirty="0">
                <a:latin typeface="Arial" pitchFamily="34" charset="0"/>
                <a:ea typeface="Times New Roman"/>
                <a:cs typeface="Arial" pitchFamily="34" charset="0"/>
              </a:rPr>
              <a:t> </a:t>
            </a:r>
          </a:p>
          <a:p>
            <a:pPr>
              <a:spcAft>
                <a:spcPts val="0"/>
              </a:spcAft>
              <a:defRPr/>
            </a:pPr>
            <a:endParaRPr lang="en-GB" dirty="0">
              <a:latin typeface="Arial" pitchFamily="34" charset="0"/>
              <a:ea typeface="Times New Roman"/>
              <a:cs typeface="Arial" pitchFamily="34" charset="0"/>
            </a:endParaRPr>
          </a:p>
          <a:p>
            <a:pPr marL="342900" indent="-342900">
              <a:spcAft>
                <a:spcPts val="0"/>
              </a:spcAft>
              <a:buFont typeface="Times New Roman"/>
              <a:buChar char="•"/>
              <a:defRPr/>
            </a:pPr>
            <a:r>
              <a:rPr lang="en-US" dirty="0">
                <a:solidFill>
                  <a:srgbClr val="000000"/>
                </a:solidFill>
                <a:latin typeface="Arial" pitchFamily="34" charset="0"/>
                <a:cs typeface="Arial" pitchFamily="34" charset="0"/>
              </a:rPr>
              <a:t>The trainer may explain the components of the syndromic management by using the points on the slide. </a:t>
            </a:r>
            <a:endParaRPr lang="en-GB" dirty="0">
              <a:latin typeface="Arial" pitchFamily="34" charset="0"/>
              <a:ea typeface="Calibri"/>
              <a:cs typeface="Arial" pitchFamily="34" charset="0"/>
            </a:endParaRPr>
          </a:p>
          <a:p>
            <a:pPr marL="342900" indent="-342900">
              <a:spcAft>
                <a:spcPts val="0"/>
              </a:spcAft>
              <a:buFont typeface="Times New Roman"/>
              <a:buChar char="•"/>
              <a:tabLst>
                <a:tab pos="457200" algn="l"/>
              </a:tabLst>
              <a:defRPr/>
            </a:pPr>
            <a:r>
              <a:rPr lang="en-US" dirty="0">
                <a:solidFill>
                  <a:srgbClr val="000000"/>
                </a:solidFill>
                <a:latin typeface="Arial" pitchFamily="34" charset="0"/>
                <a:cs typeface="Arial" pitchFamily="34" charset="0"/>
              </a:rPr>
              <a:t>Because of the advantages of the syndromic management approach, it is the first choice in the management of STIs even at the individual level. This also leads to community level benefits, as we shall see subsequently.  </a:t>
            </a:r>
            <a:endParaRPr lang="en-GB" dirty="0">
              <a:latin typeface="Arial" pitchFamily="34" charset="0"/>
              <a:ea typeface="Calibri"/>
              <a:cs typeface="Arial" pitchFamily="34" charset="0"/>
            </a:endParaRPr>
          </a:p>
          <a:p>
            <a:pPr marL="342900" indent="-342900">
              <a:spcAft>
                <a:spcPts val="0"/>
              </a:spcAft>
              <a:buFont typeface="Times New Roman"/>
              <a:buChar char="•"/>
              <a:tabLst>
                <a:tab pos="457200" algn="l"/>
              </a:tabLst>
              <a:defRPr/>
            </a:pPr>
            <a:r>
              <a:rPr lang="en-US" dirty="0">
                <a:solidFill>
                  <a:srgbClr val="000000"/>
                </a:solidFill>
                <a:latin typeface="Arial" pitchFamily="34" charset="0"/>
                <a:cs typeface="Arial" pitchFamily="34" charset="0"/>
              </a:rPr>
              <a:t>Syndromic management is not only about giving medical treatment to individual patients, but is a comprehensive set of measures which help to control STIs. </a:t>
            </a:r>
            <a:endParaRPr lang="en-US" dirty="0">
              <a:latin typeface="Arial" pitchFamily="34" charset="0"/>
              <a:cs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731E4066-9D91-8DC6-769C-F46D562483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0A95A363-9F5E-43C7-B762-1CD6CEBEC00E}" type="slidenum">
              <a:rPr lang="en-US" altLang="en-US"/>
              <a:pPr>
                <a:spcBef>
                  <a:spcPct val="0"/>
                </a:spcBef>
              </a:pPr>
              <a:t>24</a:t>
            </a:fld>
            <a:endParaRPr lang="en-US" altLang="en-US"/>
          </a:p>
        </p:txBody>
      </p:sp>
      <p:sp>
        <p:nvSpPr>
          <p:cNvPr id="45059" name="Rectangle 2">
            <a:extLst>
              <a:ext uri="{FF2B5EF4-FFF2-40B4-BE49-F238E27FC236}">
                <a16:creationId xmlns:a16="http://schemas.microsoft.com/office/drawing/2014/main" id="{3519CEC2-587A-7B2A-3A49-C3F5BA5A9E85}"/>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6F48C2E5-8C38-4569-9CDF-82D626670628}"/>
              </a:ext>
            </a:extLst>
          </p:cNvPr>
          <p:cNvSpPr>
            <a:spLocks noGrp="1" noChangeArrowheads="1"/>
          </p:cNvSpPr>
          <p:nvPr>
            <p:ph type="body" idx="1"/>
          </p:nvPr>
        </p:nvSpPr>
        <p:spPr>
          <a:ln/>
        </p:spPr>
        <p:txBody>
          <a:bodyPr/>
          <a:lstStyle/>
          <a:p>
            <a:pPr>
              <a:defRPr/>
            </a:pPr>
            <a:r>
              <a:rPr lang="en-US" b="1" u="sng" dirty="0">
                <a:latin typeface="Arial" pitchFamily="34" charset="0"/>
                <a:ea typeface="Times New Roman" pitchFamily="18" charset="0"/>
                <a:cs typeface="Arial" pitchFamily="34" charset="0"/>
              </a:rPr>
              <a:t>Trainer Notes:</a:t>
            </a:r>
            <a:r>
              <a:rPr lang="en-US" dirty="0">
                <a:latin typeface="Arial" pitchFamily="34" charset="0"/>
                <a:ea typeface="Times New Roman" pitchFamily="18" charset="0"/>
                <a:cs typeface="Arial" pitchFamily="34" charset="0"/>
              </a:rPr>
              <a:t> </a:t>
            </a:r>
            <a:endParaRPr lang="en-GB" dirty="0">
              <a:latin typeface="Arial" pitchFamily="34" charset="0"/>
              <a:ea typeface="Times New Roman" pitchFamily="18" charset="0"/>
              <a:cs typeface="Arial" pitchFamily="34" charset="0"/>
            </a:endParaRPr>
          </a:p>
          <a:p>
            <a:pPr>
              <a:defRPr/>
            </a:pPr>
            <a:r>
              <a:rPr lang="en-GB" dirty="0">
                <a:latin typeface="Arial" pitchFamily="34" charset="0"/>
                <a:ea typeface="Times New Roman" pitchFamily="18" charset="0"/>
                <a:cs typeface="Arial" pitchFamily="34" charset="0"/>
              </a:rPr>
              <a:t> </a:t>
            </a:r>
          </a:p>
          <a:p>
            <a:pPr marL="285750" indent="-285750">
              <a:buFont typeface="Times New Roman" pitchFamily="18" charset="0"/>
              <a:buChar char="•"/>
              <a:defRPr/>
            </a:pPr>
            <a:r>
              <a:rPr lang="en-GB" dirty="0">
                <a:latin typeface="Arial" pitchFamily="34" charset="0"/>
                <a:ea typeface="Times New Roman" pitchFamily="18" charset="0"/>
                <a:cs typeface="Arial" pitchFamily="34" charset="0"/>
              </a:rPr>
              <a:t>List out the syndromes. This is the latest revised syndromic flow chart which is more specific.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0FC7C04A-60AD-6C9A-92B6-438E00948B89}"/>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17E411CA-08F2-48F1-B883-A39957D76B5E}"/>
              </a:ext>
            </a:extLst>
          </p:cNvPr>
          <p:cNvSpPr>
            <a:spLocks noGrp="1"/>
          </p:cNvSpPr>
          <p:nvPr>
            <p:ph type="body" idx="1"/>
          </p:nvPr>
        </p:nvSpPr>
        <p:spPr/>
        <p:txBody>
          <a:bodyPr>
            <a:normAutofit/>
          </a:bodyPr>
          <a:lstStyle/>
          <a:p>
            <a:pPr>
              <a:spcAft>
                <a:spcPts val="0"/>
              </a:spcAft>
              <a:defRPr/>
            </a:pPr>
            <a:r>
              <a:rPr lang="en-US" b="1" u="sng" dirty="0">
                <a:latin typeface="Arial" pitchFamily="34" charset="0"/>
                <a:ea typeface="Times New Roman"/>
                <a:cs typeface="Arial" pitchFamily="34" charset="0"/>
              </a:rPr>
              <a:t>Trainer Notes:</a:t>
            </a:r>
            <a:r>
              <a:rPr lang="en-US"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spcAft>
                <a:spcPts val="0"/>
              </a:spcAft>
              <a:defRPr/>
            </a:pPr>
            <a:r>
              <a:rPr lang="en-GB" dirty="0">
                <a:latin typeface="Arial" pitchFamily="34" charset="0"/>
                <a:ea typeface="Times New Roman"/>
                <a:cs typeface="Arial" pitchFamily="34" charset="0"/>
              </a:rPr>
              <a:t> </a:t>
            </a:r>
          </a:p>
          <a:p>
            <a:pPr marL="342900" indent="-342900">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Present a brief history to correlate with the clinical findings in the above image</a:t>
            </a:r>
            <a:endParaRPr lang="en-GB" dirty="0">
              <a:latin typeface="Arial" pitchFamily="34" charset="0"/>
              <a:ea typeface="Times New Roman"/>
              <a:cs typeface="Arial" pitchFamily="34" charset="0"/>
            </a:endParaRPr>
          </a:p>
          <a:p>
            <a:pPr marL="342900" indent="-342900">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A 25 year old male presented with history of unprotected sex a week before presenting with complaints of purulent urethral discharge. </a:t>
            </a:r>
            <a:endParaRPr lang="en-GB" dirty="0">
              <a:latin typeface="Arial" pitchFamily="34" charset="0"/>
              <a:ea typeface="Times New Roman"/>
              <a:cs typeface="Arial" pitchFamily="34" charset="0"/>
            </a:endParaRPr>
          </a:p>
          <a:p>
            <a:pPr marL="342900" indent="-342900">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Ask the participants how to approach the above patient. </a:t>
            </a:r>
            <a:endParaRPr lang="en-GB" dirty="0">
              <a:latin typeface="Arial" pitchFamily="34" charset="0"/>
              <a:ea typeface="Times New Roman"/>
              <a:cs typeface="Arial" pitchFamily="34" charset="0"/>
            </a:endParaRPr>
          </a:p>
          <a:p>
            <a:pPr marL="285750" indent="-285750">
              <a:spcAft>
                <a:spcPts val="0"/>
              </a:spcAft>
              <a:buFont typeface="Times New Roman"/>
              <a:buChar char="•"/>
              <a:tabLst>
                <a:tab pos="685800" algn="l"/>
                <a:tab pos="914400" algn="l"/>
              </a:tabLst>
              <a:defRPr/>
            </a:pPr>
            <a:r>
              <a:rPr lang="en-US" b="1" dirty="0">
                <a:latin typeface="Arial" pitchFamily="34" charset="0"/>
                <a:ea typeface="Times New Roman"/>
                <a:cs typeface="Arial" pitchFamily="34" charset="0"/>
              </a:rPr>
              <a:t>Answer: </a:t>
            </a:r>
            <a:r>
              <a:rPr lang="en-US" dirty="0">
                <a:latin typeface="Arial" pitchFamily="34" charset="0"/>
                <a:ea typeface="Times New Roman"/>
                <a:cs typeface="Arial" pitchFamily="34" charset="0"/>
              </a:rPr>
              <a:t>This is urethral discharge syndrome. Since there is visible purulent discharge, treat for Gonorrhoea and Chlamydia as per the treatment chart. </a:t>
            </a:r>
            <a:endParaRPr lang="en-GB" dirty="0">
              <a:latin typeface="Arial" pitchFamily="34" charset="0"/>
              <a:ea typeface="Times New Roman"/>
              <a:cs typeface="Arial" pitchFamily="34" charset="0"/>
            </a:endParaRPr>
          </a:p>
          <a:p>
            <a:pPr>
              <a:defRPr/>
            </a:pPr>
            <a:endParaRPr lang="en-GB" dirty="0">
              <a:latin typeface="Arial" pitchFamily="34" charset="0"/>
              <a:cs typeface="Arial" pitchFamily="34" charset="0"/>
            </a:endParaRPr>
          </a:p>
        </p:txBody>
      </p:sp>
      <p:sp>
        <p:nvSpPr>
          <p:cNvPr id="47108" name="Slide Number Placeholder 3">
            <a:extLst>
              <a:ext uri="{FF2B5EF4-FFF2-40B4-BE49-F238E27FC236}">
                <a16:creationId xmlns:a16="http://schemas.microsoft.com/office/drawing/2014/main" id="{1E3FE840-9DCD-E9D2-5414-0C00A3D857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3859FB9A-4DFB-4414-8CDA-A0659987FD7B}" type="slidenum">
              <a:rPr lang="en-US" altLang="en-US"/>
              <a:pPr>
                <a:spcBef>
                  <a:spcPct val="0"/>
                </a:spcBef>
              </a:pPr>
              <a:t>25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BBCB7E5D-DC82-0A56-EED4-15090D2D6FF2}"/>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262A2BAF-4228-46E4-AA0E-31A23A363209}"/>
              </a:ext>
            </a:extLst>
          </p:cNvPr>
          <p:cNvSpPr>
            <a:spLocks noGrp="1"/>
          </p:cNvSpPr>
          <p:nvPr>
            <p:ph type="body" idx="1"/>
          </p:nvPr>
        </p:nvSpPr>
        <p:spPr/>
        <p:txBody>
          <a:bodyPr>
            <a:normAutofit/>
          </a:bodyPr>
          <a:lstStyle/>
          <a:p>
            <a:pPr>
              <a:spcAft>
                <a:spcPts val="0"/>
              </a:spcAft>
              <a:defRPr/>
            </a:pPr>
            <a:r>
              <a:rPr lang="en-US" b="1" u="sng" dirty="0">
                <a:latin typeface="Arial" pitchFamily="34" charset="0"/>
                <a:ea typeface="Times New Roman"/>
                <a:cs typeface="Arial" pitchFamily="34" charset="0"/>
              </a:rPr>
              <a:t>Trainer Notes:</a:t>
            </a:r>
            <a:r>
              <a:rPr lang="en-US"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spcAft>
                <a:spcPts val="0"/>
              </a:spcAft>
              <a:defRPr/>
            </a:pPr>
            <a:r>
              <a:rPr lang="en-GB" dirty="0">
                <a:latin typeface="Arial" pitchFamily="34" charset="0"/>
                <a:ea typeface="Times New Roman"/>
                <a:cs typeface="Arial" pitchFamily="34" charset="0"/>
              </a:rPr>
              <a:t> </a:t>
            </a:r>
          </a:p>
          <a:p>
            <a:pPr>
              <a:spcAft>
                <a:spcPts val="0"/>
              </a:spcAft>
              <a:defRPr/>
            </a:pPr>
            <a:r>
              <a:rPr lang="en-US" dirty="0">
                <a:latin typeface="Arial" pitchFamily="34" charset="0"/>
                <a:ea typeface="Times New Roman"/>
                <a:cs typeface="Arial" pitchFamily="34" charset="0"/>
              </a:rPr>
              <a:t>Ask participants: </a:t>
            </a:r>
            <a:r>
              <a:rPr lang="en-US" b="1" dirty="0">
                <a:latin typeface="Arial" pitchFamily="34" charset="0"/>
                <a:ea typeface="Times New Roman"/>
                <a:cs typeface="Arial" pitchFamily="34" charset="0"/>
              </a:rPr>
              <a:t>“Enumerate the aetiologies for </a:t>
            </a:r>
            <a:r>
              <a:rPr lang="en-US" b="1" dirty="0" err="1">
                <a:latin typeface="Arial" pitchFamily="34" charset="0"/>
                <a:ea typeface="Times New Roman"/>
                <a:cs typeface="Arial" pitchFamily="34" charset="0"/>
              </a:rPr>
              <a:t>endocervical</a:t>
            </a:r>
            <a:r>
              <a:rPr lang="en-US" b="1" dirty="0">
                <a:latin typeface="Arial" pitchFamily="34" charset="0"/>
                <a:ea typeface="Times New Roman"/>
                <a:cs typeface="Arial" pitchFamily="34" charset="0"/>
              </a:rPr>
              <a:t> discharge?“ </a:t>
            </a:r>
            <a:endParaRPr lang="en-GB" dirty="0">
              <a:latin typeface="Arial" pitchFamily="34" charset="0"/>
              <a:ea typeface="Times New Roman"/>
              <a:cs typeface="Arial" pitchFamily="34" charset="0"/>
            </a:endParaRPr>
          </a:p>
          <a:p>
            <a:pPr marL="342900" indent="-342900">
              <a:spcAft>
                <a:spcPts val="0"/>
              </a:spcAft>
              <a:tabLst>
                <a:tab pos="228600" algn="l"/>
              </a:tabLst>
              <a:defRPr/>
            </a:pPr>
            <a:r>
              <a:rPr lang="en-US" b="1" dirty="0">
                <a:latin typeface="Arial" pitchFamily="34" charset="0"/>
                <a:ea typeface="Times New Roman"/>
                <a:cs typeface="Arial" pitchFamily="34" charset="0"/>
              </a:rPr>
              <a:t>Answer:</a:t>
            </a:r>
            <a:endParaRPr lang="en-GB" dirty="0">
              <a:latin typeface="Arial" pitchFamily="34" charset="0"/>
              <a:ea typeface="Times New Roman"/>
              <a:cs typeface="Arial" pitchFamily="34" charset="0"/>
            </a:endParaRPr>
          </a:p>
          <a:p>
            <a:pPr marL="342900" indent="-342900">
              <a:spcAft>
                <a:spcPts val="0"/>
              </a:spcAft>
              <a:buFont typeface="Times New Roman"/>
              <a:buChar char="•"/>
              <a:tabLst>
                <a:tab pos="228600" algn="l"/>
              </a:tabLst>
              <a:defRPr/>
            </a:pPr>
            <a:r>
              <a:rPr lang="en-US" dirty="0" err="1">
                <a:latin typeface="Arial" pitchFamily="34" charset="0"/>
                <a:ea typeface="Times New Roman"/>
                <a:cs typeface="Arial" pitchFamily="34" charset="0"/>
              </a:rPr>
              <a:t>Cervicitis</a:t>
            </a:r>
            <a:r>
              <a:rPr lang="en-US" dirty="0">
                <a:latin typeface="Arial" pitchFamily="34" charset="0"/>
                <a:ea typeface="Times New Roman"/>
                <a:cs typeface="Arial" pitchFamily="34" charset="0"/>
              </a:rPr>
              <a:t> is caused by </a:t>
            </a:r>
            <a:r>
              <a:rPr lang="en-US" dirty="0" err="1">
                <a:latin typeface="Arial" pitchFamily="34" charset="0"/>
                <a:ea typeface="Times New Roman"/>
                <a:cs typeface="Arial" pitchFamily="34" charset="0"/>
              </a:rPr>
              <a:t>N.gonorhoeae</a:t>
            </a:r>
            <a:r>
              <a:rPr lang="en-US" dirty="0">
                <a:latin typeface="Arial" pitchFamily="34" charset="0"/>
                <a:ea typeface="Times New Roman"/>
                <a:cs typeface="Arial" pitchFamily="34" charset="0"/>
              </a:rPr>
              <a:t> and </a:t>
            </a:r>
            <a:r>
              <a:rPr lang="en-US" dirty="0" err="1">
                <a:latin typeface="Arial" pitchFamily="34" charset="0"/>
                <a:ea typeface="Times New Roman"/>
                <a:cs typeface="Arial" pitchFamily="34" charset="0"/>
              </a:rPr>
              <a:t>C.trachomatis</a:t>
            </a:r>
            <a:r>
              <a:rPr lang="en-US" dirty="0">
                <a:latin typeface="Arial" pitchFamily="34" charset="0"/>
                <a:ea typeface="Times New Roman"/>
                <a:cs typeface="Arial" pitchFamily="34" charset="0"/>
              </a:rPr>
              <a:t> while </a:t>
            </a:r>
            <a:r>
              <a:rPr lang="en-US" dirty="0" err="1">
                <a:latin typeface="Arial" pitchFamily="34" charset="0"/>
                <a:ea typeface="Times New Roman"/>
                <a:cs typeface="Arial" pitchFamily="34" charset="0"/>
              </a:rPr>
              <a:t>Trichomonas</a:t>
            </a:r>
            <a:r>
              <a:rPr lang="en-US" dirty="0">
                <a:latin typeface="Arial" pitchFamily="34" charset="0"/>
                <a:ea typeface="Times New Roman"/>
                <a:cs typeface="Arial" pitchFamily="34" charset="0"/>
              </a:rPr>
              <a:t>, Candida and Bacterial </a:t>
            </a:r>
            <a:r>
              <a:rPr lang="en-US" dirty="0" err="1">
                <a:latin typeface="Arial" pitchFamily="34" charset="0"/>
                <a:ea typeface="Times New Roman"/>
                <a:cs typeface="Arial" pitchFamily="34" charset="0"/>
              </a:rPr>
              <a:t>Vaginosis</a:t>
            </a:r>
            <a:r>
              <a:rPr lang="en-US" dirty="0">
                <a:latin typeface="Arial" pitchFamily="34" charset="0"/>
                <a:ea typeface="Times New Roman"/>
                <a:cs typeface="Arial" pitchFamily="34" charset="0"/>
              </a:rPr>
              <a:t> cause </a:t>
            </a:r>
            <a:r>
              <a:rPr lang="en-US" dirty="0" err="1">
                <a:latin typeface="Arial" pitchFamily="34" charset="0"/>
                <a:ea typeface="Times New Roman"/>
                <a:cs typeface="Arial" pitchFamily="34" charset="0"/>
              </a:rPr>
              <a:t>vaginitis</a:t>
            </a:r>
            <a:r>
              <a:rPr lang="en-US" dirty="0">
                <a:latin typeface="Arial" pitchFamily="34" charset="0"/>
                <a:ea typeface="Times New Roman"/>
                <a:cs typeface="Arial" pitchFamily="34" charset="0"/>
              </a:rPr>
              <a:t>. Clinical differentiation between the two is difficult.</a:t>
            </a:r>
            <a:endParaRPr lang="en-GB" dirty="0">
              <a:latin typeface="Arial" pitchFamily="34" charset="0"/>
              <a:ea typeface="Times New Roman"/>
              <a:cs typeface="Arial" pitchFamily="34" charset="0"/>
            </a:endParaRPr>
          </a:p>
          <a:p>
            <a:pPr marL="342900" indent="-342900">
              <a:spcAft>
                <a:spcPts val="0"/>
              </a:spcAft>
              <a:buFont typeface="Times New Roman"/>
              <a:buChar char="•"/>
              <a:tabLst>
                <a:tab pos="228600" algn="l"/>
              </a:tabLst>
              <a:defRPr/>
            </a:pPr>
            <a:r>
              <a:rPr lang="en-US" dirty="0">
                <a:latin typeface="Arial" pitchFamily="34" charset="0"/>
                <a:ea typeface="Times New Roman"/>
                <a:cs typeface="Arial" pitchFamily="34" charset="0"/>
              </a:rPr>
              <a:t>An assessment of the risk status will help in making a diagnosis.</a:t>
            </a:r>
            <a:endParaRPr lang="en-GB" dirty="0">
              <a:latin typeface="Arial" pitchFamily="34" charset="0"/>
              <a:ea typeface="Times New Roman"/>
              <a:cs typeface="Arial" pitchFamily="34" charset="0"/>
            </a:endParaRPr>
          </a:p>
          <a:p>
            <a:pPr>
              <a:spcAft>
                <a:spcPts val="0"/>
              </a:spcAft>
              <a:defRPr/>
            </a:pPr>
            <a:r>
              <a:rPr lang="en-GB" b="1" dirty="0">
                <a:latin typeface="Arial" pitchFamily="34" charset="0"/>
                <a:ea typeface="Times New Roman"/>
                <a:cs typeface="Arial" pitchFamily="34" charset="0"/>
              </a:rPr>
              <a:t>Risk factors associated with cervical infection include:</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Younger than 21 years</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Not married</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Multiple (more than one) sex partners in the last three months</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A new partner in the last three months</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Current  sex partner has a sexually transmitted infection</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Recent use of condoms by the partner</a:t>
            </a:r>
          </a:p>
          <a:p>
            <a:pPr>
              <a:defRPr/>
            </a:pPr>
            <a:endParaRPr lang="en-GB" dirty="0"/>
          </a:p>
        </p:txBody>
      </p:sp>
      <p:sp>
        <p:nvSpPr>
          <p:cNvPr id="49156" name="Slide Number Placeholder 3">
            <a:extLst>
              <a:ext uri="{FF2B5EF4-FFF2-40B4-BE49-F238E27FC236}">
                <a16:creationId xmlns:a16="http://schemas.microsoft.com/office/drawing/2014/main" id="{11B00F57-BD02-382F-79C2-45E844BE91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1EEF893C-A7C6-4D10-9155-E103F8A9FA29}" type="slidenum">
              <a:rPr lang="en-US" altLang="en-US"/>
              <a:pPr>
                <a:spcBef>
                  <a:spcPct val="0"/>
                </a:spcBef>
              </a:pPr>
              <a:t>26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67D83C96-D62C-F648-B21B-0ED33C4EE79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AAA69E49-335B-417F-BF3A-D21E4FC4BA79}"/>
              </a:ext>
            </a:extLst>
          </p:cNvPr>
          <p:cNvSpPr>
            <a:spLocks noGrp="1"/>
          </p:cNvSpPr>
          <p:nvPr>
            <p:ph type="body" idx="1"/>
          </p:nvPr>
        </p:nvSpPr>
        <p:spPr/>
        <p:txBody>
          <a:bodyPr>
            <a:normAutofit/>
          </a:bodyPr>
          <a:lstStyle/>
          <a:p>
            <a:pPr>
              <a:spcAft>
                <a:spcPts val="0"/>
              </a:spcAft>
              <a:defRPr/>
            </a:pPr>
            <a:r>
              <a:rPr lang="en-US" b="1" u="sng" dirty="0">
                <a:latin typeface="Arial" pitchFamily="34" charset="0"/>
                <a:ea typeface="Times New Roman"/>
                <a:cs typeface="Arial" pitchFamily="34" charset="0"/>
              </a:rPr>
              <a:t>Trainer Notes:</a:t>
            </a:r>
            <a:endParaRPr lang="en-GB" dirty="0">
              <a:latin typeface="Arial" pitchFamily="34" charset="0"/>
              <a:ea typeface="Times New Roman"/>
              <a:cs typeface="Arial" pitchFamily="34" charset="0"/>
            </a:endParaRPr>
          </a:p>
          <a:p>
            <a:pPr>
              <a:spcAft>
                <a:spcPts val="0"/>
              </a:spcAft>
              <a:defRPr/>
            </a:pPr>
            <a:r>
              <a:rPr lang="en-GB" dirty="0">
                <a:latin typeface="Arial" pitchFamily="34" charset="0"/>
                <a:ea typeface="Times New Roman"/>
                <a:cs typeface="Arial" pitchFamily="34" charset="0"/>
              </a:rPr>
              <a:t> </a:t>
            </a:r>
          </a:p>
          <a:p>
            <a:pPr marL="342900" indent="-342900">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Ask participants, </a:t>
            </a:r>
            <a:r>
              <a:rPr lang="en-US" dirty="0">
                <a:solidFill>
                  <a:srgbClr val="000099"/>
                </a:solidFill>
              </a:rPr>
              <a:t>if a patient presents with pain and swelling in the scrotum, how would you manage?</a:t>
            </a:r>
            <a:endParaRPr lang="en-US" b="1" u="sng" dirty="0">
              <a:latin typeface="Arial" pitchFamily="34" charset="0"/>
              <a:ea typeface="Times New Roman"/>
              <a:cs typeface="Arial" pitchFamily="34" charset="0"/>
            </a:endParaRPr>
          </a:p>
          <a:p>
            <a:pPr>
              <a:spcAft>
                <a:spcPts val="0"/>
              </a:spcAft>
              <a:defRPr/>
            </a:pPr>
            <a:r>
              <a:rPr lang="en-US" b="1" u="sng" dirty="0">
                <a:latin typeface="Arial" pitchFamily="34" charset="0"/>
                <a:ea typeface="Times New Roman"/>
                <a:cs typeface="Arial" pitchFamily="34" charset="0"/>
              </a:rPr>
              <a:t>Answer: </a:t>
            </a:r>
            <a:endParaRPr lang="en-GB" dirty="0">
              <a:latin typeface="Arial" pitchFamily="34" charset="0"/>
              <a:ea typeface="Times New Roman"/>
              <a:cs typeface="Arial" pitchFamily="34" charset="0"/>
            </a:endParaRP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The possible aetiological agents would be gonorrhoea and Chlamydia. Treat for both the infections.  </a:t>
            </a:r>
          </a:p>
          <a:p>
            <a:pPr marL="342900" indent="-342900">
              <a:spcAft>
                <a:spcPts val="0"/>
              </a:spcAft>
              <a:buFont typeface="Times New Roman"/>
              <a:buChar char="•"/>
              <a:tabLst>
                <a:tab pos="228600" algn="l"/>
              </a:tabLst>
              <a:defRPr/>
            </a:pPr>
            <a:r>
              <a:rPr lang="en-GB" dirty="0">
                <a:latin typeface="Arial" pitchFamily="34" charset="0"/>
                <a:ea typeface="Times New Roman"/>
                <a:cs typeface="Arial" pitchFamily="34" charset="0"/>
              </a:rPr>
              <a:t>The other differential diagnosis that can be thought of the following :</a:t>
            </a:r>
          </a:p>
          <a:p>
            <a:pPr marL="342900" indent="-342900">
              <a:spcAft>
                <a:spcPts val="0"/>
              </a:spcAft>
              <a:tabLst>
                <a:tab pos="228600" algn="l"/>
              </a:tabLst>
              <a:defRPr/>
            </a:pPr>
            <a:r>
              <a:rPr lang="en-US" b="1" dirty="0">
                <a:latin typeface="Arial" pitchFamily="34" charset="0"/>
                <a:ea typeface="Times New Roman"/>
                <a:cs typeface="Arial" pitchFamily="34" charset="0"/>
              </a:rPr>
              <a:t>Infectious causes of Scrotal swelling:</a:t>
            </a:r>
            <a:endParaRPr lang="en-GB" dirty="0">
              <a:latin typeface="Arial" pitchFamily="34" charset="0"/>
              <a:ea typeface="Times New Roman"/>
              <a:cs typeface="Arial" pitchFamily="34" charset="0"/>
            </a:endParaRPr>
          </a:p>
          <a:p>
            <a:pPr marL="800100" lvl="1" indent="-342900">
              <a:spcAft>
                <a:spcPts val="0"/>
              </a:spcAft>
              <a:buFont typeface="Arial" pitchFamily="34" charset="0"/>
              <a:buChar char="•"/>
              <a:tabLst>
                <a:tab pos="457200" algn="l"/>
              </a:tabLst>
              <a:defRPr/>
            </a:pPr>
            <a:r>
              <a:rPr lang="en-US" dirty="0">
                <a:latin typeface="Arial" pitchFamily="34" charset="0"/>
                <a:ea typeface="Times New Roman"/>
                <a:cs typeface="Arial" pitchFamily="34" charset="0"/>
              </a:rPr>
              <a:t>Tuberculosis, </a:t>
            </a:r>
            <a:r>
              <a:rPr lang="en-US" dirty="0" err="1">
                <a:latin typeface="Arial" pitchFamily="34" charset="0"/>
                <a:ea typeface="Times New Roman"/>
                <a:cs typeface="Arial" pitchFamily="34" charset="0"/>
              </a:rPr>
              <a:t>filariasis</a:t>
            </a:r>
            <a:r>
              <a:rPr lang="en-US" dirty="0">
                <a:latin typeface="Arial" pitchFamily="34" charset="0"/>
                <a:ea typeface="Times New Roman"/>
                <a:cs typeface="Arial" pitchFamily="34" charset="0"/>
              </a:rPr>
              <a:t>, </a:t>
            </a:r>
            <a:r>
              <a:rPr lang="en-US" dirty="0" err="1">
                <a:latin typeface="Arial" pitchFamily="34" charset="0"/>
                <a:ea typeface="Times New Roman"/>
                <a:cs typeface="Arial" pitchFamily="34" charset="0"/>
              </a:rPr>
              <a:t>coliforms</a:t>
            </a:r>
            <a:r>
              <a:rPr lang="en-US" dirty="0">
                <a:latin typeface="Arial" pitchFamily="34" charset="0"/>
                <a:ea typeface="Times New Roman"/>
                <a:cs typeface="Arial" pitchFamily="34" charset="0"/>
              </a:rPr>
              <a:t>, pseudomonas, mumps infection.</a:t>
            </a:r>
            <a:endParaRPr lang="en-GB" dirty="0">
              <a:latin typeface="Arial" pitchFamily="34" charset="0"/>
              <a:ea typeface="Times New Roman"/>
              <a:cs typeface="Arial" pitchFamily="34" charset="0"/>
            </a:endParaRPr>
          </a:p>
          <a:p>
            <a:pPr marL="342900" indent="-342900">
              <a:spcAft>
                <a:spcPts val="0"/>
              </a:spcAft>
              <a:tabLst>
                <a:tab pos="228600" algn="l"/>
              </a:tabLst>
              <a:defRPr/>
            </a:pPr>
            <a:r>
              <a:rPr lang="en-US" b="1" dirty="0">
                <a:latin typeface="Arial" pitchFamily="34" charset="0"/>
                <a:ea typeface="Times New Roman"/>
                <a:cs typeface="Arial" pitchFamily="34" charset="0"/>
              </a:rPr>
              <a:t>Non infectious causes:</a:t>
            </a:r>
            <a:endParaRPr lang="en-GB" dirty="0">
              <a:latin typeface="Arial" pitchFamily="34" charset="0"/>
              <a:ea typeface="Times New Roman"/>
              <a:cs typeface="Arial" pitchFamily="34" charset="0"/>
            </a:endParaRPr>
          </a:p>
          <a:p>
            <a:pPr marL="742950" lvl="1" indent="-285750">
              <a:spcAft>
                <a:spcPts val="0"/>
              </a:spcAft>
              <a:buFont typeface="Arial" pitchFamily="34" charset="0"/>
              <a:buChar char="•"/>
              <a:defRPr/>
            </a:pPr>
            <a:r>
              <a:rPr lang="en-US" dirty="0">
                <a:latin typeface="Arial" pitchFamily="34" charset="0"/>
                <a:ea typeface="Times New Roman"/>
                <a:cs typeface="Arial" pitchFamily="34" charset="0"/>
              </a:rPr>
              <a:t>Trauma, Hernia, </a:t>
            </a:r>
            <a:r>
              <a:rPr lang="en-US" dirty="0" err="1">
                <a:latin typeface="Arial" pitchFamily="34" charset="0"/>
                <a:ea typeface="Times New Roman"/>
                <a:cs typeface="Arial" pitchFamily="34" charset="0"/>
              </a:rPr>
              <a:t>Hydrocoele</a:t>
            </a:r>
            <a:r>
              <a:rPr lang="en-US" dirty="0">
                <a:latin typeface="Arial" pitchFamily="34" charset="0"/>
                <a:ea typeface="Times New Roman"/>
                <a:cs typeface="Arial" pitchFamily="34" charset="0"/>
              </a:rPr>
              <a:t>, Testicular torsion, and Testicular tumors.</a:t>
            </a:r>
            <a:endParaRPr lang="en-GB" dirty="0">
              <a:latin typeface="Arial" pitchFamily="34" charset="0"/>
              <a:ea typeface="Times New Roman"/>
              <a:cs typeface="Arial" pitchFamily="34" charset="0"/>
            </a:endParaRPr>
          </a:p>
          <a:p>
            <a:pPr>
              <a:defRPr/>
            </a:pPr>
            <a:endParaRPr lang="en-GB" dirty="0"/>
          </a:p>
        </p:txBody>
      </p:sp>
      <p:sp>
        <p:nvSpPr>
          <p:cNvPr id="51204" name="Slide Number Placeholder 3">
            <a:extLst>
              <a:ext uri="{FF2B5EF4-FFF2-40B4-BE49-F238E27FC236}">
                <a16:creationId xmlns:a16="http://schemas.microsoft.com/office/drawing/2014/main" id="{B660AE7E-40CF-C810-9972-BBA0E9030C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86C72968-4530-4685-8B42-44CFAE38C79D}" type="slidenum">
              <a:rPr lang="en-US" altLang="en-US"/>
              <a:pPr>
                <a:spcBef>
                  <a:spcPct val="0"/>
                </a:spcBef>
              </a:pPr>
              <a:t>27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BA6C4B25-927F-5330-7F44-0A2E226348DD}"/>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72C2E58F-62C1-4F9B-B6CC-E0D189899AF0}"/>
              </a:ext>
            </a:extLst>
          </p:cNvPr>
          <p:cNvSpPr>
            <a:spLocks noGrp="1"/>
          </p:cNvSpPr>
          <p:nvPr>
            <p:ph type="body" idx="1"/>
          </p:nvPr>
        </p:nvSpPr>
        <p:spPr/>
        <p:txBody>
          <a:bodyPr>
            <a:normAutofit/>
          </a:bodyPr>
          <a:lstStyle/>
          <a:p>
            <a:pPr>
              <a:spcAft>
                <a:spcPts val="0"/>
              </a:spcAft>
              <a:defRPr/>
            </a:pPr>
            <a:r>
              <a:rPr lang="en-US" b="1" u="sng" dirty="0">
                <a:latin typeface="Arial" pitchFamily="34" charset="0"/>
                <a:ea typeface="Times New Roman"/>
                <a:cs typeface="Arial" pitchFamily="34" charset="0"/>
              </a:rPr>
              <a:t>Trainer Notes:</a:t>
            </a:r>
            <a:endParaRPr lang="en-GB" dirty="0">
              <a:latin typeface="Arial" pitchFamily="34" charset="0"/>
              <a:ea typeface="Times New Roman"/>
              <a:cs typeface="Arial" pitchFamily="34" charset="0"/>
            </a:endParaRPr>
          </a:p>
          <a:p>
            <a:pPr>
              <a:spcAft>
                <a:spcPts val="0"/>
              </a:spcAft>
              <a:defRPr/>
            </a:pPr>
            <a:r>
              <a:rPr lang="en-GB" dirty="0">
                <a:latin typeface="Arial" pitchFamily="34" charset="0"/>
                <a:ea typeface="Times New Roman"/>
                <a:cs typeface="Arial" pitchFamily="34" charset="0"/>
              </a:rPr>
              <a:t> </a:t>
            </a:r>
          </a:p>
          <a:p>
            <a:pPr marL="342900" indent="-342900">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Discuss the common causes of vaginal discharge and present the management approach.</a:t>
            </a:r>
          </a:p>
        </p:txBody>
      </p:sp>
      <p:sp>
        <p:nvSpPr>
          <p:cNvPr id="53252" name="Slide Number Placeholder 3">
            <a:extLst>
              <a:ext uri="{FF2B5EF4-FFF2-40B4-BE49-F238E27FC236}">
                <a16:creationId xmlns:a16="http://schemas.microsoft.com/office/drawing/2014/main" id="{898775E7-55D3-5656-B122-BF2C0E98B0B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470AF7A1-927D-46AB-B46C-222C05D3BBA9}" type="slidenum">
              <a:rPr lang="en-US" altLang="en-US"/>
              <a:pPr>
                <a:spcBef>
                  <a:spcPct val="0"/>
                </a:spcBef>
              </a:pPr>
              <a:t>28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41F2102C-C45F-A206-B330-A2B454F385F2}"/>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41F39B1E-0522-4F6A-B292-14AADF919FC3}"/>
              </a:ext>
            </a:extLst>
          </p:cNvPr>
          <p:cNvSpPr>
            <a:spLocks noGrp="1"/>
          </p:cNvSpPr>
          <p:nvPr>
            <p:ph type="body" idx="1"/>
          </p:nvPr>
        </p:nvSpPr>
        <p:spPr/>
        <p:txBody>
          <a:bodyPr>
            <a:normAutofit lnSpcReduction="10000"/>
          </a:bodyPr>
          <a:lstStyle/>
          <a:p>
            <a:pPr>
              <a:lnSpc>
                <a:spcPct val="110000"/>
              </a:lnSpc>
              <a:spcBef>
                <a:spcPts val="360"/>
              </a:spcBef>
              <a:spcAft>
                <a:spcPts val="0"/>
              </a:spcAft>
              <a:defRPr/>
            </a:pPr>
            <a:r>
              <a:rPr lang="en-US" b="1" u="sng" dirty="0">
                <a:latin typeface="Arial" pitchFamily="34" charset="0"/>
                <a:ea typeface="Times New Roman"/>
                <a:cs typeface="Arial" pitchFamily="34" charset="0"/>
              </a:rPr>
              <a:t>Trainer Notes:</a:t>
            </a:r>
            <a:r>
              <a:rPr lang="en-US"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lnSpc>
                <a:spcPct val="110000"/>
              </a:lnSpc>
              <a:spcBef>
                <a:spcPts val="360"/>
              </a:spcBef>
              <a:spcAft>
                <a:spcPts val="0"/>
              </a:spcAft>
              <a:defRPr/>
            </a:pPr>
            <a:r>
              <a:rPr lang="en-GB" dirty="0">
                <a:latin typeface="Arial" pitchFamily="34" charset="0"/>
                <a:ea typeface="Times New Roman"/>
                <a:cs typeface="Arial" pitchFamily="34" charset="0"/>
              </a:rPr>
              <a:t> </a:t>
            </a:r>
          </a:p>
          <a:p>
            <a:pPr>
              <a:lnSpc>
                <a:spcPct val="110000"/>
              </a:lnSpc>
              <a:spcAft>
                <a:spcPts val="0"/>
              </a:spcAft>
              <a:defRPr/>
            </a:pPr>
            <a:r>
              <a:rPr lang="en-US" dirty="0">
                <a:solidFill>
                  <a:srgbClr val="000000"/>
                </a:solidFill>
                <a:latin typeface="Arial"/>
              </a:rPr>
              <a:t>Ask participants: </a:t>
            </a:r>
            <a:r>
              <a:rPr lang="en-US" b="1" dirty="0">
                <a:solidFill>
                  <a:srgbClr val="000000"/>
                </a:solidFill>
                <a:latin typeface="Arial"/>
              </a:rPr>
              <a:t>“Enumerate the aetiologies for a genital ulcer?” Discuss this slide and the next slide together</a:t>
            </a:r>
            <a:r>
              <a:rPr lang="en-US" dirty="0">
                <a:solidFill>
                  <a:srgbClr val="000000"/>
                </a:solidFill>
                <a:latin typeface="Arial"/>
              </a:rPr>
              <a:t> </a:t>
            </a:r>
            <a:endParaRPr lang="en-GB" sz="1100" dirty="0">
              <a:latin typeface="Calibri"/>
              <a:ea typeface="Calibri"/>
              <a:cs typeface="Times New Roman"/>
            </a:endParaRPr>
          </a:p>
          <a:p>
            <a:pPr>
              <a:lnSpc>
                <a:spcPct val="110000"/>
              </a:lnSpc>
              <a:spcAft>
                <a:spcPts val="0"/>
              </a:spcAft>
              <a:defRPr/>
            </a:pPr>
            <a:r>
              <a:rPr lang="en-US" b="1" dirty="0">
                <a:solidFill>
                  <a:srgbClr val="000000"/>
                </a:solidFill>
                <a:latin typeface="Arial"/>
              </a:rPr>
              <a:t>Answer:</a:t>
            </a:r>
            <a:r>
              <a:rPr lang="en-US" dirty="0">
                <a:solidFill>
                  <a:srgbClr val="000000"/>
                </a:solidFill>
                <a:latin typeface="Arial"/>
              </a:rPr>
              <a:t> </a:t>
            </a:r>
            <a:endParaRPr lang="en-GB" sz="1100" dirty="0">
              <a:latin typeface="Calibri"/>
              <a:ea typeface="Calibri"/>
              <a:cs typeface="Times New Roman"/>
            </a:endParaRPr>
          </a:p>
          <a:p>
            <a:pPr marL="342900" indent="-342900">
              <a:lnSpc>
                <a:spcPct val="110000"/>
              </a:lnSpc>
              <a:spcAft>
                <a:spcPts val="0"/>
              </a:spcAft>
              <a:buFont typeface="Times New Roman"/>
              <a:buChar char="•"/>
              <a:defRPr/>
            </a:pPr>
            <a:r>
              <a:rPr lang="en-US" dirty="0">
                <a:solidFill>
                  <a:srgbClr val="000000"/>
                </a:solidFill>
                <a:latin typeface="Arial"/>
              </a:rPr>
              <a:t>Genital ulcer is caused by </a:t>
            </a:r>
            <a:r>
              <a:rPr lang="en-US" dirty="0" err="1">
                <a:solidFill>
                  <a:srgbClr val="000000"/>
                </a:solidFill>
                <a:latin typeface="Arial"/>
              </a:rPr>
              <a:t>T.Pallidum</a:t>
            </a:r>
            <a:r>
              <a:rPr lang="en-US" dirty="0">
                <a:solidFill>
                  <a:srgbClr val="000000"/>
                </a:solidFill>
                <a:latin typeface="Arial"/>
              </a:rPr>
              <a:t> (syphilis), Herpes Simplex (Genital Herpes), </a:t>
            </a:r>
            <a:r>
              <a:rPr lang="en-US" dirty="0" err="1">
                <a:solidFill>
                  <a:srgbClr val="000000"/>
                </a:solidFill>
                <a:latin typeface="Arial"/>
              </a:rPr>
              <a:t>Haemophilus</a:t>
            </a:r>
            <a:r>
              <a:rPr lang="en-US" dirty="0">
                <a:solidFill>
                  <a:srgbClr val="000000"/>
                </a:solidFill>
                <a:latin typeface="Arial"/>
              </a:rPr>
              <a:t> </a:t>
            </a:r>
            <a:r>
              <a:rPr lang="en-US" dirty="0" err="1">
                <a:solidFill>
                  <a:srgbClr val="000000"/>
                </a:solidFill>
                <a:latin typeface="Arial"/>
              </a:rPr>
              <a:t>Ducreyi</a:t>
            </a:r>
            <a:r>
              <a:rPr lang="en-US" dirty="0">
                <a:solidFill>
                  <a:srgbClr val="000000"/>
                </a:solidFill>
                <a:latin typeface="Arial"/>
              </a:rPr>
              <a:t> (</a:t>
            </a:r>
            <a:r>
              <a:rPr lang="en-US" dirty="0" err="1">
                <a:solidFill>
                  <a:srgbClr val="000000"/>
                </a:solidFill>
                <a:latin typeface="Arial"/>
              </a:rPr>
              <a:t>Chancroid</a:t>
            </a:r>
            <a:r>
              <a:rPr lang="en-US" dirty="0">
                <a:solidFill>
                  <a:srgbClr val="000000"/>
                </a:solidFill>
                <a:latin typeface="Arial"/>
              </a:rPr>
              <a:t>), </a:t>
            </a:r>
            <a:r>
              <a:rPr lang="en-US" dirty="0" err="1">
                <a:solidFill>
                  <a:srgbClr val="000000"/>
                </a:solidFill>
                <a:latin typeface="Arial"/>
              </a:rPr>
              <a:t>K.Granulamatis</a:t>
            </a:r>
            <a:r>
              <a:rPr lang="en-US" dirty="0">
                <a:solidFill>
                  <a:srgbClr val="000000"/>
                </a:solidFill>
                <a:latin typeface="Arial"/>
              </a:rPr>
              <a:t> (</a:t>
            </a:r>
            <a:r>
              <a:rPr lang="en-US" dirty="0" err="1">
                <a:solidFill>
                  <a:srgbClr val="000000"/>
                </a:solidFill>
                <a:latin typeface="Arial"/>
              </a:rPr>
              <a:t>Granuloma</a:t>
            </a:r>
            <a:r>
              <a:rPr lang="en-US" dirty="0">
                <a:solidFill>
                  <a:srgbClr val="000000"/>
                </a:solidFill>
                <a:latin typeface="Arial"/>
              </a:rPr>
              <a:t> </a:t>
            </a:r>
            <a:r>
              <a:rPr lang="en-US" dirty="0" err="1">
                <a:solidFill>
                  <a:srgbClr val="000000"/>
                </a:solidFill>
                <a:latin typeface="Arial"/>
              </a:rPr>
              <a:t>inguinale</a:t>
            </a:r>
            <a:r>
              <a:rPr lang="en-US" dirty="0">
                <a:solidFill>
                  <a:srgbClr val="000000"/>
                </a:solidFill>
                <a:latin typeface="Arial"/>
              </a:rPr>
              <a:t>), Chlamydia </a:t>
            </a:r>
            <a:r>
              <a:rPr lang="en-US" dirty="0" err="1">
                <a:solidFill>
                  <a:srgbClr val="000000"/>
                </a:solidFill>
                <a:latin typeface="Arial"/>
              </a:rPr>
              <a:t>trachomatis</a:t>
            </a:r>
            <a:r>
              <a:rPr lang="en-US" dirty="0">
                <a:solidFill>
                  <a:srgbClr val="000000"/>
                </a:solidFill>
                <a:latin typeface="Arial"/>
              </a:rPr>
              <a:t> (</a:t>
            </a:r>
            <a:r>
              <a:rPr lang="en-US" dirty="0" err="1">
                <a:solidFill>
                  <a:srgbClr val="000000"/>
                </a:solidFill>
                <a:latin typeface="Arial"/>
              </a:rPr>
              <a:t>Lymphogranuloma</a:t>
            </a:r>
            <a:r>
              <a:rPr lang="en-US" dirty="0">
                <a:solidFill>
                  <a:srgbClr val="000000"/>
                </a:solidFill>
                <a:latin typeface="Arial"/>
              </a:rPr>
              <a:t> </a:t>
            </a:r>
            <a:r>
              <a:rPr lang="en-US" dirty="0" err="1">
                <a:solidFill>
                  <a:srgbClr val="000000"/>
                </a:solidFill>
                <a:latin typeface="Arial"/>
              </a:rPr>
              <a:t>venerum</a:t>
            </a:r>
            <a:r>
              <a:rPr lang="en-US" dirty="0">
                <a:solidFill>
                  <a:srgbClr val="000000"/>
                </a:solidFill>
                <a:latin typeface="Arial"/>
              </a:rPr>
              <a:t>). </a:t>
            </a:r>
            <a:endParaRPr lang="en-GB" sz="1100" dirty="0">
              <a:latin typeface="Calibri"/>
              <a:ea typeface="Calibri"/>
              <a:cs typeface="Times New Roman"/>
            </a:endParaRPr>
          </a:p>
          <a:p>
            <a:pPr marL="342900" indent="-342900">
              <a:lnSpc>
                <a:spcPct val="110000"/>
              </a:lnSpc>
              <a:spcAft>
                <a:spcPts val="0"/>
              </a:spcAft>
              <a:buFont typeface="Times New Roman"/>
              <a:buChar char="•"/>
              <a:defRPr/>
            </a:pPr>
            <a:r>
              <a:rPr lang="en-US" dirty="0">
                <a:solidFill>
                  <a:srgbClr val="000000"/>
                </a:solidFill>
                <a:latin typeface="Arial"/>
              </a:rPr>
              <a:t>An assessment of the risk status will help in making a diagnosis.</a:t>
            </a:r>
            <a:endParaRPr lang="en-GB" sz="1100" dirty="0">
              <a:latin typeface="Calibri"/>
              <a:ea typeface="Calibri"/>
              <a:cs typeface="Times New Roman"/>
            </a:endParaRPr>
          </a:p>
          <a:p>
            <a:pPr marL="342900" indent="-342900">
              <a:lnSpc>
                <a:spcPct val="110000"/>
              </a:lnSpc>
              <a:spcAft>
                <a:spcPts val="0"/>
              </a:spcAft>
              <a:buFont typeface="Times New Roman"/>
              <a:buChar char="•"/>
              <a:defRPr/>
            </a:pPr>
            <a:r>
              <a:rPr lang="en-US" dirty="0">
                <a:solidFill>
                  <a:srgbClr val="000000"/>
                </a:solidFill>
                <a:latin typeface="Arial"/>
              </a:rPr>
              <a:t>Syphilitic chancre is usually a single painless ulcer with induration though atypical presentations are common in HIV. Multiple chancres may be present. Onset of lesion is after a sexual exposure.</a:t>
            </a:r>
            <a:endParaRPr lang="en-GB" sz="1100" dirty="0">
              <a:latin typeface="Calibri"/>
              <a:ea typeface="Calibri"/>
              <a:cs typeface="Times New Roman"/>
            </a:endParaRPr>
          </a:p>
          <a:p>
            <a:pPr marL="342900" indent="-342900">
              <a:lnSpc>
                <a:spcPct val="110000"/>
              </a:lnSpc>
              <a:spcAft>
                <a:spcPts val="0"/>
              </a:spcAft>
              <a:buFont typeface="Times New Roman"/>
              <a:buChar char="•"/>
              <a:defRPr/>
            </a:pPr>
            <a:r>
              <a:rPr lang="en-US" dirty="0">
                <a:solidFill>
                  <a:srgbClr val="000000"/>
                </a:solidFill>
                <a:latin typeface="Arial"/>
              </a:rPr>
              <a:t>If there is no suspicion of herpes, then the treatment should cover for syphilis and </a:t>
            </a:r>
            <a:r>
              <a:rPr lang="en-US" dirty="0" err="1">
                <a:solidFill>
                  <a:srgbClr val="000000"/>
                </a:solidFill>
                <a:latin typeface="Arial"/>
              </a:rPr>
              <a:t>chancroid</a:t>
            </a:r>
            <a:r>
              <a:rPr lang="en-US" dirty="0">
                <a:solidFill>
                  <a:srgbClr val="000000"/>
                </a:solidFill>
                <a:latin typeface="Arial"/>
              </a:rPr>
              <a:t>. </a:t>
            </a:r>
            <a:endParaRPr lang="en-GB" sz="1100" dirty="0">
              <a:latin typeface="Calibri"/>
              <a:ea typeface="Calibri"/>
              <a:cs typeface="Times New Roman"/>
            </a:endParaRPr>
          </a:p>
          <a:p>
            <a:pPr marL="342900" indent="-342900">
              <a:lnSpc>
                <a:spcPct val="110000"/>
              </a:lnSpc>
              <a:spcAft>
                <a:spcPts val="0"/>
              </a:spcAft>
              <a:buFont typeface="Times New Roman"/>
              <a:buChar char="•"/>
              <a:defRPr/>
            </a:pPr>
            <a:r>
              <a:rPr lang="en-US" dirty="0">
                <a:solidFill>
                  <a:srgbClr val="000000"/>
                </a:solidFill>
                <a:latin typeface="Arial"/>
              </a:rPr>
              <a:t>On review after a week, if the lesion persists, the patient should be referred. </a:t>
            </a:r>
            <a:endParaRPr lang="en-GB" sz="1100" dirty="0">
              <a:latin typeface="Calibri"/>
              <a:ea typeface="Calibri"/>
              <a:cs typeface="Times New Roman"/>
            </a:endParaRPr>
          </a:p>
          <a:p>
            <a:pPr marL="342900" indent="-342900">
              <a:lnSpc>
                <a:spcPct val="110000"/>
              </a:lnSpc>
              <a:spcAft>
                <a:spcPts val="0"/>
              </a:spcAft>
              <a:buFont typeface="Times New Roman"/>
              <a:buChar char="•"/>
              <a:defRPr/>
            </a:pPr>
            <a:r>
              <a:rPr lang="en-US" dirty="0">
                <a:solidFill>
                  <a:srgbClr val="000000"/>
                </a:solidFill>
                <a:latin typeface="Arial"/>
              </a:rPr>
              <a:t>Herpetic ulcers are usually painful and multiple. The lesions as small vesicles and which break down to form erosions or ulcers.</a:t>
            </a:r>
            <a:r>
              <a:rPr lang="en-US" sz="900" dirty="0">
                <a:latin typeface="Calibri"/>
                <a:ea typeface="Calibri"/>
                <a:cs typeface="Times New Roman"/>
              </a:rPr>
              <a:t> </a:t>
            </a:r>
            <a:endParaRPr lang="en-GB" sz="1100" dirty="0">
              <a:latin typeface="Calibri"/>
              <a:ea typeface="Calibri"/>
              <a:cs typeface="Times New Roman"/>
            </a:endParaRPr>
          </a:p>
        </p:txBody>
      </p:sp>
      <p:sp>
        <p:nvSpPr>
          <p:cNvPr id="55300" name="Slide Number Placeholder 3">
            <a:extLst>
              <a:ext uri="{FF2B5EF4-FFF2-40B4-BE49-F238E27FC236}">
                <a16:creationId xmlns:a16="http://schemas.microsoft.com/office/drawing/2014/main" id="{63F7CF43-C67C-39E5-0943-0A230C06D3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EAC6BBFE-88DD-43D6-949A-1F1E61ABDB42}" type="slidenum">
              <a:rPr lang="en-US" altLang="en-US"/>
              <a:pPr>
                <a:spcBef>
                  <a:spcPct val="0"/>
                </a:spcBef>
              </a:pPr>
              <a:t>29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A9690291-EEFD-10DA-DC56-98C2D205DCE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F2B03631-7F35-4E8D-BCE2-C5AF4943DB6A}"/>
              </a:ext>
            </a:extLst>
          </p:cNvPr>
          <p:cNvSpPr>
            <a:spLocks noGrp="1"/>
          </p:cNvSpPr>
          <p:nvPr>
            <p:ph type="body" idx="1"/>
          </p:nvPr>
        </p:nvSpPr>
        <p:spPr/>
        <p:txBody>
          <a:bodyPr>
            <a:noAutofit/>
          </a:bodyPr>
          <a:lstStyle/>
          <a:p>
            <a:pPr>
              <a:spcAft>
                <a:spcPts val="0"/>
              </a:spcAft>
              <a:defRPr/>
            </a:pPr>
            <a:r>
              <a:rPr lang="en-US" b="1" u="sng" dirty="0">
                <a:latin typeface="Arial" pitchFamily="34" charset="0"/>
                <a:ea typeface="Times New Roman"/>
                <a:cs typeface="Arial" pitchFamily="34" charset="0"/>
              </a:rPr>
              <a:t>Trainer Notes:</a:t>
            </a:r>
            <a:r>
              <a:rPr lang="en-US"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spcAft>
                <a:spcPts val="0"/>
              </a:spcAft>
              <a:defRPr/>
            </a:pPr>
            <a:endParaRPr lang="en-US" dirty="0"/>
          </a:p>
          <a:p>
            <a:pPr marL="342900" indent="-342900">
              <a:spcAft>
                <a:spcPts val="0"/>
              </a:spcAft>
              <a:buFont typeface="Wingdings"/>
              <a:buChar char=""/>
              <a:tabLst>
                <a:tab pos="228600" algn="l"/>
              </a:tabLst>
              <a:defRPr/>
            </a:pPr>
            <a:r>
              <a:rPr lang="en-US" b="1" dirty="0">
                <a:latin typeface="Arial" pitchFamily="34" charset="0"/>
                <a:ea typeface="Times New Roman"/>
                <a:cs typeface="Arial" pitchFamily="34" charset="0"/>
              </a:rPr>
              <a:t>Ask the participants “ How to differentiate syphilitic ulcer and a herpetic ulcer”</a:t>
            </a:r>
            <a:endParaRPr lang="en-GB" dirty="0">
              <a:latin typeface="Arial" pitchFamily="34" charset="0"/>
              <a:ea typeface="Times New Roman"/>
              <a:cs typeface="Arial" pitchFamily="34" charset="0"/>
            </a:endParaRPr>
          </a:p>
          <a:p>
            <a:pPr>
              <a:spcAft>
                <a:spcPts val="0"/>
              </a:spcAft>
              <a:defRPr/>
            </a:pPr>
            <a:r>
              <a:rPr lang="en-US" b="1" dirty="0">
                <a:latin typeface="Arial" pitchFamily="34" charset="0"/>
                <a:ea typeface="Times New Roman"/>
                <a:cs typeface="Arial" pitchFamily="34" charset="0"/>
              </a:rPr>
              <a:t>Answer:  </a:t>
            </a:r>
            <a:endParaRPr lang="en-GB" dirty="0">
              <a:latin typeface="Arial" pitchFamily="34" charset="0"/>
              <a:ea typeface="Times New Roman"/>
              <a:cs typeface="Arial" pitchFamily="34" charset="0"/>
            </a:endParaRPr>
          </a:p>
          <a:p>
            <a:pPr marL="285750" indent="-285750">
              <a:spcAft>
                <a:spcPts val="0"/>
              </a:spcAft>
              <a:buFont typeface="Times New Roman"/>
              <a:buChar char="•"/>
              <a:tabLst>
                <a:tab pos="685800" algn="l"/>
              </a:tabLst>
              <a:defRPr/>
            </a:pPr>
            <a:r>
              <a:rPr lang="en-US" dirty="0">
                <a:latin typeface="Arial" pitchFamily="34" charset="0"/>
                <a:ea typeface="Times New Roman"/>
                <a:cs typeface="Arial" pitchFamily="34" charset="0"/>
              </a:rPr>
              <a:t>Syphilitic chancre is usually a single painless ulcer with induration though atypical presentations are common in HIV. Multiple chancres may be present. Onset of lesion is after a sexual exposure.</a:t>
            </a:r>
          </a:p>
          <a:p>
            <a:pPr marL="285750" indent="-285750">
              <a:spcAft>
                <a:spcPts val="0"/>
              </a:spcAft>
              <a:buFont typeface="Times New Roman"/>
              <a:buChar char="•"/>
              <a:tabLst>
                <a:tab pos="685800" algn="l"/>
              </a:tabLst>
              <a:defRPr/>
            </a:pPr>
            <a:r>
              <a:rPr lang="en-US" dirty="0">
                <a:latin typeface="Arial" pitchFamily="34" charset="0"/>
                <a:ea typeface="Times New Roman"/>
                <a:cs typeface="Arial" pitchFamily="34" charset="0"/>
              </a:rPr>
              <a:t>Herpetic ulcers are usually painful and multiple. The lesions as small vesicles and which break down to form erosions or ulcers.</a:t>
            </a:r>
          </a:p>
          <a:p>
            <a:pPr marL="285750" indent="-285750">
              <a:spcAft>
                <a:spcPts val="0"/>
              </a:spcAft>
              <a:buFont typeface="Times New Roman"/>
              <a:buChar char="•"/>
              <a:tabLst>
                <a:tab pos="685800" algn="l"/>
              </a:tabLst>
              <a:defRPr/>
            </a:pPr>
            <a:r>
              <a:rPr lang="en-US" dirty="0">
                <a:latin typeface="Arial" pitchFamily="34" charset="0"/>
                <a:ea typeface="Times New Roman"/>
                <a:cs typeface="Arial" pitchFamily="34" charset="0"/>
              </a:rPr>
              <a:t>In a patient presenting with a genital ulcer, after confirming that the patient has an ulcer, evidence of vesicles either now, or in the past, should be sought for. </a:t>
            </a:r>
            <a:endParaRPr lang="en-GB" dirty="0">
              <a:latin typeface="Arial" pitchFamily="34" charset="0"/>
              <a:ea typeface="Times New Roman"/>
              <a:cs typeface="Arial" pitchFamily="34" charset="0"/>
            </a:endParaRPr>
          </a:p>
          <a:p>
            <a:pPr marL="285750" indent="-285750">
              <a:spcAft>
                <a:spcPts val="0"/>
              </a:spcAft>
              <a:buFont typeface="Times New Roman"/>
              <a:buChar char="•"/>
              <a:tabLst>
                <a:tab pos="685800" algn="l"/>
              </a:tabLst>
              <a:defRPr/>
            </a:pPr>
            <a:r>
              <a:rPr lang="en-US" dirty="0">
                <a:latin typeface="Arial" pitchFamily="34" charset="0"/>
                <a:ea typeface="Times New Roman"/>
                <a:cs typeface="Arial" pitchFamily="34" charset="0"/>
              </a:rPr>
              <a:t>If vesicles are noted, then the patient should be treated for herpes, with Acyclovir 400 mg 3 times a day for a week. </a:t>
            </a:r>
            <a:endParaRPr lang="en-GB" dirty="0">
              <a:latin typeface="Arial" pitchFamily="34" charset="0"/>
              <a:ea typeface="Times New Roman"/>
              <a:cs typeface="Arial" pitchFamily="34" charset="0"/>
            </a:endParaRPr>
          </a:p>
          <a:p>
            <a:pPr marL="285750" indent="-285750">
              <a:spcAft>
                <a:spcPts val="0"/>
              </a:spcAft>
              <a:buFont typeface="Times New Roman"/>
              <a:buChar char="•"/>
              <a:tabLst>
                <a:tab pos="685800" algn="l"/>
              </a:tabLst>
              <a:defRPr/>
            </a:pPr>
            <a:r>
              <a:rPr lang="en-US" dirty="0">
                <a:latin typeface="Arial" pitchFamily="34" charset="0"/>
                <a:ea typeface="Times New Roman"/>
                <a:cs typeface="Arial" pitchFamily="34" charset="0"/>
              </a:rPr>
              <a:t>Partner treatment should be given to those with genital ulcers other than herpes. </a:t>
            </a:r>
            <a:endParaRPr lang="en-GB" dirty="0">
              <a:latin typeface="Arial" pitchFamily="34" charset="0"/>
              <a:ea typeface="Times New Roman"/>
              <a:cs typeface="Arial" pitchFamily="34" charset="0"/>
            </a:endParaRPr>
          </a:p>
          <a:p>
            <a:pPr marL="285750" indent="-285750">
              <a:spcAft>
                <a:spcPts val="0"/>
              </a:spcAft>
              <a:buFont typeface="Times New Roman"/>
              <a:buChar char="•"/>
              <a:tabLst>
                <a:tab pos="685800" algn="l"/>
              </a:tabLst>
              <a:defRPr/>
            </a:pPr>
            <a:r>
              <a:rPr lang="en-US" dirty="0">
                <a:latin typeface="Arial" pitchFamily="34" charset="0"/>
                <a:ea typeface="Times New Roman"/>
                <a:cs typeface="Arial" pitchFamily="34" charset="0"/>
              </a:rPr>
              <a:t>The partners of those with herpes should be examined and treated only if symptomatic.</a:t>
            </a:r>
            <a:r>
              <a:rPr lang="en-US" b="1"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spcAft>
                <a:spcPts val="0"/>
              </a:spcAft>
              <a:defRPr/>
            </a:pPr>
            <a:r>
              <a:rPr lang="en-US" dirty="0">
                <a:latin typeface="Arial" pitchFamily="34" charset="0"/>
                <a:ea typeface="Times New Roman"/>
                <a:cs typeface="Arial" pitchFamily="34" charset="0"/>
              </a:rPr>
              <a:t> </a:t>
            </a:r>
            <a:endParaRPr lang="en-GB" dirty="0">
              <a:latin typeface="Arial" pitchFamily="34" charset="0"/>
              <a:ea typeface="Times New Roman"/>
              <a:cs typeface="Arial" pitchFamily="34" charset="0"/>
            </a:endParaRPr>
          </a:p>
          <a:p>
            <a:pPr>
              <a:spcAft>
                <a:spcPts val="0"/>
              </a:spcAft>
              <a:defRPr/>
            </a:pPr>
            <a:endParaRPr lang="en-GB" dirty="0"/>
          </a:p>
          <a:p>
            <a:pPr>
              <a:spcAft>
                <a:spcPts val="0"/>
              </a:spcAft>
              <a:defRPr/>
            </a:pPr>
            <a:endParaRPr lang="en-GB" dirty="0"/>
          </a:p>
        </p:txBody>
      </p:sp>
      <p:sp>
        <p:nvSpPr>
          <p:cNvPr id="57348" name="Slide Number Placeholder 3">
            <a:extLst>
              <a:ext uri="{FF2B5EF4-FFF2-40B4-BE49-F238E27FC236}">
                <a16:creationId xmlns:a16="http://schemas.microsoft.com/office/drawing/2014/main" id="{3138AA71-AD2B-DF34-8B1D-1F476982CE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6BB752D3-311D-4089-96CF-1FB3E8B45971}" type="slidenum">
              <a:rPr lang="en-US" altLang="en-US"/>
              <a:pPr>
                <a:spcBef>
                  <a:spcPct val="0"/>
                </a:spcBef>
              </a:pPr>
              <a:t>30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EAE99284-4802-8ADF-3E73-5848D30B1032}"/>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F7FB0C27-68A4-4C8B-AC9C-51A482CE7BD6}"/>
              </a:ext>
            </a:extLst>
          </p:cNvPr>
          <p:cNvSpPr>
            <a:spLocks noGrp="1"/>
          </p:cNvSpPr>
          <p:nvPr>
            <p:ph type="body" idx="1"/>
          </p:nvPr>
        </p:nvSpPr>
        <p:spPr/>
        <p:txBody>
          <a:bodyPr>
            <a:normAutofit/>
          </a:bodyPr>
          <a:lstStyle/>
          <a:p>
            <a:pPr>
              <a:spcAft>
                <a:spcPts val="0"/>
              </a:spcAft>
              <a:defRPr/>
            </a:pPr>
            <a:r>
              <a:rPr lang="en-US" b="1" u="sng" dirty="0">
                <a:latin typeface="Arial" pitchFamily="34" charset="0"/>
                <a:ea typeface="Times New Roman"/>
                <a:cs typeface="Arial" pitchFamily="34" charset="0"/>
              </a:rPr>
              <a:t>Trainer Notes:</a:t>
            </a:r>
            <a:endParaRPr lang="en-GB" dirty="0">
              <a:latin typeface="Arial" pitchFamily="34" charset="0"/>
              <a:ea typeface="Times New Roman"/>
              <a:cs typeface="Arial" pitchFamily="34" charset="0"/>
            </a:endParaRPr>
          </a:p>
          <a:p>
            <a:pPr>
              <a:spcAft>
                <a:spcPts val="0"/>
              </a:spcAft>
              <a:defRPr/>
            </a:pPr>
            <a:r>
              <a:rPr lang="en-GB" dirty="0">
                <a:latin typeface="Arial" pitchFamily="34" charset="0"/>
                <a:ea typeface="Times New Roman"/>
                <a:cs typeface="Arial" pitchFamily="34" charset="0"/>
              </a:rPr>
              <a:t> </a:t>
            </a:r>
          </a:p>
          <a:p>
            <a:pPr marL="342900" indent="-342900">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Discuss the common causes of lower abdominal pain in women and present the syndromic management approach.</a:t>
            </a:r>
          </a:p>
          <a:p>
            <a:pPr>
              <a:defRPr/>
            </a:pPr>
            <a:endParaRPr lang="en-GB" dirty="0"/>
          </a:p>
        </p:txBody>
      </p:sp>
      <p:sp>
        <p:nvSpPr>
          <p:cNvPr id="59396" name="Slide Number Placeholder 3">
            <a:extLst>
              <a:ext uri="{FF2B5EF4-FFF2-40B4-BE49-F238E27FC236}">
                <a16:creationId xmlns:a16="http://schemas.microsoft.com/office/drawing/2014/main" id="{424B713A-0D2F-2698-542F-0011F96F2B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C4730720-0C2D-4D1A-B9C0-B7BBDCA58363}" type="slidenum">
              <a:rPr lang="en-US" altLang="en-US"/>
              <a:pPr>
                <a:spcBef>
                  <a:spcPct val="0"/>
                </a:spcBef>
              </a:pPr>
              <a:t>31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5F648972-E0E2-E8AC-9E0B-91CCE1749416}"/>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284A2D6A-FF0C-423D-9B0B-BB703F221929}"/>
              </a:ext>
            </a:extLst>
          </p:cNvPr>
          <p:cNvSpPr>
            <a:spLocks noGrp="1"/>
          </p:cNvSpPr>
          <p:nvPr>
            <p:ph type="body" idx="1"/>
          </p:nvPr>
        </p:nvSpPr>
        <p:spPr/>
        <p:txBody>
          <a:bodyPr>
            <a:normAutofit/>
          </a:bodyPr>
          <a:lstStyle/>
          <a:p>
            <a:pPr>
              <a:spcBef>
                <a:spcPts val="360"/>
              </a:spcBef>
              <a:spcAft>
                <a:spcPts val="0"/>
              </a:spcAft>
              <a:defRPr/>
            </a:pPr>
            <a:r>
              <a:rPr lang="en-US" b="1" u="sng" dirty="0">
                <a:latin typeface="Arial" pitchFamily="34" charset="0"/>
                <a:ea typeface="Times New Roman"/>
                <a:cs typeface="Arial" pitchFamily="34" charset="0"/>
              </a:rPr>
              <a:t>Trainer Notes:</a:t>
            </a:r>
            <a:endParaRPr lang="en-GB" dirty="0">
              <a:latin typeface="Arial" pitchFamily="34" charset="0"/>
              <a:ea typeface="Times New Roman"/>
              <a:cs typeface="Arial" pitchFamily="34" charset="0"/>
            </a:endParaRPr>
          </a:p>
          <a:p>
            <a:pPr>
              <a:spcBef>
                <a:spcPts val="360"/>
              </a:spcBef>
              <a:spcAft>
                <a:spcPts val="0"/>
              </a:spcAft>
              <a:defRPr/>
            </a:pPr>
            <a:r>
              <a:rPr lang="en-GB" dirty="0">
                <a:latin typeface="Arial" pitchFamily="34" charset="0"/>
                <a:ea typeface="Times New Roman"/>
                <a:cs typeface="Arial" pitchFamily="34" charset="0"/>
              </a:rPr>
              <a:t> </a:t>
            </a:r>
          </a:p>
          <a:p>
            <a:pPr marL="342900" indent="-342900">
              <a:spcBef>
                <a:spcPts val="0"/>
              </a:spcBef>
              <a:spcAft>
                <a:spcPts val="0"/>
              </a:spcAft>
              <a:buFont typeface="Times New Roman"/>
              <a:buChar char="•"/>
              <a:tabLst>
                <a:tab pos="228600" algn="l"/>
                <a:tab pos="457200" algn="l"/>
              </a:tabLst>
              <a:defRPr/>
            </a:pPr>
            <a:r>
              <a:rPr lang="en-US" dirty="0">
                <a:latin typeface="Arial" pitchFamily="34" charset="0"/>
                <a:ea typeface="Times New Roman"/>
                <a:cs typeface="Arial" pitchFamily="34" charset="0"/>
              </a:rPr>
              <a:t>Discuss the common causes of Inguinal Bubo and present the syndromic management approach.</a:t>
            </a:r>
          </a:p>
        </p:txBody>
      </p:sp>
      <p:sp>
        <p:nvSpPr>
          <p:cNvPr id="61444" name="Slide Number Placeholder 3">
            <a:extLst>
              <a:ext uri="{FF2B5EF4-FFF2-40B4-BE49-F238E27FC236}">
                <a16:creationId xmlns:a16="http://schemas.microsoft.com/office/drawing/2014/main" id="{6890191F-D432-4BEB-2B40-E3D0228FA7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buChar char="•"/>
              <a:defRPr sz="1200">
                <a:solidFill>
                  <a:schemeClr val="tx1"/>
                </a:solidFill>
                <a:latin typeface="Arial" panose="020B0604020202020204" pitchFamily="34" charset="0"/>
              </a:defRPr>
            </a:lvl2pPr>
            <a:lvl3pPr marL="1143000" indent="-228600">
              <a:spcBef>
                <a:spcPct val="30000"/>
              </a:spcBef>
              <a:buChar char="•"/>
              <a:defRPr sz="1200">
                <a:solidFill>
                  <a:schemeClr val="tx1"/>
                </a:solidFill>
                <a:latin typeface="Arial" panose="020B0604020202020204" pitchFamily="34" charset="0"/>
              </a:defRPr>
            </a:lvl3pPr>
            <a:lvl4pPr marL="1600200" indent="-228600">
              <a:spcBef>
                <a:spcPct val="30000"/>
              </a:spcBef>
              <a:buChar char="•"/>
              <a:defRPr sz="1200">
                <a:solidFill>
                  <a:schemeClr val="tx1"/>
                </a:solidFill>
                <a:latin typeface="Arial" panose="020B0604020202020204" pitchFamily="34" charset="0"/>
              </a:defRPr>
            </a:lvl4pPr>
            <a:lvl5pPr marL="2057400" indent="-228600">
              <a:spcBef>
                <a:spcPct val="30000"/>
              </a:spcBef>
              <a:buChar char="•"/>
              <a:defRPr sz="1200">
                <a:solidFill>
                  <a:schemeClr val="tx1"/>
                </a:solidFill>
                <a:latin typeface="Arial" panose="020B0604020202020204" pitchFamily="34" charset="0"/>
              </a:defRPr>
            </a:lvl5pPr>
            <a:lvl6pPr marL="2514600" indent="-228600" eaLnBrk="0" fontAlgn="base" hangingPunct="0">
              <a:spcBef>
                <a:spcPct val="3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3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3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30000"/>
              </a:spcBef>
              <a:spcAft>
                <a:spcPct val="0"/>
              </a:spcAft>
              <a:buChar char="•"/>
              <a:defRPr sz="1200">
                <a:solidFill>
                  <a:schemeClr val="tx1"/>
                </a:solidFill>
                <a:latin typeface="Arial" panose="020B0604020202020204" pitchFamily="34" charset="0"/>
              </a:defRPr>
            </a:lvl9pPr>
          </a:lstStyle>
          <a:p>
            <a:pPr>
              <a:spcBef>
                <a:spcPct val="0"/>
              </a:spcBef>
            </a:pPr>
            <a:fld id="{C3B37411-1130-40A1-A987-B035A031F96B}" type="slidenum">
              <a:rPr lang="en-US" altLang="en-US"/>
              <a:pPr>
                <a:spcBef>
                  <a:spcPct val="0"/>
                </a:spcBef>
              </a:pPr>
              <a:t>32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2A921-7467-79DC-44DB-9ABD359B32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3BEA04-C468-7A89-89FB-9F67092671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229E84-EE9C-970A-8623-D31E152AEEC0}"/>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5" name="Footer Placeholder 4">
            <a:extLst>
              <a:ext uri="{FF2B5EF4-FFF2-40B4-BE49-F238E27FC236}">
                <a16:creationId xmlns:a16="http://schemas.microsoft.com/office/drawing/2014/main" id="{FBB87F17-E9C0-A255-576E-096D3B5E7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3CFD8-5F02-92C8-967E-4B1F1156CBC3}"/>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3329474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C7CF-ABE1-1788-2F8A-308F87C8DD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8ACC6-96C6-A296-98EC-86560301D5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5EE9F5-5479-99D3-CCA4-F18A4BE80DCA}"/>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5" name="Footer Placeholder 4">
            <a:extLst>
              <a:ext uri="{FF2B5EF4-FFF2-40B4-BE49-F238E27FC236}">
                <a16:creationId xmlns:a16="http://schemas.microsoft.com/office/drawing/2014/main" id="{FC9BB25E-DD70-3073-9F3D-3DAFC7037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15C731-752A-5655-5604-99377F5FE5D9}"/>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402814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256E6-6704-C4EC-6C9F-1326D70D9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1929C1-723E-DC3C-9C58-5D1E8F1EA7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BAF80E-9016-3E59-CB12-FEFCA45B4F60}"/>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5" name="Footer Placeholder 4">
            <a:extLst>
              <a:ext uri="{FF2B5EF4-FFF2-40B4-BE49-F238E27FC236}">
                <a16:creationId xmlns:a16="http://schemas.microsoft.com/office/drawing/2014/main" id="{AEA97643-EE1F-B0D1-B71F-61A45F730A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FD17C-08E1-9037-E814-21B4C07CD572}"/>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3257633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3DD15-A33C-0D33-C97E-9AD8D87C44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5CE87A-3BF9-CAA5-549C-4212B44865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8B8155-3D4B-6D78-E8BE-5BA47B1A2A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0D434F-79A0-8EA0-BC9F-F136FB3C0C9A}"/>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6" name="Footer Placeholder 5">
            <a:extLst>
              <a:ext uri="{FF2B5EF4-FFF2-40B4-BE49-F238E27FC236}">
                <a16:creationId xmlns:a16="http://schemas.microsoft.com/office/drawing/2014/main" id="{46925940-1F57-431D-A413-6995F39119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939622-F4D6-46AC-51F2-E2E71D481FB4}"/>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744198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E60B-3018-9BF4-13AB-FB6CC0AB57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64F145-BD97-1084-153C-67205B26A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2CBF60-1707-E0BC-8080-34C2997859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AB014F-631F-CB6D-8542-6F600ACD02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CC6A02-8081-9DB3-903A-67F17B7F32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7A6FDB-7E03-162A-4B87-3B956627A49B}"/>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8" name="Footer Placeholder 7">
            <a:extLst>
              <a:ext uri="{FF2B5EF4-FFF2-40B4-BE49-F238E27FC236}">
                <a16:creationId xmlns:a16="http://schemas.microsoft.com/office/drawing/2014/main" id="{F8E75D10-9DE5-4AB1-A175-0531E19BEE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1EE8E3-4E65-826C-E06E-9371922F9268}"/>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1000567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3F10F-9AAD-EC88-A027-F7CAE2799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3BE8D9-727D-62D0-3733-B7E7CEF057A3}"/>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4" name="Footer Placeholder 3">
            <a:extLst>
              <a:ext uri="{FF2B5EF4-FFF2-40B4-BE49-F238E27FC236}">
                <a16:creationId xmlns:a16="http://schemas.microsoft.com/office/drawing/2014/main" id="{DEA1EA55-AD29-0D8E-0140-75E28A65AC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43B43-56E2-44AD-6A2B-71FF70ECDCFA}"/>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3478209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170D5E-0DBB-3C0A-91C9-DA2891F6B550}"/>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3" name="Footer Placeholder 2">
            <a:extLst>
              <a:ext uri="{FF2B5EF4-FFF2-40B4-BE49-F238E27FC236}">
                <a16:creationId xmlns:a16="http://schemas.microsoft.com/office/drawing/2014/main" id="{A46935A2-D637-98D3-C881-E4921D8BB0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5B64D9-4778-44AD-42C9-D6FD52E1CF16}"/>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257873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6261B-C61D-B182-13AC-46C9362E5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2DC128-23C0-DDA4-8E11-BE742B9AA8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B8C479-21A1-4295-CB57-FCAD90BF0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191092-7159-5AE5-B425-089FB2A7C2F9}"/>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6" name="Footer Placeholder 5">
            <a:extLst>
              <a:ext uri="{FF2B5EF4-FFF2-40B4-BE49-F238E27FC236}">
                <a16:creationId xmlns:a16="http://schemas.microsoft.com/office/drawing/2014/main" id="{394BB57B-C270-E55F-39C2-E68A93E1ED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D474A7-FE81-58CD-0D81-AE13030C662B}"/>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3453110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C1F6B-7829-843A-4F83-32C280CE1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EF62E9-96A1-050E-5D4C-6F39BD045F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021216-8C0D-92E6-7D13-9AB9FB8C8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46F93-71C6-D255-8426-78C8F34F702A}"/>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6" name="Footer Placeholder 5">
            <a:extLst>
              <a:ext uri="{FF2B5EF4-FFF2-40B4-BE49-F238E27FC236}">
                <a16:creationId xmlns:a16="http://schemas.microsoft.com/office/drawing/2014/main" id="{5670334C-B389-02B4-9945-AA74A3F714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9CA3ED-12FB-CCC1-6B08-95B087421B01}"/>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3658300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89D7-60CE-C0B2-56EE-4C23467BFC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BE0BA6-3FF7-4B01-A234-15E8D167D1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989CAF-B839-11D1-60B2-527B2B6C6F3A}"/>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5" name="Footer Placeholder 4">
            <a:extLst>
              <a:ext uri="{FF2B5EF4-FFF2-40B4-BE49-F238E27FC236}">
                <a16:creationId xmlns:a16="http://schemas.microsoft.com/office/drawing/2014/main" id="{6D58ACA3-C4C6-D496-A419-A896DF778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F02F0-D6E2-97EC-57C9-324C068FB652}"/>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3088932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D35966-FE48-25F7-24D3-0EF1338473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B978AC-5C5B-0BC2-532F-73CB99C7AD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E5071-E60B-D0EA-E905-69313E33F585}"/>
              </a:ext>
            </a:extLst>
          </p:cNvPr>
          <p:cNvSpPr>
            <a:spLocks noGrp="1"/>
          </p:cNvSpPr>
          <p:nvPr>
            <p:ph type="dt" sz="half" idx="10"/>
          </p:nvPr>
        </p:nvSpPr>
        <p:spPr/>
        <p:txBody>
          <a:bodyPr/>
          <a:lstStyle/>
          <a:p>
            <a:fld id="{49525CF9-0D03-44EA-95FA-F14024EF6DD9}" type="datetimeFigureOut">
              <a:rPr lang="en-US" smtClean="0"/>
              <a:t>8/25/2026</a:t>
            </a:fld>
            <a:endParaRPr lang="en-US"/>
          </a:p>
        </p:txBody>
      </p:sp>
      <p:sp>
        <p:nvSpPr>
          <p:cNvPr id="5" name="Footer Placeholder 4">
            <a:extLst>
              <a:ext uri="{FF2B5EF4-FFF2-40B4-BE49-F238E27FC236}">
                <a16:creationId xmlns:a16="http://schemas.microsoft.com/office/drawing/2014/main" id="{E8367B37-66B0-EBFF-CCBB-68C289FFB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23A31-FCB8-2DBC-7CD2-4C76A61BFF73}"/>
              </a:ext>
            </a:extLst>
          </p:cNvPr>
          <p:cNvSpPr>
            <a:spLocks noGrp="1"/>
          </p:cNvSpPr>
          <p:nvPr>
            <p:ph type="sldNum" sz="quarter" idx="12"/>
          </p:nvPr>
        </p:nvSpPr>
        <p:spPr/>
        <p:txBody>
          <a:bodyPr/>
          <a:lstStyle/>
          <a:p>
            <a:fld id="{CC2C92CD-24AE-49CF-9EF9-278BECC755E4}" type="slidenum">
              <a:rPr lang="en-US" smtClean="0"/>
              <a:t>‹#›</a:t>
            </a:fld>
            <a:endParaRPr lang="en-US"/>
          </a:p>
        </p:txBody>
      </p:sp>
    </p:spTree>
    <p:extLst>
      <p:ext uri="{BB962C8B-B14F-4D97-AF65-F5344CB8AC3E}">
        <p14:creationId xmlns:p14="http://schemas.microsoft.com/office/powerpoint/2010/main" val="750543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nchor="b"/>
          <a:lstStyle>
            <a:lvl1pPr>
              <a:lnSpc>
                <a:spcPts val="3000"/>
              </a:lnSpc>
              <a:defRPr sz="2800" b="1" baseline="0">
                <a:solidFill>
                  <a:schemeClr val="bg1"/>
                </a:solidFill>
                <a:effectLst/>
              </a:defRPr>
            </a:lvl1pPr>
          </a:lstStyle>
          <a:p>
            <a:r>
              <a:rPr lang="en-US"/>
              <a:t>Click to edit Master title style</a:t>
            </a:r>
            <a:endParaRPr lang="en-US" dirty="0"/>
          </a:p>
        </p:txBody>
      </p:sp>
      <p:sp>
        <p:nvSpPr>
          <p:cNvPr id="3" name="Content Placeholder 2"/>
          <p:cNvSpPr>
            <a:spLocks noGrp="1"/>
          </p:cNvSpPr>
          <p:nvPr>
            <p:ph idx="1"/>
          </p:nvPr>
        </p:nvSpPr>
        <p:spPr>
          <a:xfrm>
            <a:off x="609600" y="1600201"/>
            <a:ext cx="10972800" cy="4191000"/>
          </a:xfrm>
          <a:prstGeom prst="rect">
            <a:avLst/>
          </a:prstGeom>
        </p:spPr>
        <p:txBody>
          <a:bodyPr/>
          <a:lstStyle>
            <a:lvl1pPr>
              <a:buClr>
                <a:schemeClr val="bg1"/>
              </a:buClr>
              <a:buSzPct val="70000"/>
              <a:buFont typeface="Wingdings" pitchFamily="2" charset="2"/>
              <a:buChar char="q"/>
              <a:defRPr sz="2400" b="1" baseline="0">
                <a:solidFill>
                  <a:schemeClr val="bg2"/>
                </a:solidFill>
              </a:defRPr>
            </a:lvl1pPr>
            <a:lvl2pPr>
              <a:buClr>
                <a:schemeClr val="bg1"/>
              </a:buClr>
              <a:buSzPct val="100000"/>
              <a:buFont typeface="Wingdings" pitchFamily="2" charset="2"/>
              <a:buChar char="§"/>
              <a:defRPr sz="2000">
                <a:solidFill>
                  <a:schemeClr val="bg2"/>
                </a:solidFill>
              </a:defRPr>
            </a:lvl2pPr>
            <a:lvl3pPr>
              <a:buClr>
                <a:schemeClr val="bg1"/>
              </a:buClr>
              <a:buSzPct val="100000"/>
              <a:buFont typeface="Arial" pitchFamily="34" charset="0"/>
              <a:buChar char="•"/>
              <a:defRPr sz="1800">
                <a:solidFill>
                  <a:schemeClr val="bg2"/>
                </a:solidFill>
              </a:defRPr>
            </a:lvl3pPr>
            <a:lvl4pPr>
              <a:buClr>
                <a:schemeClr val="bg1"/>
              </a:buClr>
              <a:buSzPct val="70000"/>
              <a:buFont typeface="Courier New" pitchFamily="49" charset="0"/>
              <a:buChar char="o"/>
              <a:defRPr sz="1800" baseline="0">
                <a:solidFill>
                  <a:schemeClr val="bg2"/>
                </a:solidFill>
              </a:defRPr>
            </a:lvl4pPr>
            <a:lvl5pPr>
              <a:buClr>
                <a:schemeClr val="bg1"/>
              </a:buClr>
              <a:buSzPct val="70000"/>
              <a:buFont typeface="Arial" pitchFamily="34" charset="0"/>
              <a:buChar char="•"/>
              <a:defRPr sz="1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8"/>
          <p:cNvSpPr>
            <a:spLocks noGrp="1"/>
          </p:cNvSpPr>
          <p:nvPr>
            <p:ph type="body" sz="quarter" idx="10"/>
          </p:nvPr>
        </p:nvSpPr>
        <p:spPr>
          <a:xfrm>
            <a:off x="609600" y="5791200"/>
            <a:ext cx="10972800" cy="609600"/>
          </a:xfrm>
          <a:prstGeom prst="rect">
            <a:avLst/>
          </a:prstGeom>
        </p:spPr>
        <p:txBody>
          <a:bodyPr anchor="b"/>
          <a:lstStyle>
            <a:lvl1pPr algn="l">
              <a:lnSpc>
                <a:spcPts val="1100"/>
              </a:lnSpc>
              <a:buNone/>
              <a:defRPr sz="1100" baseline="0">
                <a:solidFill>
                  <a:schemeClr val="tx2"/>
                </a:solidFill>
              </a:defRPr>
            </a:lvl1pPr>
            <a:lvl2pPr algn="ctr">
              <a:defRPr>
                <a:solidFill>
                  <a:schemeClr val="tx2"/>
                </a:solidFill>
              </a:defRPr>
            </a:lvl2pPr>
            <a:lvl3pPr algn="ctr">
              <a:defRPr>
                <a:solidFill>
                  <a:schemeClr val="tx2"/>
                </a:solidFill>
              </a:defRPr>
            </a:lvl3pPr>
            <a:lvl4pPr algn="ctr">
              <a:defRPr>
                <a:solidFill>
                  <a:schemeClr val="tx2"/>
                </a:solidFill>
              </a:defRPr>
            </a:lvl4pPr>
            <a:lvl5pPr algn="ctr">
              <a:defRPr>
                <a:solidFill>
                  <a:schemeClr val="tx2"/>
                </a:solidFill>
              </a:defRPr>
            </a:lvl5pPr>
          </a:lstStyle>
          <a:p>
            <a:pPr lvl="0"/>
            <a:r>
              <a:rPr lang="en-US"/>
              <a:t>Click to edit Master text styles</a:t>
            </a:r>
          </a:p>
        </p:txBody>
      </p:sp>
    </p:spTree>
    <p:extLst>
      <p:ext uri="{BB962C8B-B14F-4D97-AF65-F5344CB8AC3E}">
        <p14:creationId xmlns:p14="http://schemas.microsoft.com/office/powerpoint/2010/main" val="1131353252"/>
      </p:ext>
    </p:extLst>
  </p:cSld>
  <p:clrMapOvr>
    <a:masterClrMapping/>
  </p:clrMapOvr>
  <p:transition advClick="0">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0579F6-DA07-3480-2305-CBE9DE0107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009E0E-A86B-1469-07FD-2603EDF509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474A5-3030-C7DA-B6AE-7A18C058F2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25CF9-0D03-44EA-95FA-F14024EF6DD9}" type="datetimeFigureOut">
              <a:rPr lang="en-US" smtClean="0"/>
              <a:t>8/25/2026</a:t>
            </a:fld>
            <a:endParaRPr lang="en-US"/>
          </a:p>
        </p:txBody>
      </p:sp>
      <p:sp>
        <p:nvSpPr>
          <p:cNvPr id="5" name="Footer Placeholder 4">
            <a:extLst>
              <a:ext uri="{FF2B5EF4-FFF2-40B4-BE49-F238E27FC236}">
                <a16:creationId xmlns:a16="http://schemas.microsoft.com/office/drawing/2014/main" id="{AE0212CC-850A-0BD8-7C2B-398F0A967C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3C6EAB-6CC5-23F4-6A8D-292A3D2173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2C92CD-24AE-49CF-9EF9-278BECC755E4}" type="slidenum">
              <a:rPr lang="en-US" smtClean="0"/>
              <a:t>‹#›</a:t>
            </a:fld>
            <a:endParaRPr lang="en-US"/>
          </a:p>
        </p:txBody>
      </p:sp>
    </p:spTree>
    <p:extLst>
      <p:ext uri="{BB962C8B-B14F-4D97-AF65-F5344CB8AC3E}">
        <p14:creationId xmlns:p14="http://schemas.microsoft.com/office/powerpoint/2010/main" val="1021156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7.jpeg"/><Relationship Id="rId7" Type="http://schemas.openxmlformats.org/officeDocument/2006/relationships/diagramLayout" Target="../diagrams/layout1.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9.jpeg"/><Relationship Id="rId10" Type="http://schemas.microsoft.com/office/2007/relationships/diagramDrawing" Target="../diagrams/drawing1.xml"/><Relationship Id="rId4" Type="http://schemas.openxmlformats.org/officeDocument/2006/relationships/image" Target="../media/image8.jpeg"/><Relationship Id="rId9" Type="http://schemas.openxmlformats.org/officeDocument/2006/relationships/diagramColors" Target="../diagrams/colors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5.jpe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9.jpeg"/><Relationship Id="rId4" Type="http://schemas.openxmlformats.org/officeDocument/2006/relationships/image" Target="../media/image18.gif"/></Relationships>
</file>

<file path=ppt/slides/_rels/slide29.xml.rels><?xml version="1.0" encoding="UTF-8" standalone="yes"?>
<Relationships xmlns="http://schemas.openxmlformats.org/package/2006/relationships"><Relationship Id="rId3" Type="http://schemas.openxmlformats.org/officeDocument/2006/relationships/image" Target="../media/image18.gif"/><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jpeg"/></Relationships>
</file>

<file path=ppt/slides/_rels/slide3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63542-3343-954E-AC36-87D0FAD999A8}"/>
              </a:ext>
            </a:extLst>
          </p:cNvPr>
          <p:cNvSpPr>
            <a:spLocks noGrp="1"/>
          </p:cNvSpPr>
          <p:nvPr>
            <p:ph type="ctrTitle"/>
          </p:nvPr>
        </p:nvSpPr>
        <p:spPr>
          <a:xfrm>
            <a:off x="1524000" y="1122362"/>
            <a:ext cx="9144000" cy="2571813"/>
          </a:xfrm>
          <a:solidFill>
            <a:schemeClr val="tx2">
              <a:lumMod val="50000"/>
              <a:lumOff val="50000"/>
            </a:schemeClr>
          </a:solidFill>
        </p:spPr>
        <p:txBody>
          <a:bodyPr>
            <a:normAutofit/>
          </a:bodyPr>
          <a:lstStyle/>
          <a:p>
            <a:r>
              <a:rPr lang="en-US" dirty="0">
                <a:ea typeface="Cambria" panose="02040503050406030204" pitchFamily="18" charset="0"/>
              </a:rPr>
              <a:t>HIV Screening &amp;STI Syndromic Case Management-An Overview</a:t>
            </a:r>
          </a:p>
        </p:txBody>
      </p:sp>
      <p:sp>
        <p:nvSpPr>
          <p:cNvPr id="3" name="Subtitle 2">
            <a:extLst>
              <a:ext uri="{FF2B5EF4-FFF2-40B4-BE49-F238E27FC236}">
                <a16:creationId xmlns:a16="http://schemas.microsoft.com/office/drawing/2014/main" id="{842CE7C8-B213-1729-FFA9-C19DAAAE9142}"/>
              </a:ext>
            </a:extLst>
          </p:cNvPr>
          <p:cNvSpPr>
            <a:spLocks noGrp="1"/>
          </p:cNvSpPr>
          <p:nvPr>
            <p:ph type="subTitle" idx="1"/>
          </p:nvPr>
        </p:nvSpPr>
        <p:spPr/>
        <p:txBody>
          <a:bodyPr/>
          <a:lstStyle/>
          <a:p>
            <a:endParaRPr lang="en-US" dirty="0"/>
          </a:p>
          <a:p>
            <a:r>
              <a:rPr lang="en-US" dirty="0">
                <a:ea typeface="Cambria" panose="02040503050406030204" pitchFamily="18" charset="0"/>
              </a:rPr>
              <a:t>Dr. Ingudum Lalit</a:t>
            </a:r>
          </a:p>
          <a:p>
            <a:r>
              <a:rPr lang="en-US" dirty="0">
                <a:ea typeface="Cambria" panose="02040503050406030204" pitchFamily="18" charset="0"/>
              </a:rPr>
              <a:t>Medical Advisor, PATH</a:t>
            </a:r>
          </a:p>
        </p:txBody>
      </p:sp>
    </p:spTree>
    <p:extLst>
      <p:ext uri="{BB962C8B-B14F-4D97-AF65-F5344CB8AC3E}">
        <p14:creationId xmlns:p14="http://schemas.microsoft.com/office/powerpoint/2010/main" val="2438366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E07A-D84B-5A0F-8136-B1C882C8FFCD}"/>
              </a:ext>
            </a:extLst>
          </p:cNvPr>
          <p:cNvSpPr>
            <a:spLocks noGrp="1"/>
          </p:cNvSpPr>
          <p:nvPr>
            <p:ph type="title"/>
          </p:nvPr>
        </p:nvSpPr>
        <p:spPr>
          <a:solidFill>
            <a:schemeClr val="tx2">
              <a:lumMod val="50000"/>
              <a:lumOff val="50000"/>
            </a:schemeClr>
          </a:solidFill>
        </p:spPr>
        <p:txBody>
          <a:bodyPr>
            <a:normAutofit/>
          </a:bodyPr>
          <a:lstStyle/>
          <a:p>
            <a:r>
              <a:rPr lang="en-US" sz="3600" dirty="0"/>
              <a:t>Historical Overview of HCT under NACP</a:t>
            </a:r>
          </a:p>
        </p:txBody>
      </p:sp>
      <p:graphicFrame>
        <p:nvGraphicFramePr>
          <p:cNvPr id="4" name="Content Placeholder 3">
            <a:extLst>
              <a:ext uri="{FF2B5EF4-FFF2-40B4-BE49-F238E27FC236}">
                <a16:creationId xmlns:a16="http://schemas.microsoft.com/office/drawing/2014/main" id="{567B0C3E-D201-E824-D348-200B76AF0E0B}"/>
              </a:ext>
            </a:extLst>
          </p:cNvPr>
          <p:cNvGraphicFramePr>
            <a:graphicFrameLocks noGrp="1"/>
          </p:cNvGraphicFramePr>
          <p:nvPr>
            <p:ph idx="1"/>
            <p:extLst>
              <p:ext uri="{D42A27DB-BD31-4B8C-83A1-F6EECF244321}">
                <p14:modId xmlns:p14="http://schemas.microsoft.com/office/powerpoint/2010/main" val="1439764540"/>
              </p:ext>
            </p:extLst>
          </p:nvPr>
        </p:nvGraphicFramePr>
        <p:xfrm>
          <a:off x="838200" y="1825625"/>
          <a:ext cx="10515600" cy="2682240"/>
        </p:xfrm>
        <a:graphic>
          <a:graphicData uri="http://schemas.openxmlformats.org/drawingml/2006/table">
            <a:tbl>
              <a:tblPr firstRow="1" bandRow="1">
                <a:tableStyleId>{5C22544A-7EE6-4342-B048-85BDC9FD1C3A}</a:tableStyleId>
              </a:tblPr>
              <a:tblGrid>
                <a:gridCol w="2316480">
                  <a:extLst>
                    <a:ext uri="{9D8B030D-6E8A-4147-A177-3AD203B41FA5}">
                      <a16:colId xmlns:a16="http://schemas.microsoft.com/office/drawing/2014/main" val="939701708"/>
                    </a:ext>
                  </a:extLst>
                </a:gridCol>
                <a:gridCol w="8199120">
                  <a:extLst>
                    <a:ext uri="{9D8B030D-6E8A-4147-A177-3AD203B41FA5}">
                      <a16:colId xmlns:a16="http://schemas.microsoft.com/office/drawing/2014/main" val="4210119896"/>
                    </a:ext>
                  </a:extLst>
                </a:gridCol>
              </a:tblGrid>
              <a:tr h="370840">
                <a:tc>
                  <a:txBody>
                    <a:bodyPr/>
                    <a:lstStyle/>
                    <a:p>
                      <a:pPr algn="ctr"/>
                      <a:r>
                        <a:rPr lang="en-US" sz="2000" dirty="0"/>
                        <a:t>NACP Phase</a:t>
                      </a:r>
                    </a:p>
                  </a:txBody>
                  <a:tcPr/>
                </a:tc>
                <a:tc>
                  <a:txBody>
                    <a:bodyPr/>
                    <a:lstStyle/>
                    <a:p>
                      <a:r>
                        <a:rPr lang="en-US" sz="2000" dirty="0"/>
                        <a:t>Services</a:t>
                      </a:r>
                    </a:p>
                  </a:txBody>
                  <a:tcPr/>
                </a:tc>
                <a:extLst>
                  <a:ext uri="{0D108BD9-81ED-4DB2-BD59-A6C34878D82A}">
                    <a16:rowId xmlns:a16="http://schemas.microsoft.com/office/drawing/2014/main" val="2456546504"/>
                  </a:ext>
                </a:extLst>
              </a:tr>
              <a:tr h="370840">
                <a:tc>
                  <a:txBody>
                    <a:bodyPr/>
                    <a:lstStyle/>
                    <a:p>
                      <a:pPr algn="ctr"/>
                      <a:r>
                        <a:rPr lang="en-US" sz="2000" dirty="0"/>
                        <a:t>I</a:t>
                      </a:r>
                    </a:p>
                  </a:txBody>
                  <a:tcPr/>
                </a:tc>
                <a:tc>
                  <a:txBody>
                    <a:bodyPr/>
                    <a:lstStyle/>
                    <a:p>
                      <a:r>
                        <a:rPr lang="en-US" sz="2000" dirty="0"/>
                        <a:t>HIV counselling and Testing Services started in 1997</a:t>
                      </a:r>
                    </a:p>
                  </a:txBody>
                  <a:tcPr/>
                </a:tc>
                <a:extLst>
                  <a:ext uri="{0D108BD9-81ED-4DB2-BD59-A6C34878D82A}">
                    <a16:rowId xmlns:a16="http://schemas.microsoft.com/office/drawing/2014/main" val="2508387714"/>
                  </a:ext>
                </a:extLst>
              </a:tr>
              <a:tr h="370840">
                <a:tc>
                  <a:txBody>
                    <a:bodyPr/>
                    <a:lstStyle/>
                    <a:p>
                      <a:pPr algn="ctr"/>
                      <a:r>
                        <a:rPr lang="en-US" sz="2000" dirty="0"/>
                        <a:t>II</a:t>
                      </a:r>
                    </a:p>
                  </a:txBody>
                  <a:tcPr/>
                </a:tc>
                <a:tc>
                  <a:txBody>
                    <a:bodyPr/>
                    <a:lstStyle/>
                    <a:p>
                      <a:r>
                        <a:rPr lang="en-US" sz="2000" dirty="0"/>
                        <a:t>Treatment services started in 2004</a:t>
                      </a:r>
                    </a:p>
                  </a:txBody>
                  <a:tcPr/>
                </a:tc>
                <a:extLst>
                  <a:ext uri="{0D108BD9-81ED-4DB2-BD59-A6C34878D82A}">
                    <a16:rowId xmlns:a16="http://schemas.microsoft.com/office/drawing/2014/main" val="2817127867"/>
                  </a:ext>
                </a:extLst>
              </a:tr>
              <a:tr h="370840">
                <a:tc>
                  <a:txBody>
                    <a:bodyPr/>
                    <a:lstStyle/>
                    <a:p>
                      <a:pPr algn="ctr"/>
                      <a:r>
                        <a:rPr lang="en-US" sz="2000" dirty="0"/>
                        <a:t>III </a:t>
                      </a:r>
                    </a:p>
                  </a:txBody>
                  <a:tcPr/>
                </a:tc>
                <a:tc>
                  <a:txBody>
                    <a:bodyPr/>
                    <a:lstStyle/>
                    <a:p>
                      <a:r>
                        <a:rPr lang="en-US" sz="2000" dirty="0"/>
                        <a:t>HCT outreach services and mobile ICTC in 2007</a:t>
                      </a:r>
                    </a:p>
                  </a:txBody>
                  <a:tcPr/>
                </a:tc>
                <a:extLst>
                  <a:ext uri="{0D108BD9-81ED-4DB2-BD59-A6C34878D82A}">
                    <a16:rowId xmlns:a16="http://schemas.microsoft.com/office/drawing/2014/main" val="3175777996"/>
                  </a:ext>
                </a:extLst>
              </a:tr>
              <a:tr h="370840">
                <a:tc>
                  <a:txBody>
                    <a:bodyPr/>
                    <a:lstStyle/>
                    <a:p>
                      <a:pPr algn="ctr"/>
                      <a:r>
                        <a:rPr lang="en-US" sz="2000" dirty="0"/>
                        <a:t>IV </a:t>
                      </a:r>
                    </a:p>
                  </a:txBody>
                  <a:tcPr/>
                </a:tc>
                <a:tc>
                  <a:txBody>
                    <a:bodyPr/>
                    <a:lstStyle/>
                    <a:p>
                      <a:r>
                        <a:rPr lang="en-US" sz="2000" dirty="0"/>
                        <a:t>Program scale up through Facility based screening services (Decentralisation of testing sites)</a:t>
                      </a:r>
                    </a:p>
                  </a:txBody>
                  <a:tcPr/>
                </a:tc>
                <a:extLst>
                  <a:ext uri="{0D108BD9-81ED-4DB2-BD59-A6C34878D82A}">
                    <a16:rowId xmlns:a16="http://schemas.microsoft.com/office/drawing/2014/main" val="2620887569"/>
                  </a:ext>
                </a:extLst>
              </a:tr>
              <a:tr h="370840">
                <a:tc>
                  <a:txBody>
                    <a:bodyPr/>
                    <a:lstStyle/>
                    <a:p>
                      <a:pPr algn="ctr"/>
                      <a:r>
                        <a:rPr lang="en-US" sz="2000" dirty="0"/>
                        <a:t>V</a:t>
                      </a:r>
                    </a:p>
                  </a:txBody>
                  <a:tcPr/>
                </a:tc>
                <a:tc>
                  <a:txBody>
                    <a:bodyPr/>
                    <a:lstStyle/>
                    <a:p>
                      <a:r>
                        <a:rPr lang="en-US" sz="2000" dirty="0"/>
                        <a:t>Test and Treat Policy</a:t>
                      </a:r>
                    </a:p>
                  </a:txBody>
                  <a:tcPr/>
                </a:tc>
                <a:extLst>
                  <a:ext uri="{0D108BD9-81ED-4DB2-BD59-A6C34878D82A}">
                    <a16:rowId xmlns:a16="http://schemas.microsoft.com/office/drawing/2014/main" val="133666701"/>
                  </a:ext>
                </a:extLst>
              </a:tr>
            </a:tbl>
          </a:graphicData>
        </a:graphic>
      </p:graphicFrame>
      <p:sp>
        <p:nvSpPr>
          <p:cNvPr id="5" name="TextBox 4">
            <a:extLst>
              <a:ext uri="{FF2B5EF4-FFF2-40B4-BE49-F238E27FC236}">
                <a16:creationId xmlns:a16="http://schemas.microsoft.com/office/drawing/2014/main" id="{FB106609-F832-ED56-9375-A5062752E9C1}"/>
              </a:ext>
            </a:extLst>
          </p:cNvPr>
          <p:cNvSpPr txBox="1"/>
          <p:nvPr/>
        </p:nvSpPr>
        <p:spPr>
          <a:xfrm>
            <a:off x="1005840" y="4791456"/>
            <a:ext cx="6260112" cy="369332"/>
          </a:xfrm>
          <a:prstGeom prst="rect">
            <a:avLst/>
          </a:prstGeom>
          <a:noFill/>
        </p:spPr>
        <p:txBody>
          <a:bodyPr wrap="none" rtlCol="0">
            <a:spAutoFit/>
          </a:bodyPr>
          <a:lstStyle/>
          <a:p>
            <a:r>
              <a:rPr lang="en-US" dirty="0"/>
              <a:t>Source: National HIV Counselling and Testing Guideline, 2024</a:t>
            </a:r>
          </a:p>
        </p:txBody>
      </p:sp>
    </p:spTree>
    <p:extLst>
      <p:ext uri="{BB962C8B-B14F-4D97-AF65-F5344CB8AC3E}">
        <p14:creationId xmlns:p14="http://schemas.microsoft.com/office/powerpoint/2010/main" val="144083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A49F-5675-5BE3-E899-FB7709BB5C0F}"/>
              </a:ext>
            </a:extLst>
          </p:cNvPr>
          <p:cNvSpPr>
            <a:spLocks noGrp="1"/>
          </p:cNvSpPr>
          <p:nvPr>
            <p:ph type="title"/>
          </p:nvPr>
        </p:nvSpPr>
        <p:spPr>
          <a:xfrm>
            <a:off x="838200" y="365125"/>
            <a:ext cx="10515600" cy="933323"/>
          </a:xfrm>
          <a:solidFill>
            <a:schemeClr val="tx2">
              <a:lumMod val="50000"/>
              <a:lumOff val="50000"/>
            </a:schemeClr>
          </a:solidFill>
        </p:spPr>
        <p:txBody>
          <a:bodyPr/>
          <a:lstStyle/>
          <a:p>
            <a:r>
              <a:rPr lang="en-US" dirty="0"/>
              <a:t>HCTS Delivery under NACP-Phase V</a:t>
            </a:r>
          </a:p>
        </p:txBody>
      </p:sp>
      <p:pic>
        <p:nvPicPr>
          <p:cNvPr id="5" name="Content Placeholder 4" descr="A diagram of a service delivery&#10;&#10;AI-generated content may be incorrect.">
            <a:extLst>
              <a:ext uri="{FF2B5EF4-FFF2-40B4-BE49-F238E27FC236}">
                <a16:creationId xmlns:a16="http://schemas.microsoft.com/office/drawing/2014/main" id="{30FDAD5E-11DA-2416-63BE-9A9F98AE7F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0704" y="1825625"/>
            <a:ext cx="8083296" cy="4053967"/>
          </a:xfrm>
        </p:spPr>
      </p:pic>
      <p:sp>
        <p:nvSpPr>
          <p:cNvPr id="6" name="TextBox 5">
            <a:extLst>
              <a:ext uri="{FF2B5EF4-FFF2-40B4-BE49-F238E27FC236}">
                <a16:creationId xmlns:a16="http://schemas.microsoft.com/office/drawing/2014/main" id="{784B0904-BCF5-BE38-4A91-D8BC7D0456D6}"/>
              </a:ext>
            </a:extLst>
          </p:cNvPr>
          <p:cNvSpPr txBox="1"/>
          <p:nvPr/>
        </p:nvSpPr>
        <p:spPr>
          <a:xfrm>
            <a:off x="1316736" y="6123543"/>
            <a:ext cx="5435270" cy="369332"/>
          </a:xfrm>
          <a:prstGeom prst="rect">
            <a:avLst/>
          </a:prstGeom>
          <a:noFill/>
        </p:spPr>
        <p:txBody>
          <a:bodyPr wrap="none" rtlCol="0">
            <a:spAutoFit/>
          </a:bodyPr>
          <a:lstStyle/>
          <a:p>
            <a:r>
              <a:rPr lang="en-US" dirty="0"/>
              <a:t>All the screening sites will be linked to the nodal ICTC</a:t>
            </a:r>
          </a:p>
        </p:txBody>
      </p:sp>
    </p:spTree>
    <p:extLst>
      <p:ext uri="{BB962C8B-B14F-4D97-AF65-F5344CB8AC3E}">
        <p14:creationId xmlns:p14="http://schemas.microsoft.com/office/powerpoint/2010/main" val="3511675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E8D31-A1C2-84ED-C49F-BC10622F8B49}"/>
              </a:ext>
            </a:extLst>
          </p:cNvPr>
          <p:cNvSpPr>
            <a:spLocks noGrp="1"/>
          </p:cNvSpPr>
          <p:nvPr>
            <p:ph type="title"/>
          </p:nvPr>
        </p:nvSpPr>
        <p:spPr>
          <a:xfrm>
            <a:off x="838200" y="365125"/>
            <a:ext cx="10515600" cy="979043"/>
          </a:xfrm>
          <a:solidFill>
            <a:schemeClr val="tx2">
              <a:lumMod val="50000"/>
              <a:lumOff val="50000"/>
            </a:schemeClr>
          </a:solidFill>
        </p:spPr>
        <p:txBody>
          <a:bodyPr/>
          <a:lstStyle/>
          <a:p>
            <a:r>
              <a:rPr lang="en-US" dirty="0"/>
              <a:t>HIV Screening and HIV Confirmation Test</a:t>
            </a:r>
          </a:p>
        </p:txBody>
      </p:sp>
      <p:sp>
        <p:nvSpPr>
          <p:cNvPr id="3" name="Content Placeholder 2">
            <a:extLst>
              <a:ext uri="{FF2B5EF4-FFF2-40B4-BE49-F238E27FC236}">
                <a16:creationId xmlns:a16="http://schemas.microsoft.com/office/drawing/2014/main" id="{47B902A0-F2E6-6FCB-D235-6F847274FA91}"/>
              </a:ext>
            </a:extLst>
          </p:cNvPr>
          <p:cNvSpPr>
            <a:spLocks noGrp="1"/>
          </p:cNvSpPr>
          <p:nvPr>
            <p:ph idx="1"/>
          </p:nvPr>
        </p:nvSpPr>
        <p:spPr>
          <a:xfrm>
            <a:off x="838200" y="1651889"/>
            <a:ext cx="10515600" cy="4351338"/>
          </a:xfrm>
        </p:spPr>
        <p:txBody>
          <a:bodyPr>
            <a:normAutofit/>
          </a:bodyPr>
          <a:lstStyle/>
          <a:p>
            <a:r>
              <a:rPr lang="en-US" dirty="0"/>
              <a:t>HIV Screening Test:</a:t>
            </a:r>
          </a:p>
          <a:p>
            <a:pPr lvl="1"/>
            <a:r>
              <a:rPr lang="en-US" dirty="0"/>
              <a:t>Rapid test, result within 20-30 minutes</a:t>
            </a:r>
          </a:p>
          <a:p>
            <a:pPr lvl="1"/>
            <a:r>
              <a:rPr lang="en-US" dirty="0"/>
              <a:t>Initial testing to detect the presence of HIV antibodies or HIV antigen in a person</a:t>
            </a:r>
          </a:p>
          <a:p>
            <a:pPr lvl="1"/>
            <a:r>
              <a:rPr lang="en-US" dirty="0"/>
              <a:t>Reported as “Reactive or Non-Reactive”</a:t>
            </a:r>
          </a:p>
          <a:p>
            <a:r>
              <a:rPr lang="en-US" dirty="0"/>
              <a:t>Confirmatory Test:</a:t>
            </a:r>
          </a:p>
          <a:p>
            <a:pPr lvl="1"/>
            <a:r>
              <a:rPr lang="en-US" dirty="0"/>
              <a:t>Sequential testing to rule out false positive results from screening test and provide definitive outcome.</a:t>
            </a:r>
          </a:p>
          <a:p>
            <a:pPr marL="0" indent="0">
              <a:buNone/>
            </a:pPr>
            <a:endParaRPr lang="en-US" sz="2000" dirty="0"/>
          </a:p>
          <a:p>
            <a:pPr marL="0" indent="0">
              <a:buNone/>
            </a:pPr>
            <a:r>
              <a:rPr lang="en-US" sz="2000" dirty="0"/>
              <a:t>Screened HIV reactive clients will be linked to the nearest confirmatory ICTC where they will be provided services for confirmation of HIV diagnosis </a:t>
            </a:r>
          </a:p>
        </p:txBody>
      </p:sp>
    </p:spTree>
    <p:extLst>
      <p:ext uri="{BB962C8B-B14F-4D97-AF65-F5344CB8AC3E}">
        <p14:creationId xmlns:p14="http://schemas.microsoft.com/office/powerpoint/2010/main" val="3988340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1B89-172B-7B78-38B2-339CA6527176}"/>
              </a:ext>
            </a:extLst>
          </p:cNvPr>
          <p:cNvSpPr>
            <a:spLocks noGrp="1"/>
          </p:cNvSpPr>
          <p:nvPr>
            <p:ph type="title"/>
          </p:nvPr>
        </p:nvSpPr>
        <p:spPr>
          <a:xfrm>
            <a:off x="838200" y="365125"/>
            <a:ext cx="10515600" cy="1024763"/>
          </a:xfrm>
          <a:solidFill>
            <a:schemeClr val="tx2">
              <a:lumMod val="50000"/>
              <a:lumOff val="50000"/>
            </a:schemeClr>
          </a:solidFill>
        </p:spPr>
        <p:txBody>
          <a:bodyPr>
            <a:normAutofit fontScale="90000"/>
          </a:bodyPr>
          <a:lstStyle/>
          <a:p>
            <a:br>
              <a:rPr lang="en-US" kern="100" dirty="0">
                <a:latin typeface="Aptos" panose="020B0004020202020204" pitchFamily="34" charset="0"/>
                <a:ea typeface="Aptos" panose="020B0004020202020204" pitchFamily="34" charset="0"/>
                <a:cs typeface="Times New Roman" panose="02020603050405020304" pitchFamily="18" charset="0"/>
              </a:rPr>
            </a:br>
            <a:r>
              <a:rPr lang="en-US" kern="100" dirty="0">
                <a:latin typeface="Aptos" panose="020B0004020202020204" pitchFamily="34" charset="0"/>
                <a:ea typeface="Aptos" panose="020B0004020202020204" pitchFamily="34" charset="0"/>
                <a:cs typeface="Times New Roman" panose="02020603050405020304" pitchFamily="18" charset="0"/>
              </a:rPr>
              <a:t>Priority population for HCTS include the following: </a:t>
            </a:r>
            <a:br>
              <a:rPr lang="en-US" kern="100" dirty="0">
                <a:latin typeface="Aptos" panose="020B0004020202020204" pitchFamily="34" charset="0"/>
                <a:ea typeface="Aptos" panose="020B0004020202020204" pitchFamily="34" charset="0"/>
                <a:cs typeface="Times New Roman" panose="02020603050405020304" pitchFamily="18" charset="0"/>
              </a:rPr>
            </a:br>
            <a:endParaRPr lang="en-US" dirty="0"/>
          </a:p>
        </p:txBody>
      </p:sp>
      <p:sp>
        <p:nvSpPr>
          <p:cNvPr id="4" name="TextBox 3">
            <a:extLst>
              <a:ext uri="{FF2B5EF4-FFF2-40B4-BE49-F238E27FC236}">
                <a16:creationId xmlns:a16="http://schemas.microsoft.com/office/drawing/2014/main" id="{F2B4ADB5-BC3F-0B7D-D601-AFF492E17286}"/>
              </a:ext>
            </a:extLst>
          </p:cNvPr>
          <p:cNvSpPr txBox="1"/>
          <p:nvPr/>
        </p:nvSpPr>
        <p:spPr>
          <a:xfrm>
            <a:off x="838200" y="1539069"/>
            <a:ext cx="10515600" cy="5024132"/>
          </a:xfrm>
          <a:prstGeom prst="rect">
            <a:avLst/>
          </a:prstGeom>
          <a:noFill/>
        </p:spPr>
        <p:txBody>
          <a:bodyPr wrap="square">
            <a:spAutoFit/>
          </a:bodyPr>
          <a:lstStyle/>
          <a:p>
            <a:pPr marL="0" marR="0">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1. High-risk Group Populations including Prisons and other closed settings (P&amp;OCS) </a:t>
            </a:r>
          </a:p>
          <a:p>
            <a:pPr marL="0" marR="0">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2. Self-walk-in clients at ICTC with risk </a:t>
            </a:r>
            <a:r>
              <a:rPr lang="en-US" sz="1600" kern="100" dirty="0" err="1">
                <a:effectLst/>
                <a:latin typeface="Aptos" panose="020B0004020202020204" pitchFamily="34" charset="0"/>
                <a:ea typeface="Aptos" panose="020B0004020202020204" pitchFamily="34" charset="0"/>
                <a:cs typeface="Times New Roman" panose="02020603050405020304" pitchFamily="18" charset="0"/>
              </a:rPr>
              <a:t>behaviour</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3. Social and sexual networks of self-initiated clients / individuals </a:t>
            </a:r>
          </a:p>
          <a:p>
            <a:pPr marL="0" marR="0">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4. HIV negative partners of PLHIV Index case including partners with unknown HIV status </a:t>
            </a:r>
          </a:p>
          <a:p>
            <a:pPr marL="0" marR="0">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5. Clients motivated from National AIDS helpline 1097/ IEC material/ virtual outreach, etc.</a:t>
            </a:r>
            <a:endParaRPr lang="en-US" sz="1600" kern="100" dirty="0">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6. At-risk youth and adolescents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7. STI/RTI clients</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8. Individuals in casual sexual relation with regular/non-regular partner/s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9. Screened reactive referrals for confirmatory test and screened reactive from Blood Centres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10. Provider initiated referral with high index of clinical suspicion for HIV and AIDS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11. Social network Partner/s of high-risk and at -risk population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12. HIV Exposed babies         13. Pregnant Women</a:t>
            </a:r>
          </a:p>
          <a:p>
            <a:pPr marL="0" marR="0">
              <a:lnSpc>
                <a:spcPct val="115000"/>
              </a:lnSpc>
              <a:spcAft>
                <a:spcPts val="800"/>
              </a:spcAft>
              <a:buNone/>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79347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63944-5C6D-8C67-6250-CD1EED9B0CCA}"/>
              </a:ext>
            </a:extLst>
          </p:cNvPr>
          <p:cNvSpPr>
            <a:spLocks noGrp="1"/>
          </p:cNvSpPr>
          <p:nvPr>
            <p:ph type="title"/>
          </p:nvPr>
        </p:nvSpPr>
        <p:spPr>
          <a:xfrm>
            <a:off x="838200" y="365125"/>
            <a:ext cx="10515600" cy="887603"/>
          </a:xfrm>
          <a:solidFill>
            <a:schemeClr val="tx2">
              <a:lumMod val="50000"/>
              <a:lumOff val="50000"/>
            </a:schemeClr>
          </a:solidFill>
        </p:spPr>
        <p:txBody>
          <a:bodyPr>
            <a:normAutofit fontScale="90000"/>
          </a:bodyPr>
          <a:lstStyle/>
          <a:p>
            <a:br>
              <a:rPr lang="en-US" sz="4000" kern="100" dirty="0">
                <a:latin typeface="Aptos" panose="020B0004020202020204" pitchFamily="34" charset="0"/>
                <a:ea typeface="Aptos" panose="020B0004020202020204" pitchFamily="34" charset="0"/>
                <a:cs typeface="Times New Roman" panose="02020603050405020304" pitchFamily="18" charset="0"/>
              </a:rPr>
            </a:br>
            <a:r>
              <a:rPr lang="en-US" sz="4000" kern="100" dirty="0">
                <a:latin typeface="Aptos" panose="020B0004020202020204" pitchFamily="34" charset="0"/>
                <a:ea typeface="Aptos" panose="020B0004020202020204" pitchFamily="34" charset="0"/>
                <a:cs typeface="Times New Roman" panose="02020603050405020304" pitchFamily="18" charset="0"/>
              </a:rPr>
              <a:t>Package of services at HIV/Syphilis Screening Sites</a:t>
            </a:r>
            <a:br>
              <a:rPr lang="en-US" kern="100" dirty="0">
                <a:latin typeface="Aptos" panose="020B0004020202020204" pitchFamily="34" charset="0"/>
                <a:ea typeface="Aptos" panose="020B0004020202020204" pitchFamily="34" charset="0"/>
                <a:cs typeface="Times New Roman" panose="02020603050405020304" pitchFamily="18" charset="0"/>
              </a:rPr>
            </a:br>
            <a:endParaRPr lang="en-US" dirty="0"/>
          </a:p>
        </p:txBody>
      </p:sp>
      <p:sp>
        <p:nvSpPr>
          <p:cNvPr id="4" name="TextBox 3">
            <a:extLst>
              <a:ext uri="{FF2B5EF4-FFF2-40B4-BE49-F238E27FC236}">
                <a16:creationId xmlns:a16="http://schemas.microsoft.com/office/drawing/2014/main" id="{B398F1E8-180F-6F71-9DE9-A0C3086231C5}"/>
              </a:ext>
            </a:extLst>
          </p:cNvPr>
          <p:cNvSpPr txBox="1"/>
          <p:nvPr/>
        </p:nvSpPr>
        <p:spPr>
          <a:xfrm>
            <a:off x="1097280" y="1577405"/>
            <a:ext cx="9692640" cy="4503990"/>
          </a:xfrm>
          <a:prstGeom prst="rect">
            <a:avLst/>
          </a:prstGeom>
          <a:noFill/>
        </p:spPr>
        <p:txBody>
          <a:bodyPr wrap="square">
            <a:spAutoFit/>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Pre and post-test counselling, obtaining informed consent, conducting risk assessment </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HIV screening, referral of HIV screened reactive cases to confirmatory facility and sharing of test result, disclosure while maintaining confidentiality.</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 Syphilis screening and sharing of test result </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Screening for STI/RTI, TB and other co- infections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Linkage for HIV confirmation to ICTC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Linkage to DSRC for treatment of syphilis/STI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Referral to TI NGO, LWS, Sampoorna Suraksha Kendra, or other health facilities as per the need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Demonstration, distribution and availability of condoms and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Display of the relevant IEC material for HIV and STI</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80482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E8E4E-3405-D518-8923-6FB6AC92DC14}"/>
              </a:ext>
            </a:extLst>
          </p:cNvPr>
          <p:cNvSpPr>
            <a:spLocks noGrp="1"/>
          </p:cNvSpPr>
          <p:nvPr>
            <p:ph type="title"/>
          </p:nvPr>
        </p:nvSpPr>
        <p:spPr>
          <a:xfrm>
            <a:off x="838200" y="365125"/>
            <a:ext cx="10515600" cy="805307"/>
          </a:xfrm>
          <a:solidFill>
            <a:schemeClr val="tx2">
              <a:lumMod val="50000"/>
              <a:lumOff val="50000"/>
            </a:schemeClr>
          </a:solidFill>
        </p:spPr>
        <p:txBody>
          <a:bodyPr/>
          <a:lstStyle/>
          <a:p>
            <a:r>
              <a:rPr lang="en-US" dirty="0"/>
              <a:t>10S Screening </a:t>
            </a:r>
          </a:p>
        </p:txBody>
      </p:sp>
      <p:sp>
        <p:nvSpPr>
          <p:cNvPr id="3" name="TextBox 2">
            <a:extLst>
              <a:ext uri="{FF2B5EF4-FFF2-40B4-BE49-F238E27FC236}">
                <a16:creationId xmlns:a16="http://schemas.microsoft.com/office/drawing/2014/main" id="{655113BC-B9D1-995B-EBBD-1DC7F8B9FA3E}"/>
              </a:ext>
            </a:extLst>
          </p:cNvPr>
          <p:cNvSpPr txBox="1"/>
          <p:nvPr/>
        </p:nvSpPr>
        <p:spPr>
          <a:xfrm>
            <a:off x="1554480" y="1865376"/>
            <a:ext cx="2486193" cy="3139321"/>
          </a:xfrm>
          <a:prstGeom prst="rect">
            <a:avLst/>
          </a:prstGeom>
          <a:noFill/>
        </p:spPr>
        <p:txBody>
          <a:bodyPr wrap="none" rtlCol="0">
            <a:spAutoFit/>
          </a:bodyPr>
          <a:lstStyle/>
          <a:p>
            <a:pPr marL="342900" indent="-342900">
              <a:buAutoNum type="arabicPeriod"/>
            </a:pPr>
            <a:r>
              <a:rPr lang="en-US" dirty="0"/>
              <a:t>Cough</a:t>
            </a:r>
          </a:p>
          <a:p>
            <a:pPr marL="342900" indent="-342900">
              <a:buAutoNum type="arabicPeriod"/>
            </a:pPr>
            <a:r>
              <a:rPr lang="en-US" dirty="0"/>
              <a:t>Fever</a:t>
            </a:r>
          </a:p>
          <a:p>
            <a:pPr marL="342900" indent="-342900">
              <a:buAutoNum type="arabicPeriod"/>
            </a:pPr>
            <a:r>
              <a:rPr lang="en-US" dirty="0"/>
              <a:t>Night Sweet</a:t>
            </a:r>
          </a:p>
          <a:p>
            <a:pPr marL="342900" indent="-342900">
              <a:buAutoNum type="arabicPeriod"/>
            </a:pPr>
            <a:r>
              <a:rPr lang="en-US" dirty="0"/>
              <a:t>Weight Loss</a:t>
            </a:r>
          </a:p>
          <a:p>
            <a:pPr marL="342900" indent="-342900">
              <a:buAutoNum type="arabicPeriod"/>
            </a:pPr>
            <a:r>
              <a:rPr lang="en-US" dirty="0"/>
              <a:t>Chest Pain</a:t>
            </a:r>
          </a:p>
          <a:p>
            <a:pPr marL="342900" indent="-342900">
              <a:buAutoNum type="arabicPeriod"/>
            </a:pPr>
            <a:r>
              <a:rPr lang="en-US" dirty="0"/>
              <a:t>Shortness </a:t>
            </a:r>
            <a:r>
              <a:rPr lang="en-US"/>
              <a:t>of Breath</a:t>
            </a:r>
            <a:endParaRPr lang="en-US" dirty="0"/>
          </a:p>
          <a:p>
            <a:pPr marL="342900" indent="-342900">
              <a:buAutoNum type="arabicPeriod"/>
            </a:pPr>
            <a:r>
              <a:rPr lang="en-US" dirty="0"/>
              <a:t>Loss of appetite</a:t>
            </a:r>
          </a:p>
          <a:p>
            <a:pPr marL="342900" indent="-342900">
              <a:buAutoNum type="arabicPeriod"/>
            </a:pPr>
            <a:r>
              <a:rPr lang="en-US" dirty="0"/>
              <a:t>Fatigue</a:t>
            </a:r>
          </a:p>
          <a:p>
            <a:pPr marL="342900" indent="-342900">
              <a:buAutoNum type="arabicPeriod"/>
            </a:pPr>
            <a:r>
              <a:rPr lang="en-US" dirty="0"/>
              <a:t>Swelling in neck</a:t>
            </a:r>
          </a:p>
          <a:p>
            <a:pPr marL="342900" indent="-342900">
              <a:buAutoNum type="arabicPeriod"/>
            </a:pPr>
            <a:r>
              <a:rPr lang="en-US" dirty="0"/>
              <a:t>Hemoptysis</a:t>
            </a:r>
          </a:p>
          <a:p>
            <a:pPr marL="342900" indent="-342900">
              <a:buAutoNum type="arabicPeriod"/>
            </a:pPr>
            <a:endParaRPr lang="en-US" dirty="0"/>
          </a:p>
        </p:txBody>
      </p:sp>
    </p:spTree>
    <p:extLst>
      <p:ext uri="{BB962C8B-B14F-4D97-AF65-F5344CB8AC3E}">
        <p14:creationId xmlns:p14="http://schemas.microsoft.com/office/powerpoint/2010/main" val="1357897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80D30-FFC7-4CAB-FFF9-F08FE1277D66}"/>
              </a:ext>
            </a:extLst>
          </p:cNvPr>
          <p:cNvSpPr>
            <a:spLocks noGrp="1"/>
          </p:cNvSpPr>
          <p:nvPr>
            <p:ph type="title"/>
          </p:nvPr>
        </p:nvSpPr>
        <p:spPr>
          <a:xfrm>
            <a:off x="838200" y="365125"/>
            <a:ext cx="10515600" cy="1079627"/>
          </a:xfrm>
          <a:solidFill>
            <a:schemeClr val="tx2">
              <a:lumMod val="50000"/>
              <a:lumOff val="50000"/>
            </a:schemeClr>
          </a:solidFill>
        </p:spPr>
        <p:txBody>
          <a:bodyPr>
            <a:normAutofit fontScale="90000"/>
          </a:bodyPr>
          <a:lstStyle/>
          <a:p>
            <a:br>
              <a:rPr lang="en-US" sz="3600" dirty="0"/>
            </a:br>
            <a:r>
              <a:rPr lang="en-US" sz="3600" dirty="0"/>
              <a:t>Approaches for Community Based Screening </a:t>
            </a:r>
            <a:br>
              <a:rPr lang="en-US" dirty="0"/>
            </a:br>
            <a:endParaRPr lang="en-US" dirty="0"/>
          </a:p>
        </p:txBody>
      </p:sp>
      <p:sp>
        <p:nvSpPr>
          <p:cNvPr id="6" name="TextBox 5">
            <a:extLst>
              <a:ext uri="{FF2B5EF4-FFF2-40B4-BE49-F238E27FC236}">
                <a16:creationId xmlns:a16="http://schemas.microsoft.com/office/drawing/2014/main" id="{BCFE2934-A103-8FCE-CA14-E908F6A2E075}"/>
              </a:ext>
            </a:extLst>
          </p:cNvPr>
          <p:cNvSpPr txBox="1"/>
          <p:nvPr/>
        </p:nvSpPr>
        <p:spPr>
          <a:xfrm>
            <a:off x="838200" y="1581912"/>
            <a:ext cx="10515600" cy="5355312"/>
          </a:xfrm>
          <a:prstGeom prst="rect">
            <a:avLst/>
          </a:prstGeom>
          <a:noFill/>
        </p:spPr>
        <p:txBody>
          <a:bodyPr wrap="square">
            <a:spAutoFit/>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Community based screening is available under the National AIDS &amp; STD Control Program as well as under the larger umbrella of General Health System to improve HCTS access and coverage.  Various approaches are :</a:t>
            </a:r>
          </a:p>
          <a:p>
            <a:endParaRPr lang="en-US" dirty="0"/>
          </a:p>
          <a:p>
            <a:pPr marL="342900" indent="-342900">
              <a:buAutoNum type="arabicParenBoth"/>
            </a:pPr>
            <a:r>
              <a:rPr lang="en-US" dirty="0"/>
              <a:t>Community Based Camps or Outreach activity </a:t>
            </a:r>
          </a:p>
          <a:p>
            <a:endParaRPr lang="en-US" dirty="0"/>
          </a:p>
          <a:p>
            <a:r>
              <a:rPr lang="en-US" dirty="0"/>
              <a:t>(2) Outreach through Mobile Vans or Motor Bikes </a:t>
            </a:r>
          </a:p>
          <a:p>
            <a:endParaRPr lang="en-US" dirty="0"/>
          </a:p>
          <a:p>
            <a:r>
              <a:rPr lang="en-US" dirty="0"/>
              <a:t>(3) Mobile Medical Units/ Outreach Camps</a:t>
            </a:r>
          </a:p>
          <a:p>
            <a:endParaRPr lang="en-US" dirty="0"/>
          </a:p>
          <a:p>
            <a:r>
              <a:rPr lang="en-US" dirty="0"/>
              <a:t> (4) Screening by Ancillary health-care providers, such as at VHSND </a:t>
            </a:r>
          </a:p>
          <a:p>
            <a:endParaRPr lang="en-US" dirty="0"/>
          </a:p>
          <a:p>
            <a:r>
              <a:rPr lang="en-US" dirty="0"/>
              <a:t>(5) Screening by Targeted Interventions projects, Link Worker Schemes/ Opioid Substitution Therapy Centres under NACP </a:t>
            </a:r>
          </a:p>
          <a:p>
            <a:endParaRPr lang="en-US" dirty="0"/>
          </a:p>
          <a:p>
            <a:r>
              <a:rPr lang="en-US" dirty="0"/>
              <a:t>(6) HIV screening for Prison inmates and clients in Other Closed Settings </a:t>
            </a:r>
          </a:p>
          <a:p>
            <a:endParaRPr lang="en-US" dirty="0"/>
          </a:p>
          <a:p>
            <a:r>
              <a:rPr lang="en-US" dirty="0"/>
              <a:t>(7) HIV screening at the workplace</a:t>
            </a:r>
          </a:p>
          <a:p>
            <a:endParaRPr lang="en-US" dirty="0"/>
          </a:p>
        </p:txBody>
      </p:sp>
    </p:spTree>
    <p:extLst>
      <p:ext uri="{BB962C8B-B14F-4D97-AF65-F5344CB8AC3E}">
        <p14:creationId xmlns:p14="http://schemas.microsoft.com/office/powerpoint/2010/main" val="1055712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EEF48-E7CF-6F0D-2436-9F8492EAC458}"/>
              </a:ext>
            </a:extLst>
          </p:cNvPr>
          <p:cNvSpPr>
            <a:spLocks noGrp="1"/>
          </p:cNvSpPr>
          <p:nvPr>
            <p:ph type="title"/>
          </p:nvPr>
        </p:nvSpPr>
        <p:spPr>
          <a:xfrm>
            <a:off x="838200" y="365125"/>
            <a:ext cx="10515600" cy="668147"/>
          </a:xfrm>
          <a:solidFill>
            <a:schemeClr val="tx2">
              <a:lumMod val="50000"/>
              <a:lumOff val="50000"/>
            </a:schemeClr>
          </a:solidFill>
        </p:spPr>
        <p:txBody>
          <a:bodyPr>
            <a:normAutofit/>
          </a:bodyPr>
          <a:lstStyle/>
          <a:p>
            <a:r>
              <a:rPr lang="en-US" sz="3600" dirty="0"/>
              <a:t>Client Flow at Screening Facilities</a:t>
            </a:r>
          </a:p>
        </p:txBody>
      </p:sp>
      <p:pic>
        <p:nvPicPr>
          <p:cNvPr id="4" name="Picture 3" descr="A diagram of a diagram&#10;&#10;AI-generated content may be incorrect.">
            <a:extLst>
              <a:ext uri="{FF2B5EF4-FFF2-40B4-BE49-F238E27FC236}">
                <a16:creationId xmlns:a16="http://schemas.microsoft.com/office/drawing/2014/main" id="{D8839786-12F4-658D-340E-8BC6E3E52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120" y="1271016"/>
            <a:ext cx="9537191" cy="5221859"/>
          </a:xfrm>
          <a:prstGeom prst="rect">
            <a:avLst/>
          </a:prstGeom>
        </p:spPr>
      </p:pic>
    </p:spTree>
    <p:extLst>
      <p:ext uri="{BB962C8B-B14F-4D97-AF65-F5344CB8AC3E}">
        <p14:creationId xmlns:p14="http://schemas.microsoft.com/office/powerpoint/2010/main" val="1529554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9684-969A-A278-6927-8B25204297BB}"/>
              </a:ext>
            </a:extLst>
          </p:cNvPr>
          <p:cNvSpPr>
            <a:spLocks noGrp="1"/>
          </p:cNvSpPr>
          <p:nvPr>
            <p:ph type="title"/>
          </p:nvPr>
        </p:nvSpPr>
        <p:spPr>
          <a:xfrm>
            <a:off x="1403223" y="291973"/>
            <a:ext cx="9073896" cy="851027"/>
          </a:xfrm>
          <a:solidFill>
            <a:schemeClr val="tx2">
              <a:lumMod val="50000"/>
              <a:lumOff val="50000"/>
            </a:schemeClr>
          </a:solidFill>
        </p:spPr>
        <p:txBody>
          <a:bodyPr>
            <a:normAutofit fontScale="90000"/>
          </a:bodyPr>
          <a:lstStyle/>
          <a:p>
            <a:r>
              <a:rPr lang="en-US" sz="3600" dirty="0"/>
              <a:t>Pre-Test Counselling and Post-Test Counselling  at Screening Facilities</a:t>
            </a:r>
          </a:p>
        </p:txBody>
      </p:sp>
      <p:sp>
        <p:nvSpPr>
          <p:cNvPr id="4" name="TextBox 3">
            <a:extLst>
              <a:ext uri="{FF2B5EF4-FFF2-40B4-BE49-F238E27FC236}">
                <a16:creationId xmlns:a16="http://schemas.microsoft.com/office/drawing/2014/main" id="{59C407EE-58EE-9E65-F3FA-23B9708609F8}"/>
              </a:ext>
            </a:extLst>
          </p:cNvPr>
          <p:cNvSpPr txBox="1"/>
          <p:nvPr/>
        </p:nvSpPr>
        <p:spPr>
          <a:xfrm>
            <a:off x="1337310" y="1252603"/>
            <a:ext cx="9397746" cy="1754326"/>
          </a:xfrm>
          <a:prstGeom prst="rect">
            <a:avLst/>
          </a:prstGeom>
          <a:noFill/>
        </p:spPr>
        <p:txBody>
          <a:bodyPr wrap="square">
            <a:spAutoFit/>
          </a:bodyPr>
          <a:lstStyle/>
          <a:p>
            <a:r>
              <a:rPr lang="en-US" b="1" dirty="0"/>
              <a:t>Pre-Test Counselling</a:t>
            </a:r>
            <a:r>
              <a:rPr lang="en-US" dirty="0"/>
              <a:t>: Done by </a:t>
            </a:r>
          </a:p>
          <a:p>
            <a:pPr marL="285750" indent="-285750">
              <a:buFont typeface="Arial" panose="020B0604020202020204" pitchFamily="34" charset="0"/>
              <a:buChar char="•"/>
            </a:pPr>
            <a:r>
              <a:rPr lang="en-US" dirty="0"/>
              <a:t>prescribing physicians or</a:t>
            </a:r>
          </a:p>
          <a:p>
            <a:pPr marL="285750" indent="-285750">
              <a:buFont typeface="Arial" panose="020B0604020202020204" pitchFamily="34" charset="0"/>
              <a:buChar char="•"/>
            </a:pPr>
            <a:r>
              <a:rPr lang="en-US" dirty="0"/>
              <a:t>any paramedical staff designated for HIV screening (e.g. PHN/ LHV/ANM/MPW male/pharmacist/LT /ORW/SN /ASHA or </a:t>
            </a:r>
          </a:p>
          <a:p>
            <a:pPr marL="285750" indent="-285750">
              <a:buFont typeface="Arial" panose="020B0604020202020204" pitchFamily="34" charset="0"/>
              <a:buChar char="•"/>
            </a:pPr>
            <a:r>
              <a:rPr lang="en-US" dirty="0"/>
              <a:t>any other trained paramedical staff), shall provide pre-test counselling for all provider referred clients</a:t>
            </a:r>
          </a:p>
        </p:txBody>
      </p:sp>
      <p:sp>
        <p:nvSpPr>
          <p:cNvPr id="6" name="TextBox 5">
            <a:extLst>
              <a:ext uri="{FF2B5EF4-FFF2-40B4-BE49-F238E27FC236}">
                <a16:creationId xmlns:a16="http://schemas.microsoft.com/office/drawing/2014/main" id="{9754273E-4049-2383-D0EB-B3208234A4A8}"/>
              </a:ext>
            </a:extLst>
          </p:cNvPr>
          <p:cNvSpPr txBox="1"/>
          <p:nvPr/>
        </p:nvSpPr>
        <p:spPr>
          <a:xfrm>
            <a:off x="1337310" y="3006929"/>
            <a:ext cx="9205722" cy="3970318"/>
          </a:xfrm>
          <a:prstGeom prst="rect">
            <a:avLst/>
          </a:prstGeom>
          <a:noFill/>
        </p:spPr>
        <p:txBody>
          <a:bodyPr wrap="square">
            <a:spAutoFit/>
          </a:bodyPr>
          <a:lstStyle/>
          <a:p>
            <a:r>
              <a:rPr lang="en-US" b="1" dirty="0"/>
              <a:t>Post Test Counselling: </a:t>
            </a:r>
          </a:p>
          <a:p>
            <a:pPr marL="285750" indent="-285750">
              <a:buFont typeface="Arial" panose="020B0604020202020204" pitchFamily="34" charset="0"/>
              <a:buChar char="•"/>
            </a:pPr>
            <a:r>
              <a:rPr lang="en-US" dirty="0"/>
              <a:t>Any trained paramedical staff designated for HIV screening in the health facility should provide the post-test counselling</a:t>
            </a:r>
            <a:endParaRPr lang="en-US" sz="2800" dirty="0"/>
          </a:p>
          <a:p>
            <a:pPr marL="285750" indent="-285750">
              <a:buFont typeface="Arial" panose="020B0604020202020204" pitchFamily="34" charset="0"/>
              <a:buChar char="•"/>
            </a:pPr>
            <a:r>
              <a:rPr lang="en-US" dirty="0">
                <a:solidFill>
                  <a:srgbClr val="C00000"/>
                </a:solidFill>
              </a:rPr>
              <a:t>WHY POST TEST COUNSELLING?</a:t>
            </a:r>
          </a:p>
          <a:p>
            <a:pPr marL="742950" lvl="1" indent="-285750">
              <a:buFont typeface="Arial" panose="020B0604020202020204" pitchFamily="34" charset="0"/>
              <a:buChar char="•"/>
            </a:pPr>
            <a:r>
              <a:rPr lang="en-US" dirty="0"/>
              <a:t>Post-test counselling helps the individual to understand and cope with the HIV test result.</a:t>
            </a:r>
          </a:p>
          <a:p>
            <a:pPr marL="285750" indent="-285750">
              <a:buFont typeface="Arial" panose="020B0604020202020204" pitchFamily="34" charset="0"/>
              <a:buChar char="•"/>
            </a:pPr>
            <a:r>
              <a:rPr lang="en-US" dirty="0">
                <a:solidFill>
                  <a:srgbClr val="C00000"/>
                </a:solidFill>
              </a:rPr>
              <a:t>WHEN SHOULD POST TEST COUNSELLING BE DONE?</a:t>
            </a:r>
          </a:p>
          <a:p>
            <a:pPr marL="742950" lvl="1" indent="-285750">
              <a:buFont typeface="Arial" panose="020B0604020202020204" pitchFamily="34" charset="0"/>
              <a:buChar char="•"/>
            </a:pPr>
            <a:r>
              <a:rPr lang="en-US" dirty="0"/>
              <a:t>All efforts must be made to provide test results on the same day and post-test counselling to all those accessing HIV services at the HCTS facilities</a:t>
            </a:r>
          </a:p>
          <a:p>
            <a:pPr marL="285750" indent="-285750">
              <a:buFont typeface="Arial" panose="020B0604020202020204" pitchFamily="34" charset="0"/>
              <a:buChar char="•"/>
            </a:pPr>
            <a:r>
              <a:rPr lang="en-US" dirty="0">
                <a:solidFill>
                  <a:srgbClr val="C00000"/>
                </a:solidFill>
              </a:rPr>
              <a:t>WHO SHOULD BE COUNSELLED? </a:t>
            </a:r>
          </a:p>
          <a:p>
            <a:pPr marL="742950" lvl="1" indent="-285750">
              <a:buFont typeface="Arial" panose="020B0604020202020204" pitchFamily="34" charset="0"/>
              <a:buChar char="•"/>
            </a:pPr>
            <a:r>
              <a:rPr lang="en-US" dirty="0"/>
              <a:t>All HIV reactive/ indeterminate/ positive at ICTC </a:t>
            </a:r>
          </a:p>
          <a:p>
            <a:pPr marL="742950" lvl="1" indent="-285750">
              <a:buFont typeface="Arial" panose="020B0604020202020204" pitchFamily="34" charset="0"/>
              <a:buChar char="•"/>
            </a:pPr>
            <a:r>
              <a:rPr lang="en-US" dirty="0"/>
              <a:t>Whenever risk has been elicited irrespective of whether the result is HIV non-reactive/reactive at screening facility</a:t>
            </a:r>
            <a:endParaRPr lang="en-US" dirty="0">
              <a:solidFill>
                <a:srgbClr val="C00000"/>
              </a:solidFill>
            </a:endParaRPr>
          </a:p>
          <a:p>
            <a:pPr marL="742950" lvl="1" indent="-285750">
              <a:buFont typeface="Arial" panose="020B0604020202020204" pitchFamily="34" charset="0"/>
              <a:buChar char="•"/>
            </a:pPr>
            <a:endParaRPr lang="en-US" dirty="0">
              <a:solidFill>
                <a:srgbClr val="C00000"/>
              </a:solidFill>
            </a:endParaRPr>
          </a:p>
        </p:txBody>
      </p:sp>
    </p:spTree>
    <p:extLst>
      <p:ext uri="{BB962C8B-B14F-4D97-AF65-F5344CB8AC3E}">
        <p14:creationId xmlns:p14="http://schemas.microsoft.com/office/powerpoint/2010/main" val="319596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 calcmode="lin" valueType="num">
                                      <p:cBhvr additive="base">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 calcmode="lin" valueType="num">
                                      <p:cBhvr additive="base">
                                        <p:cTn id="31"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 calcmode="lin" valueType="num">
                                      <p:cBhvr additive="base">
                                        <p:cTn id="3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76DE7-3AF5-66F9-1FC1-68848582FEA6}"/>
              </a:ext>
            </a:extLst>
          </p:cNvPr>
          <p:cNvSpPr>
            <a:spLocks noGrp="1"/>
          </p:cNvSpPr>
          <p:nvPr>
            <p:ph type="title"/>
          </p:nvPr>
        </p:nvSpPr>
        <p:spPr>
          <a:xfrm>
            <a:off x="838200" y="365125"/>
            <a:ext cx="10515600" cy="695579"/>
          </a:xfrm>
          <a:solidFill>
            <a:schemeClr val="tx2">
              <a:lumMod val="50000"/>
              <a:lumOff val="50000"/>
            </a:schemeClr>
          </a:solidFill>
        </p:spPr>
        <p:txBody>
          <a:bodyPr>
            <a:normAutofit fontScale="90000"/>
          </a:bodyPr>
          <a:lstStyle/>
          <a:p>
            <a:r>
              <a:rPr lang="en-US" dirty="0"/>
              <a:t>Content Of Pre-Test Counselling</a:t>
            </a:r>
          </a:p>
        </p:txBody>
      </p:sp>
      <p:sp>
        <p:nvSpPr>
          <p:cNvPr id="4" name="TextBox 3">
            <a:extLst>
              <a:ext uri="{FF2B5EF4-FFF2-40B4-BE49-F238E27FC236}">
                <a16:creationId xmlns:a16="http://schemas.microsoft.com/office/drawing/2014/main" id="{12D78844-708B-E7F8-5E5F-5488325C9E9A}"/>
              </a:ext>
            </a:extLst>
          </p:cNvPr>
          <p:cNvSpPr txBox="1"/>
          <p:nvPr/>
        </p:nvSpPr>
        <p:spPr>
          <a:xfrm>
            <a:off x="697992" y="1305341"/>
            <a:ext cx="10585704" cy="4247317"/>
          </a:xfrm>
          <a:prstGeom prst="rect">
            <a:avLst/>
          </a:prstGeom>
          <a:noFill/>
        </p:spPr>
        <p:txBody>
          <a:bodyPr wrap="square">
            <a:spAutoFit/>
          </a:bodyPr>
          <a:lstStyle/>
          <a:p>
            <a:pPr marL="342900" indent="-342900">
              <a:buAutoNum type="arabicPeriod"/>
            </a:pPr>
            <a:r>
              <a:rPr lang="en-US" dirty="0"/>
              <a:t>Provide information on HIV and AIDS: what is HIV, what is AIDS, window period, route of transmission, prevention message, care, support and treatment services</a:t>
            </a:r>
          </a:p>
          <a:p>
            <a:pPr marL="342900" indent="-342900">
              <a:buAutoNum type="arabicPeriod"/>
            </a:pPr>
            <a:r>
              <a:rPr lang="en-US" dirty="0"/>
              <a:t>Explain the benefits of HIV testing and risk assessment </a:t>
            </a:r>
          </a:p>
          <a:p>
            <a:pPr marL="342900" indent="-342900">
              <a:buAutoNum type="arabicPeriod"/>
            </a:pPr>
            <a:r>
              <a:rPr lang="en-US" dirty="0"/>
              <a:t>Assure the individual that the test result and any information shared will be kept confidential </a:t>
            </a:r>
          </a:p>
          <a:p>
            <a:pPr marL="342900" indent="-342900">
              <a:buAutoNum type="arabicPeriod"/>
            </a:pPr>
            <a:r>
              <a:rPr lang="en-US" dirty="0"/>
              <a:t>Explain that the individual has the right to opt out of HIV testing and this will not affect their access to any other health-related services </a:t>
            </a:r>
          </a:p>
          <a:p>
            <a:pPr marL="342900" indent="-342900">
              <a:buAutoNum type="arabicPeriod"/>
            </a:pPr>
            <a:r>
              <a:rPr lang="en-US" dirty="0"/>
              <a:t>Implication of a positive test result, including availability of free treatment at government hospitals and identified private hospitals </a:t>
            </a:r>
          </a:p>
          <a:p>
            <a:pPr marL="342900" indent="-342900">
              <a:buAutoNum type="arabicPeriod"/>
            </a:pPr>
            <a:r>
              <a:rPr lang="en-US" dirty="0"/>
              <a:t>Implications of a negative test result including preventive services</a:t>
            </a:r>
          </a:p>
          <a:p>
            <a:pPr marL="342900" indent="-342900">
              <a:buAutoNum type="arabicPeriod"/>
            </a:pPr>
            <a:r>
              <a:rPr lang="en-US" dirty="0"/>
              <a:t>Disclosure if positive </a:t>
            </a:r>
          </a:p>
          <a:p>
            <a:pPr marL="342900" indent="-342900">
              <a:buAutoNum type="arabicPeriod"/>
            </a:pPr>
            <a:r>
              <a:rPr lang="en-US" dirty="0"/>
              <a:t>Provide information on importance of Index Testing Services (spouse/sexual/injecting partner/ biological children testing) with consent and confidentiality. </a:t>
            </a:r>
          </a:p>
          <a:p>
            <a:pPr marL="342900" indent="-342900">
              <a:buAutoNum type="arabicPeriod"/>
            </a:pPr>
            <a:r>
              <a:rPr lang="en-US" dirty="0"/>
              <a:t>Provide information on genital, menstrual and sexual hygiene </a:t>
            </a:r>
          </a:p>
          <a:p>
            <a:pPr marL="342900" indent="-342900">
              <a:buAutoNum type="arabicPeriod"/>
            </a:pPr>
            <a:r>
              <a:rPr lang="en-US" dirty="0"/>
              <a:t> Demonstrate the use of a condom using any IEC material e.g. penis model, etc. </a:t>
            </a:r>
          </a:p>
          <a:p>
            <a:pPr marL="342900" indent="-342900">
              <a:buAutoNum type="arabicPeriod"/>
            </a:pPr>
            <a:r>
              <a:rPr lang="en-US" dirty="0"/>
              <a:t>Extend the opportunity to the individual to ask and clarify doubts related to HIV and AIDS, if any</a:t>
            </a:r>
          </a:p>
        </p:txBody>
      </p:sp>
    </p:spTree>
    <p:extLst>
      <p:ext uri="{BB962C8B-B14F-4D97-AF65-F5344CB8AC3E}">
        <p14:creationId xmlns:p14="http://schemas.microsoft.com/office/powerpoint/2010/main" val="175815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4B77-D1E8-1F5E-E49A-C26039375056}"/>
              </a:ext>
            </a:extLst>
          </p:cNvPr>
          <p:cNvSpPr>
            <a:spLocks noGrp="1"/>
          </p:cNvSpPr>
          <p:nvPr>
            <p:ph type="title"/>
          </p:nvPr>
        </p:nvSpPr>
        <p:spPr>
          <a:xfrm>
            <a:off x="838200" y="365125"/>
            <a:ext cx="10515600" cy="631571"/>
          </a:xfrm>
          <a:solidFill>
            <a:schemeClr val="tx2">
              <a:lumMod val="50000"/>
              <a:lumOff val="50000"/>
            </a:schemeClr>
          </a:solidFill>
        </p:spPr>
        <p:txBody>
          <a:bodyPr>
            <a:normAutofit/>
          </a:bodyPr>
          <a:lstStyle/>
          <a:p>
            <a:r>
              <a:rPr lang="en-US" sz="3600" dirty="0"/>
              <a:t>Content Of Pre-Test Counselling Contd.</a:t>
            </a:r>
          </a:p>
        </p:txBody>
      </p:sp>
      <p:sp>
        <p:nvSpPr>
          <p:cNvPr id="4" name="TextBox 3">
            <a:extLst>
              <a:ext uri="{FF2B5EF4-FFF2-40B4-BE49-F238E27FC236}">
                <a16:creationId xmlns:a16="http://schemas.microsoft.com/office/drawing/2014/main" id="{2DE699B3-3CBF-9D7E-5E15-2F7FE88B5CD4}"/>
              </a:ext>
            </a:extLst>
          </p:cNvPr>
          <p:cNvSpPr txBox="1"/>
          <p:nvPr/>
        </p:nvSpPr>
        <p:spPr>
          <a:xfrm>
            <a:off x="755904" y="1397675"/>
            <a:ext cx="10515600" cy="2031325"/>
          </a:xfrm>
          <a:prstGeom prst="rect">
            <a:avLst/>
          </a:prstGeom>
          <a:noFill/>
        </p:spPr>
        <p:txBody>
          <a:bodyPr wrap="square">
            <a:spAutoFit/>
          </a:bodyPr>
          <a:lstStyle/>
          <a:p>
            <a:pPr marL="342900" indent="-342900">
              <a:buAutoNum type="arabicPeriod" startAt="12"/>
            </a:pPr>
            <a:r>
              <a:rPr lang="en-US" dirty="0"/>
              <a:t>Provide customized services for clients accessing HCTS services through virtual interventions</a:t>
            </a:r>
          </a:p>
          <a:p>
            <a:pPr marL="342900" indent="-342900">
              <a:buAutoNum type="arabicPeriod" startAt="12"/>
            </a:pPr>
            <a:r>
              <a:rPr lang="en-US" dirty="0"/>
              <a:t>In addition, explain to all pregnant and breastfeeding women regarding EVTHS </a:t>
            </a:r>
          </a:p>
          <a:p>
            <a:pPr marL="342900" indent="-342900">
              <a:buAutoNum type="arabicPeriod" startAt="12"/>
            </a:pPr>
            <a:r>
              <a:rPr lang="en-US" dirty="0"/>
              <a:t>Additional counselling of patient who has declined the test: </a:t>
            </a:r>
          </a:p>
          <a:p>
            <a:pPr lvl="1"/>
            <a:r>
              <a:rPr lang="en-US" dirty="0"/>
              <a:t>• That they can return at any time for further information and or testing </a:t>
            </a:r>
          </a:p>
          <a:p>
            <a:pPr lvl="1"/>
            <a:r>
              <a:rPr lang="en-US" dirty="0"/>
              <a:t>• Other health facilities that can offer HIV counselling and testing services </a:t>
            </a:r>
          </a:p>
          <a:p>
            <a:pPr lvl="1"/>
            <a:r>
              <a:rPr lang="en-US" dirty="0"/>
              <a:t>• Information that can be used in prevention and risk reduction for that individual </a:t>
            </a:r>
          </a:p>
          <a:p>
            <a:pPr lvl="1"/>
            <a:r>
              <a:rPr lang="en-US" dirty="0"/>
              <a:t>• That declining the test does not affect any other health service provision</a:t>
            </a:r>
          </a:p>
        </p:txBody>
      </p:sp>
    </p:spTree>
    <p:extLst>
      <p:ext uri="{BB962C8B-B14F-4D97-AF65-F5344CB8AC3E}">
        <p14:creationId xmlns:p14="http://schemas.microsoft.com/office/powerpoint/2010/main" val="2920345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CDED2C-7747-93D1-2F3B-46921549E181}"/>
              </a:ext>
            </a:extLst>
          </p:cNvPr>
          <p:cNvSpPr>
            <a:spLocks noGrp="1"/>
          </p:cNvSpPr>
          <p:nvPr>
            <p:ph type="title"/>
          </p:nvPr>
        </p:nvSpPr>
        <p:spPr>
          <a:xfrm>
            <a:off x="371094" y="1161288"/>
            <a:ext cx="3438144" cy="1239012"/>
          </a:xfrm>
        </p:spPr>
        <p:txBody>
          <a:bodyPr vert="horz" lIns="91440" tIns="45720" rIns="91440" bIns="45720" rtlCol="0" anchor="ctr">
            <a:normAutofit/>
          </a:bodyPr>
          <a:lstStyle/>
          <a:p>
            <a:r>
              <a:rPr lang="en-US" sz="2800" kern="1200">
                <a:solidFill>
                  <a:schemeClr val="tx1"/>
                </a:solidFill>
                <a:latin typeface="+mj-lt"/>
                <a:ea typeface="+mj-ea"/>
                <a:cs typeface="+mj-cs"/>
              </a:rPr>
              <a:t>Content of Post Test Counselling</a:t>
            </a:r>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0B5F75F-7A90-09E2-9BC0-34A62CB020C9}"/>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a:t>The Guidelines issued in July 2022 on the HIV and AIDS (Prevention and Control) Act 2017, provides guidance on Post Test Counselling for HIV and is detailed below</a:t>
            </a:r>
          </a:p>
        </p:txBody>
      </p:sp>
      <p:pic>
        <p:nvPicPr>
          <p:cNvPr id="6" name="Picture 5" descr="A screenshot of a computer&#10;&#10;AI-generated content may be incorrect.">
            <a:extLst>
              <a:ext uri="{FF2B5EF4-FFF2-40B4-BE49-F238E27FC236}">
                <a16:creationId xmlns:a16="http://schemas.microsoft.com/office/drawing/2014/main" id="{BD9377F5-2E7A-A5CD-28D2-308B2588AD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6529" y="414093"/>
            <a:ext cx="7182587" cy="5703243"/>
          </a:xfrm>
          <a:prstGeom prst="rect">
            <a:avLst/>
          </a:prstGeom>
        </p:spPr>
      </p:pic>
    </p:spTree>
    <p:extLst>
      <p:ext uri="{BB962C8B-B14F-4D97-AF65-F5344CB8AC3E}">
        <p14:creationId xmlns:p14="http://schemas.microsoft.com/office/powerpoint/2010/main" val="1829639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73A90-BD84-8BAE-BF9C-A056F17BCB24}"/>
              </a:ext>
            </a:extLst>
          </p:cNvPr>
          <p:cNvSpPr>
            <a:spLocks noGrp="1"/>
          </p:cNvSpPr>
          <p:nvPr>
            <p:ph type="title"/>
          </p:nvPr>
        </p:nvSpPr>
        <p:spPr>
          <a:xfrm>
            <a:off x="1028700" y="1967266"/>
            <a:ext cx="2628900" cy="2547257"/>
          </a:xfrm>
          <a:noFill/>
        </p:spPr>
        <p:txBody>
          <a:bodyPr anchor="ctr">
            <a:normAutofit/>
          </a:bodyPr>
          <a:lstStyle/>
          <a:p>
            <a:pPr algn="ctr"/>
            <a:r>
              <a:rPr lang="en-US" sz="3600" dirty="0">
                <a:solidFill>
                  <a:srgbClr val="FFFFFF"/>
                </a:solidFill>
              </a:rPr>
              <a:t>Content for Post Test Counselling </a:t>
            </a:r>
          </a:p>
        </p:txBody>
      </p:sp>
      <p:pic>
        <p:nvPicPr>
          <p:cNvPr id="4" name="Picture 3" descr="A close-up of a screen&#10;&#10;AI-generated content may be incorrect.">
            <a:extLst>
              <a:ext uri="{FF2B5EF4-FFF2-40B4-BE49-F238E27FC236}">
                <a16:creationId xmlns:a16="http://schemas.microsoft.com/office/drawing/2014/main" id="{51CB598F-3C8C-D713-57EF-C0DB51CBA3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881743"/>
            <a:ext cx="6780700" cy="5312227"/>
          </a:xfrm>
          <a:prstGeom prst="rect">
            <a:avLst/>
          </a:prstGeom>
        </p:spPr>
      </p:pic>
    </p:spTree>
    <p:extLst>
      <p:ext uri="{BB962C8B-B14F-4D97-AF65-F5344CB8AC3E}">
        <p14:creationId xmlns:p14="http://schemas.microsoft.com/office/powerpoint/2010/main" val="2865357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A3602-880A-D1EE-09AB-ABBD82A207EF}"/>
              </a:ext>
            </a:extLst>
          </p:cNvPr>
          <p:cNvSpPr>
            <a:spLocks noGrp="1"/>
          </p:cNvSpPr>
          <p:nvPr>
            <p:ph type="title"/>
          </p:nvPr>
        </p:nvSpPr>
        <p:spPr>
          <a:xfrm>
            <a:off x="838200" y="365125"/>
            <a:ext cx="10515600" cy="649859"/>
          </a:xfrm>
          <a:solidFill>
            <a:schemeClr val="tx2">
              <a:lumMod val="50000"/>
              <a:lumOff val="50000"/>
            </a:schemeClr>
          </a:solidFill>
        </p:spPr>
        <p:txBody>
          <a:bodyPr>
            <a:normAutofit fontScale="90000"/>
          </a:bodyPr>
          <a:lstStyle/>
          <a:p>
            <a:r>
              <a:rPr lang="en-US" dirty="0"/>
              <a:t>Index Testing Services</a:t>
            </a:r>
          </a:p>
        </p:txBody>
      </p:sp>
      <p:sp>
        <p:nvSpPr>
          <p:cNvPr id="4" name="TextBox 3">
            <a:extLst>
              <a:ext uri="{FF2B5EF4-FFF2-40B4-BE49-F238E27FC236}">
                <a16:creationId xmlns:a16="http://schemas.microsoft.com/office/drawing/2014/main" id="{AF510AB6-6E14-DAB4-1DDB-6569FE2B326A}"/>
              </a:ext>
            </a:extLst>
          </p:cNvPr>
          <p:cNvSpPr txBox="1"/>
          <p:nvPr/>
        </p:nvSpPr>
        <p:spPr>
          <a:xfrm>
            <a:off x="838200" y="1505403"/>
            <a:ext cx="9262872" cy="2862322"/>
          </a:xfrm>
          <a:prstGeom prst="rect">
            <a:avLst/>
          </a:prstGeom>
          <a:noFill/>
        </p:spPr>
        <p:txBody>
          <a:bodyPr wrap="square">
            <a:spAutoFit/>
          </a:bodyPr>
          <a:lstStyle/>
          <a:p>
            <a:r>
              <a:rPr lang="en-US" sz="2000" b="1" dirty="0"/>
              <a:t>What are index testing services? </a:t>
            </a:r>
          </a:p>
          <a:p>
            <a:pPr marL="342900" indent="-342900">
              <a:buFont typeface="Arial" panose="020B0604020202020204" pitchFamily="34" charset="0"/>
              <a:buChar char="•"/>
            </a:pPr>
            <a:r>
              <a:rPr lang="en-US" sz="2000" dirty="0"/>
              <a:t>Index testing service (ITS), or partner notification service </a:t>
            </a:r>
            <a:endParaRPr lang="en-US" sz="2000" b="1" dirty="0"/>
          </a:p>
          <a:p>
            <a:pPr marL="342900" indent="-342900">
              <a:buFont typeface="Arial" panose="020B0604020202020204" pitchFamily="34" charset="0"/>
              <a:buChar char="•"/>
            </a:pPr>
            <a:r>
              <a:rPr lang="en-US" sz="2000" b="1" dirty="0"/>
              <a:t>Voluntary case-finding approach</a:t>
            </a:r>
            <a:endParaRPr lang="en-US" sz="2000" dirty="0"/>
          </a:p>
          <a:p>
            <a:pPr marL="342900" indent="-342900">
              <a:buFont typeface="Arial" panose="020B0604020202020204" pitchFamily="34" charset="0"/>
              <a:buChar char="•"/>
            </a:pPr>
            <a:r>
              <a:rPr lang="en-US" sz="2000" dirty="0"/>
              <a:t>Trained service providers (with the consent of the HIV-positive client), focus on elicitation of </a:t>
            </a:r>
            <a:r>
              <a:rPr lang="en-US" sz="2000" b="1" dirty="0"/>
              <a:t>sexual and needle sharing contacts </a:t>
            </a:r>
            <a:r>
              <a:rPr lang="en-US" sz="2000" dirty="0"/>
              <a:t>and </a:t>
            </a:r>
            <a:r>
              <a:rPr lang="en-US" sz="2000" b="1" dirty="0"/>
              <a:t>biological children (less than 19 years of age</a:t>
            </a:r>
            <a:r>
              <a:rPr lang="en-US" sz="2000" dirty="0"/>
              <a:t>) of the client, and offer them HIV counselling and testing services. </a:t>
            </a:r>
          </a:p>
          <a:p>
            <a:r>
              <a:rPr lang="en-US" sz="2000" b="1" dirty="0"/>
              <a:t>Index Client</a:t>
            </a:r>
            <a:r>
              <a:rPr lang="en-US" sz="2000" dirty="0"/>
              <a:t>: </a:t>
            </a:r>
            <a:r>
              <a:rPr lang="en-US" sz="2000" b="1" dirty="0"/>
              <a:t>All newly diagnosed PLHIV</a:t>
            </a:r>
            <a:r>
              <a:rPr lang="en-US" sz="2000" dirty="0"/>
              <a:t>, as well as </a:t>
            </a:r>
            <a:r>
              <a:rPr lang="en-US" sz="2000" b="1" dirty="0"/>
              <a:t>known PLHIV </a:t>
            </a:r>
            <a:r>
              <a:rPr lang="en-US" sz="2000" dirty="0"/>
              <a:t>are the index clients under the Index Testing Services.</a:t>
            </a:r>
          </a:p>
        </p:txBody>
      </p:sp>
    </p:spTree>
    <p:extLst>
      <p:ext uri="{BB962C8B-B14F-4D97-AF65-F5344CB8AC3E}">
        <p14:creationId xmlns:p14="http://schemas.microsoft.com/office/powerpoint/2010/main" val="117038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5BFE-73AC-8724-FED4-3C649EAB471D}"/>
              </a:ext>
            </a:extLst>
          </p:cNvPr>
          <p:cNvSpPr>
            <a:spLocks noGrp="1"/>
          </p:cNvSpPr>
          <p:nvPr>
            <p:ph type="title"/>
          </p:nvPr>
        </p:nvSpPr>
        <p:spPr>
          <a:xfrm>
            <a:off x="838200" y="365125"/>
            <a:ext cx="10515600" cy="832739"/>
          </a:xfrm>
          <a:solidFill>
            <a:schemeClr val="tx2">
              <a:lumMod val="50000"/>
              <a:lumOff val="50000"/>
            </a:schemeClr>
          </a:solidFill>
        </p:spPr>
        <p:txBody>
          <a:bodyPr/>
          <a:lstStyle/>
          <a:p>
            <a:r>
              <a:rPr lang="en-US" dirty="0"/>
              <a:t>Index Testing Contd.</a:t>
            </a:r>
          </a:p>
        </p:txBody>
      </p:sp>
      <p:sp>
        <p:nvSpPr>
          <p:cNvPr id="4" name="TextBox 3">
            <a:extLst>
              <a:ext uri="{FF2B5EF4-FFF2-40B4-BE49-F238E27FC236}">
                <a16:creationId xmlns:a16="http://schemas.microsoft.com/office/drawing/2014/main" id="{FDF0D1A0-2251-0E6B-B8D1-E461DBBCC98D}"/>
              </a:ext>
            </a:extLst>
          </p:cNvPr>
          <p:cNvSpPr txBox="1"/>
          <p:nvPr/>
        </p:nvSpPr>
        <p:spPr>
          <a:xfrm>
            <a:off x="728472" y="1558927"/>
            <a:ext cx="10515600" cy="2308324"/>
          </a:xfrm>
          <a:prstGeom prst="rect">
            <a:avLst/>
          </a:prstGeom>
          <a:noFill/>
        </p:spPr>
        <p:txBody>
          <a:bodyPr wrap="square">
            <a:spAutoFit/>
          </a:bodyPr>
          <a:lstStyle/>
          <a:p>
            <a:r>
              <a:rPr lang="en-US" sz="1800" b="1" dirty="0"/>
              <a:t>Contact: </a:t>
            </a:r>
          </a:p>
          <a:p>
            <a:pPr marL="285750" indent="-285750">
              <a:buFont typeface="Arial" panose="020B0604020202020204" pitchFamily="34" charset="0"/>
              <a:buChar char="•"/>
            </a:pPr>
            <a:r>
              <a:rPr lang="en-US" sz="1800" dirty="0"/>
              <a:t>Sexual contacts should include ALL persons who have had sex with the Index client (even if it was just a single encounter and even if they have always used condoms). </a:t>
            </a:r>
          </a:p>
          <a:p>
            <a:pPr marL="285750" indent="-285750">
              <a:buFont typeface="Arial" panose="020B0604020202020204" pitchFamily="34" charset="0"/>
              <a:buChar char="•"/>
            </a:pPr>
            <a:r>
              <a:rPr lang="en-US" sz="1800" dirty="0"/>
              <a:t>Needle sharing contacts including ALL persons who have shared needles, syringes or injection equipment with the Index client (even if it was just one time and even if they cleaned the needle, syringes or injection equipment before sharing). </a:t>
            </a:r>
          </a:p>
          <a:p>
            <a:pPr marL="285750" indent="-285750">
              <a:buFont typeface="Arial" panose="020B0604020202020204" pitchFamily="34" charset="0"/>
              <a:buChar char="•"/>
            </a:pPr>
            <a:r>
              <a:rPr lang="en-US" sz="1800" dirty="0"/>
              <a:t>Contact elicitation should start with the most recent exposure and go backwards in time as far as possible, as per the recall capacity of the index client</a:t>
            </a:r>
          </a:p>
        </p:txBody>
      </p:sp>
      <p:sp>
        <p:nvSpPr>
          <p:cNvPr id="6" name="TextBox 5">
            <a:extLst>
              <a:ext uri="{FF2B5EF4-FFF2-40B4-BE49-F238E27FC236}">
                <a16:creationId xmlns:a16="http://schemas.microsoft.com/office/drawing/2014/main" id="{6C49C329-8E48-FF67-6570-83BAAD65804A}"/>
              </a:ext>
            </a:extLst>
          </p:cNvPr>
          <p:cNvSpPr txBox="1"/>
          <p:nvPr/>
        </p:nvSpPr>
        <p:spPr>
          <a:xfrm>
            <a:off x="783336" y="3939278"/>
            <a:ext cx="10460736" cy="1477328"/>
          </a:xfrm>
          <a:prstGeom prst="rect">
            <a:avLst/>
          </a:prstGeom>
          <a:noFill/>
        </p:spPr>
        <p:txBody>
          <a:bodyPr wrap="square">
            <a:spAutoFit/>
          </a:bodyPr>
          <a:lstStyle/>
          <a:p>
            <a:pPr marL="285750" indent="-285750">
              <a:buFont typeface="Arial" panose="020B0604020202020204" pitchFamily="34" charset="0"/>
              <a:buChar char="•"/>
            </a:pPr>
            <a:r>
              <a:rPr lang="en-US" dirty="0"/>
              <a:t>For Index clients who are children ( less than 19 years of age) the contacts will include: </a:t>
            </a:r>
          </a:p>
          <a:p>
            <a:pPr lvl="1"/>
            <a:r>
              <a:rPr lang="en-US" dirty="0"/>
              <a:t>• Biological mother </a:t>
            </a:r>
          </a:p>
          <a:p>
            <a:pPr lvl="1"/>
            <a:r>
              <a:rPr lang="en-US" dirty="0"/>
              <a:t>• Biological father, if the child’s mother is HIV-positive, deceased, or her status is unknown. </a:t>
            </a:r>
          </a:p>
          <a:p>
            <a:pPr lvl="1"/>
            <a:r>
              <a:rPr lang="en-US" dirty="0"/>
              <a:t>• Biological sibling/s </a:t>
            </a:r>
          </a:p>
          <a:p>
            <a:pPr lvl="1"/>
            <a:r>
              <a:rPr lang="en-US" dirty="0"/>
              <a:t>• Sexual and needle sharing contacts, if elicited during the history taking</a:t>
            </a:r>
          </a:p>
        </p:txBody>
      </p:sp>
    </p:spTree>
    <p:extLst>
      <p:ext uri="{BB962C8B-B14F-4D97-AF65-F5344CB8AC3E}">
        <p14:creationId xmlns:p14="http://schemas.microsoft.com/office/powerpoint/2010/main" val="833041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787BA-8879-4A12-520B-FE0EAC74EBEF}"/>
              </a:ext>
            </a:extLst>
          </p:cNvPr>
          <p:cNvSpPr>
            <a:spLocks noGrp="1"/>
          </p:cNvSpPr>
          <p:nvPr>
            <p:ph type="title"/>
          </p:nvPr>
        </p:nvSpPr>
        <p:spPr>
          <a:xfrm>
            <a:off x="838200" y="365125"/>
            <a:ext cx="10515600" cy="805307"/>
          </a:xfrm>
          <a:solidFill>
            <a:schemeClr val="tx2">
              <a:lumMod val="50000"/>
              <a:lumOff val="50000"/>
            </a:schemeClr>
          </a:solidFill>
        </p:spPr>
        <p:txBody>
          <a:bodyPr/>
          <a:lstStyle/>
          <a:p>
            <a:r>
              <a:rPr lang="en-US" dirty="0"/>
              <a:t>Index Testing Services Contd.</a:t>
            </a:r>
          </a:p>
        </p:txBody>
      </p:sp>
      <p:pic>
        <p:nvPicPr>
          <p:cNvPr id="4" name="Picture 3" descr="A diagram of a person with text&#10;&#10;AI-generated content may be incorrect.">
            <a:extLst>
              <a:ext uri="{FF2B5EF4-FFF2-40B4-BE49-F238E27FC236}">
                <a16:creationId xmlns:a16="http://schemas.microsoft.com/office/drawing/2014/main" id="{CE2CEE67-B75A-2378-BAD7-7CF76EB01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0704" y="1554480"/>
            <a:ext cx="10085831" cy="4567753"/>
          </a:xfrm>
          <a:prstGeom prst="rect">
            <a:avLst/>
          </a:prstGeom>
        </p:spPr>
      </p:pic>
    </p:spTree>
    <p:extLst>
      <p:ext uri="{BB962C8B-B14F-4D97-AF65-F5344CB8AC3E}">
        <p14:creationId xmlns:p14="http://schemas.microsoft.com/office/powerpoint/2010/main" val="3203907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44473E-B062-EEC0-B7C4-2943542EE74B}"/>
              </a:ext>
            </a:extLst>
          </p:cNvPr>
          <p:cNvSpPr>
            <a:spLocks noGrp="1"/>
          </p:cNvSpPr>
          <p:nvPr>
            <p:ph type="ctrTitle"/>
          </p:nvPr>
        </p:nvSpPr>
        <p:spPr>
          <a:xfrm>
            <a:off x="1524000" y="2020824"/>
            <a:ext cx="9144000" cy="1836610"/>
          </a:xfrm>
          <a:solidFill>
            <a:schemeClr val="tx2">
              <a:lumMod val="50000"/>
              <a:lumOff val="50000"/>
            </a:schemeClr>
          </a:solidFill>
        </p:spPr>
        <p:txBody>
          <a:bodyPr/>
          <a:lstStyle/>
          <a:p>
            <a:r>
              <a:rPr lang="en-US" dirty="0"/>
              <a:t>SYNDROMIC MANAGEMENT OF STI</a:t>
            </a:r>
          </a:p>
        </p:txBody>
      </p:sp>
    </p:spTree>
    <p:extLst>
      <p:ext uri="{BB962C8B-B14F-4D97-AF65-F5344CB8AC3E}">
        <p14:creationId xmlns:p14="http://schemas.microsoft.com/office/powerpoint/2010/main" val="3243872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5" descr="C:\Users\js\Downloads\Gen Pop.jpg">
            <a:extLst>
              <a:ext uri="{FF2B5EF4-FFF2-40B4-BE49-F238E27FC236}">
                <a16:creationId xmlns:a16="http://schemas.microsoft.com/office/drawing/2014/main" id="{D2F4AC2C-BF6B-2D74-FC0A-1BCC36DE44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1" y="3733800"/>
            <a:ext cx="27527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4" descr="C:\Users\js\Downloads\mother child.jpg">
            <a:extLst>
              <a:ext uri="{FF2B5EF4-FFF2-40B4-BE49-F238E27FC236}">
                <a16:creationId xmlns:a16="http://schemas.microsoft.com/office/drawing/2014/main" id="{F6302BD1-1155-04FF-5687-DE7D73BED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863600"/>
            <a:ext cx="2667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2" descr="C:\Users\js\Downloads\MSM.jpg">
            <a:extLst>
              <a:ext uri="{FF2B5EF4-FFF2-40B4-BE49-F238E27FC236}">
                <a16:creationId xmlns:a16="http://schemas.microsoft.com/office/drawing/2014/main" id="{C829BF18-3389-4236-8B9C-7A4DB1BF1D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792538"/>
            <a:ext cx="2362200" cy="18462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8197" name="Picture 3" descr="C:\Users\js\Downloads\Truck Halt Point.jpg">
            <a:extLst>
              <a:ext uri="{FF2B5EF4-FFF2-40B4-BE49-F238E27FC236}">
                <a16:creationId xmlns:a16="http://schemas.microsoft.com/office/drawing/2014/main" id="{36456A2E-A1A1-1996-2B56-2F31319D58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1" y="914400"/>
            <a:ext cx="28670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Content Placeholder 5">
            <a:extLst>
              <a:ext uri="{FF2B5EF4-FFF2-40B4-BE49-F238E27FC236}">
                <a16:creationId xmlns:a16="http://schemas.microsoft.com/office/drawing/2014/main" id="{4E22F376-F5C3-45A3-8F3A-7F115ABEA299}"/>
              </a:ext>
            </a:extLst>
          </p:cNvPr>
          <p:cNvGraphicFramePr>
            <a:graphicFrameLocks noGrp="1"/>
          </p:cNvGraphicFramePr>
          <p:nvPr>
            <p:ph idx="1"/>
          </p:nvPr>
        </p:nvGraphicFramePr>
        <p:xfrm>
          <a:off x="1828800" y="1828800"/>
          <a:ext cx="8686800" cy="2667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5" name="TextBox 4">
            <a:extLst>
              <a:ext uri="{FF2B5EF4-FFF2-40B4-BE49-F238E27FC236}">
                <a16:creationId xmlns:a16="http://schemas.microsoft.com/office/drawing/2014/main" id="{2DAB8E42-1C42-4B84-BA98-13265A267112}"/>
              </a:ext>
            </a:extLst>
          </p:cNvPr>
          <p:cNvSpPr txBox="1">
            <a:spLocks noChangeArrowheads="1"/>
          </p:cNvSpPr>
          <p:nvPr/>
        </p:nvSpPr>
        <p:spPr bwMode="auto">
          <a:xfrm>
            <a:off x="1752600" y="5638800"/>
            <a:ext cx="8763000" cy="584200"/>
          </a:xfrm>
          <a:prstGeom prst="rect">
            <a:avLst/>
          </a:prstGeom>
          <a:noFill/>
          <a:ln w="9525">
            <a:noFill/>
            <a:miter lim="800000"/>
            <a:headEnd/>
            <a:tailEnd/>
          </a:ln>
        </p:spPr>
        <p:txBody>
          <a:bodyPr>
            <a:spAutoFit/>
          </a:bodyPr>
          <a:lstStyle/>
          <a:p>
            <a:pPr>
              <a:defRPr/>
            </a:pPr>
            <a:r>
              <a:rPr lang="en-US" sz="1600" dirty="0">
                <a:solidFill>
                  <a:srgbClr val="0000A8"/>
                </a:solidFill>
              </a:rPr>
              <a:t>FSW: Female Sex Workers; MSM: Men who have sex with Men; IDU: Injecting Drug Users; TG: Transgender </a:t>
            </a:r>
          </a:p>
        </p:txBody>
      </p:sp>
      <p:sp>
        <p:nvSpPr>
          <p:cNvPr id="9" name="TextBox 3">
            <a:extLst>
              <a:ext uri="{FF2B5EF4-FFF2-40B4-BE49-F238E27FC236}">
                <a16:creationId xmlns:a16="http://schemas.microsoft.com/office/drawing/2014/main" id="{98CF1668-4048-4C29-B6FF-543107D9DE14}"/>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3</a:t>
            </a:r>
          </a:p>
        </p:txBody>
      </p:sp>
      <p:sp>
        <p:nvSpPr>
          <p:cNvPr id="8201" name="Title 3">
            <a:extLst>
              <a:ext uri="{FF2B5EF4-FFF2-40B4-BE49-F238E27FC236}">
                <a16:creationId xmlns:a16="http://schemas.microsoft.com/office/drawing/2014/main" id="{77211B7F-51D9-D5B7-952A-3C2CA6C3A5CE}"/>
              </a:ext>
            </a:extLst>
          </p:cNvPr>
          <p:cNvSpPr>
            <a:spLocks noGrp="1" noChangeArrowheads="1"/>
          </p:cNvSpPr>
          <p:nvPr>
            <p:ph type="title"/>
          </p:nvPr>
        </p:nvSpPr>
        <p:spPr>
          <a:xfrm>
            <a:off x="1862138" y="274638"/>
            <a:ext cx="8458200" cy="563562"/>
          </a:xfrm>
        </p:spPr>
        <p:txBody>
          <a:bodyPr/>
          <a:lstStyle/>
          <a:p>
            <a:r>
              <a:rPr lang="en-US" altLang="en-US" sz="2800"/>
              <a:t>Concentrated Epidemic among Key Risk Groups</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A63AA78-6DFA-4074-8EEE-C29E2B9AFB9C}"/>
              </a:ext>
            </a:extLst>
          </p:cNvPr>
          <p:cNvSpPr>
            <a:spLocks noGrp="1"/>
          </p:cNvSpPr>
          <p:nvPr>
            <p:ph type="title"/>
          </p:nvPr>
        </p:nvSpPr>
        <p:spPr>
          <a:xfrm>
            <a:off x="1981200" y="274638"/>
            <a:ext cx="8122920" cy="932370"/>
          </a:xfrm>
          <a:solidFill>
            <a:schemeClr val="tx2">
              <a:lumMod val="50000"/>
              <a:lumOff val="50000"/>
            </a:schemeClr>
          </a:solidFill>
        </p:spPr>
        <p:txBody>
          <a:bodyPr anchor="ctr"/>
          <a:lstStyle/>
          <a:p>
            <a:pPr>
              <a:defRPr/>
            </a:pPr>
            <a:r>
              <a:rPr lang="en-US" altLang="en-US" sz="3600" dirty="0">
                <a:solidFill>
                  <a:schemeClr val="tx1"/>
                </a:solidFill>
                <a:latin typeface="+mn-lt"/>
                <a:cs typeface="Times New Roman" pitchFamily="18" charset="0"/>
              </a:rPr>
              <a:t>STI/HIV Inter-relationships</a:t>
            </a:r>
          </a:p>
        </p:txBody>
      </p:sp>
      <p:sp>
        <p:nvSpPr>
          <p:cNvPr id="9219" name="Content Placeholder 4">
            <a:extLst>
              <a:ext uri="{FF2B5EF4-FFF2-40B4-BE49-F238E27FC236}">
                <a16:creationId xmlns:a16="http://schemas.microsoft.com/office/drawing/2014/main" id="{F12DB43B-2670-A488-821F-6D8BB2B4A607}"/>
              </a:ext>
            </a:extLst>
          </p:cNvPr>
          <p:cNvSpPr>
            <a:spLocks noGrp="1" noChangeArrowheads="1"/>
          </p:cNvSpPr>
          <p:nvPr>
            <p:ph idx="1"/>
          </p:nvPr>
        </p:nvSpPr>
        <p:spPr>
          <a:xfrm>
            <a:off x="1981200" y="1600200"/>
            <a:ext cx="8229600" cy="4191000"/>
          </a:xfrm>
        </p:spPr>
        <p:txBody>
          <a:bodyPr/>
          <a:lstStyle/>
          <a:p>
            <a:pPr>
              <a:buClrTx/>
              <a:buSzPct val="50000"/>
              <a:buFont typeface="Wingdings" pitchFamily="2" charset="2"/>
              <a:buBlip>
                <a:blip r:embed="rId3"/>
              </a:buBlip>
            </a:pPr>
            <a:r>
              <a:rPr lang="en-US" altLang="en-US" sz="2200" dirty="0">
                <a:solidFill>
                  <a:schemeClr val="tx1"/>
                </a:solidFill>
                <a:cs typeface="Times New Roman" panose="02020603050405020304" pitchFamily="18" charset="0"/>
              </a:rPr>
              <a:t>Behavioral</a:t>
            </a:r>
          </a:p>
          <a:p>
            <a:pPr lvl="1">
              <a:buClrTx/>
              <a:buSzPct val="50000"/>
              <a:buFont typeface="Wingdings" pitchFamily="2" charset="2"/>
              <a:buBlip>
                <a:blip r:embed="rId3"/>
              </a:buBlip>
            </a:pPr>
            <a:r>
              <a:rPr lang="en-US" altLang="en-US" sz="2200" dirty="0">
                <a:solidFill>
                  <a:schemeClr val="tx1"/>
                </a:solidFill>
                <a:cs typeface="Times New Roman" panose="02020603050405020304" pitchFamily="18" charset="0"/>
              </a:rPr>
              <a:t>Both are sexually transmitted</a:t>
            </a:r>
          </a:p>
          <a:p>
            <a:pPr>
              <a:buClrTx/>
              <a:buSzPct val="50000"/>
              <a:buFont typeface="Wingdings" pitchFamily="2" charset="2"/>
              <a:buBlip>
                <a:blip r:embed="rId3"/>
              </a:buBlip>
            </a:pPr>
            <a:r>
              <a:rPr lang="en-US" altLang="en-US" sz="2200" dirty="0">
                <a:solidFill>
                  <a:schemeClr val="tx1"/>
                </a:solidFill>
                <a:cs typeface="Times New Roman" panose="02020603050405020304" pitchFamily="18" charset="0"/>
              </a:rPr>
              <a:t>Epidemiological</a:t>
            </a:r>
          </a:p>
          <a:p>
            <a:pPr lvl="1">
              <a:buClrTx/>
              <a:buSzPct val="50000"/>
              <a:buFont typeface="Wingdings" pitchFamily="2" charset="2"/>
              <a:buBlip>
                <a:blip r:embed="rId3"/>
              </a:buBlip>
            </a:pPr>
            <a:r>
              <a:rPr lang="en-US" altLang="en-US" sz="2200" dirty="0">
                <a:solidFill>
                  <a:schemeClr val="tx1"/>
                </a:solidFill>
                <a:cs typeface="Times New Roman" panose="02020603050405020304" pitchFamily="18" charset="0"/>
              </a:rPr>
              <a:t>Populations with high rates of STIs show disproportionally high rates of sexually-transmitted HIV</a:t>
            </a:r>
          </a:p>
          <a:p>
            <a:pPr>
              <a:buClrTx/>
              <a:buSzPct val="50000"/>
              <a:buFont typeface="Wingdings" pitchFamily="2" charset="2"/>
              <a:buBlip>
                <a:blip r:embed="rId3"/>
              </a:buBlip>
            </a:pPr>
            <a:r>
              <a:rPr lang="en-US" altLang="en-US" sz="2200" dirty="0">
                <a:solidFill>
                  <a:schemeClr val="tx1"/>
                </a:solidFill>
                <a:cs typeface="Times New Roman" panose="02020603050405020304" pitchFamily="18" charset="0"/>
              </a:rPr>
              <a:t>Immunological</a:t>
            </a:r>
          </a:p>
          <a:p>
            <a:pPr lvl="1">
              <a:buClrTx/>
              <a:buSzPct val="50000"/>
              <a:buFont typeface="Wingdings" pitchFamily="2" charset="2"/>
              <a:buBlip>
                <a:blip r:embed="rId3"/>
              </a:buBlip>
            </a:pPr>
            <a:r>
              <a:rPr lang="en-US" altLang="en-US" sz="2200" dirty="0">
                <a:solidFill>
                  <a:schemeClr val="tx1"/>
                </a:solidFill>
                <a:cs typeface="Times New Roman" panose="02020603050405020304" pitchFamily="18" charset="0"/>
              </a:rPr>
              <a:t>STIs facilitate sexual HIV acquisition &amp; transmission</a:t>
            </a:r>
          </a:p>
        </p:txBody>
      </p:sp>
      <p:sp>
        <p:nvSpPr>
          <p:cNvPr id="12" name="TextBox 3">
            <a:extLst>
              <a:ext uri="{FF2B5EF4-FFF2-40B4-BE49-F238E27FC236}">
                <a16:creationId xmlns:a16="http://schemas.microsoft.com/office/drawing/2014/main" id="{C9A8FFFC-C616-4BBE-983E-33CAA01F19A3}"/>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4</a:t>
            </a:r>
          </a:p>
        </p:txBody>
      </p:sp>
    </p:spTree>
  </p:cSld>
  <p:clrMapOvr>
    <a:masterClrMapping/>
  </p:clrMapOvr>
  <p:transition advClick="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1DC10-7B8A-560C-18A2-56A7F311E5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79F620-4AF9-6C6D-F2CB-0875FD871ADE}"/>
              </a:ext>
            </a:extLst>
          </p:cNvPr>
          <p:cNvSpPr>
            <a:spLocks noGrp="1"/>
          </p:cNvSpPr>
          <p:nvPr>
            <p:ph idx="1"/>
          </p:nvPr>
        </p:nvSpPr>
        <p:spPr/>
        <p:txBody>
          <a:bodyPr/>
          <a:lstStyle/>
          <a:p>
            <a:pPr>
              <a:buFont typeface="Wingdings" panose="05000000000000000000" pitchFamily="2" charset="2"/>
              <a:buChar char="§"/>
            </a:pPr>
            <a:r>
              <a:rPr lang="en-US" altLang="en-US" dirty="0">
                <a:solidFill>
                  <a:schemeClr val="tx1"/>
                </a:solidFill>
              </a:rPr>
              <a:t>HIV infection is predominantly sexually transmitted in India (94%)</a:t>
            </a:r>
          </a:p>
          <a:p>
            <a:pPr>
              <a:buFont typeface="Arial" panose="020B0604020202020204" pitchFamily="34" charset="0"/>
              <a:buChar char="•"/>
            </a:pPr>
            <a:r>
              <a:rPr lang="en-US" altLang="en-US" dirty="0">
                <a:solidFill>
                  <a:schemeClr val="tx1"/>
                </a:solidFill>
              </a:rPr>
              <a:t>STIs amplify HIV transmission</a:t>
            </a:r>
          </a:p>
          <a:p>
            <a:pPr>
              <a:buFont typeface="Arial" panose="020B0604020202020204" pitchFamily="34" charset="0"/>
              <a:buChar char="•"/>
            </a:pPr>
            <a:r>
              <a:rPr lang="en-US" altLang="en-US" dirty="0">
                <a:solidFill>
                  <a:schemeClr val="tx1"/>
                </a:solidFill>
              </a:rPr>
              <a:t>Presence of STIs increases risk of HIV transmission:</a:t>
            </a:r>
          </a:p>
          <a:p>
            <a:pPr lvl="1">
              <a:buFont typeface="Arial" panose="020B0604020202020204" pitchFamily="34" charset="0"/>
              <a:buChar char="•"/>
            </a:pPr>
            <a:r>
              <a:rPr lang="en-US" altLang="en-US" dirty="0">
                <a:solidFill>
                  <a:schemeClr val="tx1"/>
                </a:solidFill>
              </a:rPr>
              <a:t>Loss of epithelial integrity </a:t>
            </a:r>
          </a:p>
          <a:p>
            <a:pPr lvl="1">
              <a:buFont typeface="Arial" panose="020B0604020202020204" pitchFamily="34" charset="0"/>
              <a:buChar char="•"/>
            </a:pPr>
            <a:r>
              <a:rPr lang="en-US" altLang="en-US" dirty="0">
                <a:solidFill>
                  <a:schemeClr val="tx1"/>
                </a:solidFill>
              </a:rPr>
              <a:t>Recruitment &amp; activation of inflammatory cells</a:t>
            </a:r>
          </a:p>
          <a:p>
            <a:pPr lvl="1">
              <a:buFont typeface="Arial" panose="020B0604020202020204" pitchFamily="34" charset="0"/>
              <a:buChar char="•"/>
            </a:pPr>
            <a:r>
              <a:rPr lang="en-US" altLang="en-US" dirty="0">
                <a:solidFill>
                  <a:schemeClr val="tx1"/>
                </a:solidFill>
              </a:rPr>
              <a:t>Immune dysregulation </a:t>
            </a:r>
          </a:p>
          <a:p>
            <a:pPr>
              <a:buFont typeface="Arial" panose="020B0604020202020204" pitchFamily="34" charset="0"/>
              <a:buChar char="•"/>
            </a:pPr>
            <a:r>
              <a:rPr lang="en-US" altLang="en-US" dirty="0">
                <a:solidFill>
                  <a:schemeClr val="tx1"/>
                </a:solidFill>
              </a:rPr>
              <a:t>STIs in HIV-positive people can increase viral load</a:t>
            </a:r>
          </a:p>
          <a:p>
            <a:pPr>
              <a:buFont typeface="Arial" panose="020B0604020202020204" pitchFamily="34" charset="0"/>
              <a:buChar char="•"/>
            </a:pPr>
            <a:r>
              <a:rPr lang="en-US" altLang="en-US" dirty="0">
                <a:solidFill>
                  <a:schemeClr val="tx1"/>
                </a:solidFill>
              </a:rPr>
              <a:t>A higher viral load increases HIV transmission risk to others</a:t>
            </a:r>
            <a:endParaRPr lang="en-GB" altLang="en-US" dirty="0">
              <a:solidFill>
                <a:schemeClr val="tx1"/>
              </a:solidFill>
            </a:endParaRPr>
          </a:p>
          <a:p>
            <a:endParaRPr lang="en-US" dirty="0"/>
          </a:p>
        </p:txBody>
      </p:sp>
      <p:sp>
        <p:nvSpPr>
          <p:cNvPr id="4" name="Text Placeholder 3">
            <a:extLst>
              <a:ext uri="{FF2B5EF4-FFF2-40B4-BE49-F238E27FC236}">
                <a16:creationId xmlns:a16="http://schemas.microsoft.com/office/drawing/2014/main" id="{C8F2A2AB-F50F-DF3F-3061-EEDFA5C18324}"/>
              </a:ext>
            </a:extLst>
          </p:cNvPr>
          <p:cNvSpPr>
            <a:spLocks noGrp="1"/>
          </p:cNvSpPr>
          <p:nvPr>
            <p:ph type="body" sz="quarter" idx="10"/>
          </p:nvPr>
        </p:nvSpPr>
        <p:spPr/>
        <p:txBody>
          <a:bodyPr/>
          <a:lstStyle/>
          <a:p>
            <a:endParaRPr lang="en-US"/>
          </a:p>
        </p:txBody>
      </p:sp>
      <p:sp>
        <p:nvSpPr>
          <p:cNvPr id="5" name="Rectangle 6">
            <a:extLst>
              <a:ext uri="{FF2B5EF4-FFF2-40B4-BE49-F238E27FC236}">
                <a16:creationId xmlns:a16="http://schemas.microsoft.com/office/drawing/2014/main" id="{F0E500A8-4FD4-CA39-C7CF-7FE7C9A729CC}"/>
              </a:ext>
            </a:extLst>
          </p:cNvPr>
          <p:cNvSpPr txBox="1">
            <a:spLocks noChangeArrowheads="1"/>
          </p:cNvSpPr>
          <p:nvPr/>
        </p:nvSpPr>
        <p:spPr>
          <a:xfrm>
            <a:off x="1453896" y="274638"/>
            <a:ext cx="8204200" cy="1143000"/>
          </a:xfrm>
          <a:prstGeom prst="rect">
            <a:avLst/>
          </a:prstGeom>
          <a:solidFill>
            <a:schemeClr val="tx2">
              <a:lumMod val="50000"/>
              <a:lumOff val="50000"/>
            </a:schemeClr>
          </a:solidFill>
        </p:spPr>
        <p:txBody>
          <a:bodyPr vert="horz" lIns="91440" tIns="45720" rIns="91440" bIns="45720" rtlCol="0" anchor="b">
            <a:normAutofit/>
          </a:bodyPr>
          <a:lstStyle>
            <a:lvl1pPr algn="l" defTabSz="914400" rtl="0" eaLnBrk="1" latinLnBrk="0" hangingPunct="1">
              <a:lnSpc>
                <a:spcPts val="3000"/>
              </a:lnSpc>
              <a:spcBef>
                <a:spcPct val="0"/>
              </a:spcBef>
              <a:buNone/>
              <a:defRPr sz="2800" b="1" kern="1200" baseline="0">
                <a:solidFill>
                  <a:schemeClr val="bg1"/>
                </a:solidFill>
                <a:effectLst/>
                <a:latin typeface="+mj-lt"/>
                <a:ea typeface="+mj-ea"/>
                <a:cs typeface="+mj-cs"/>
              </a:defRPr>
            </a:lvl1pPr>
          </a:lstStyle>
          <a:p>
            <a:pPr algn="ctr"/>
            <a:r>
              <a:rPr lang="en-US" altLang="en-US" sz="3200">
                <a:solidFill>
                  <a:schemeClr val="tx1"/>
                </a:solidFill>
              </a:rPr>
              <a:t>Relationship Between STIs And HIV</a:t>
            </a:r>
            <a:br>
              <a:rPr lang="en-US" altLang="en-US" sz="3200">
                <a:solidFill>
                  <a:schemeClr val="tx1"/>
                </a:solidFill>
              </a:rPr>
            </a:br>
            <a:r>
              <a:rPr lang="en-US" altLang="en-US" sz="3200">
                <a:solidFill>
                  <a:schemeClr val="tx1"/>
                </a:solidFill>
              </a:rPr>
              <a:t> (Cofactor Effects on HIV Transmission) </a:t>
            </a:r>
            <a:endParaRPr lang="en-GB" altLang="en-US" sz="3200" dirty="0">
              <a:solidFill>
                <a:schemeClr val="tx1"/>
              </a:solidFill>
            </a:endParaRPr>
          </a:p>
        </p:txBody>
      </p:sp>
    </p:spTree>
    <p:extLst>
      <p:ext uri="{BB962C8B-B14F-4D97-AF65-F5344CB8AC3E}">
        <p14:creationId xmlns:p14="http://schemas.microsoft.com/office/powerpoint/2010/main" val="2995974860"/>
      </p:ext>
    </p:extLst>
  </p:cSld>
  <p:clrMapOvr>
    <a:masterClrMapping/>
  </p:clrMapOvr>
  <p:transition advClick="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C984C326-70B2-6A87-A43A-B2922B8B074B}"/>
              </a:ext>
            </a:extLst>
          </p:cNvPr>
          <p:cNvSpPr>
            <a:spLocks noGrp="1" noChangeArrowheads="1"/>
          </p:cNvSpPr>
          <p:nvPr>
            <p:ph type="title"/>
          </p:nvPr>
        </p:nvSpPr>
        <p:spPr>
          <a:xfrm>
            <a:off x="838200" y="365125"/>
            <a:ext cx="10515600" cy="951611"/>
          </a:xfrm>
          <a:solidFill>
            <a:schemeClr val="tx2">
              <a:lumMod val="50000"/>
              <a:lumOff val="50000"/>
            </a:schemeClr>
          </a:solidFill>
        </p:spPr>
        <p:txBody>
          <a:bodyPr/>
          <a:lstStyle/>
          <a:p>
            <a:pPr eaLnBrk="1" hangingPunct="1"/>
            <a:r>
              <a:rPr lang="en-US" altLang="en-US" dirty="0"/>
              <a:t>STIs Management Approaches</a:t>
            </a:r>
            <a:endParaRPr lang="en-GB" altLang="en-US" dirty="0"/>
          </a:p>
        </p:txBody>
      </p:sp>
      <p:sp>
        <p:nvSpPr>
          <p:cNvPr id="36867" name="Rectangle 5">
            <a:extLst>
              <a:ext uri="{FF2B5EF4-FFF2-40B4-BE49-F238E27FC236}">
                <a16:creationId xmlns:a16="http://schemas.microsoft.com/office/drawing/2014/main" id="{65D8A915-044D-9900-9F9A-5682625CFB26}"/>
              </a:ext>
            </a:extLst>
          </p:cNvPr>
          <p:cNvSpPr>
            <a:spLocks noGrp="1" noChangeArrowheads="1"/>
          </p:cNvSpPr>
          <p:nvPr>
            <p:ph type="body" idx="1"/>
          </p:nvPr>
        </p:nvSpPr>
        <p:spPr>
          <a:xfrm>
            <a:off x="1981200" y="1752601"/>
            <a:ext cx="8229600" cy="4525963"/>
          </a:xfrm>
        </p:spPr>
        <p:txBody>
          <a:bodyPr/>
          <a:lstStyle/>
          <a:p>
            <a:pPr eaLnBrk="1" hangingPunct="1">
              <a:lnSpc>
                <a:spcPct val="150000"/>
              </a:lnSpc>
            </a:pPr>
            <a:r>
              <a:rPr lang="en-US" altLang="en-US"/>
              <a:t>Aetiological  </a:t>
            </a:r>
          </a:p>
          <a:p>
            <a:pPr eaLnBrk="1" hangingPunct="1">
              <a:lnSpc>
                <a:spcPct val="150000"/>
              </a:lnSpc>
            </a:pPr>
            <a:r>
              <a:rPr lang="en-US" altLang="en-US"/>
              <a:t>Clinical Diagnosis </a:t>
            </a:r>
          </a:p>
          <a:p>
            <a:pPr eaLnBrk="1" hangingPunct="1">
              <a:lnSpc>
                <a:spcPct val="150000"/>
              </a:lnSpc>
            </a:pPr>
            <a:r>
              <a:rPr lang="en-US" altLang="en-US"/>
              <a:t>Syndromic</a:t>
            </a:r>
          </a:p>
          <a:p>
            <a:pPr eaLnBrk="1" hangingPunct="1">
              <a:lnSpc>
                <a:spcPct val="150000"/>
              </a:lnSpc>
            </a:pPr>
            <a:r>
              <a:rPr lang="en-US" altLang="en-US"/>
              <a:t>Presumptive</a:t>
            </a:r>
            <a:endParaRPr lang="en-GB" altLang="en-US"/>
          </a:p>
        </p:txBody>
      </p:sp>
      <p:grpSp>
        <p:nvGrpSpPr>
          <p:cNvPr id="36868" name="Group 7">
            <a:extLst>
              <a:ext uri="{FF2B5EF4-FFF2-40B4-BE49-F238E27FC236}">
                <a16:creationId xmlns:a16="http://schemas.microsoft.com/office/drawing/2014/main" id="{C2A609E0-AFEB-FEA3-C284-92377D009181}"/>
              </a:ext>
            </a:extLst>
          </p:cNvPr>
          <p:cNvGrpSpPr>
            <a:grpSpLocks/>
          </p:cNvGrpSpPr>
          <p:nvPr/>
        </p:nvGrpSpPr>
        <p:grpSpPr bwMode="auto">
          <a:xfrm>
            <a:off x="6019800" y="1828801"/>
            <a:ext cx="4040188" cy="3571221"/>
            <a:chOff x="4495800" y="1905000"/>
            <a:chExt cx="4040188" cy="3571015"/>
          </a:xfrm>
        </p:grpSpPr>
        <p:pic>
          <p:nvPicPr>
            <p:cNvPr id="36870" name="Picture 2" descr="D:\Derma Photoes\HIV\Ven Wart in HIV\IMG_0250.JPG">
              <a:extLst>
                <a:ext uri="{FF2B5EF4-FFF2-40B4-BE49-F238E27FC236}">
                  <a16:creationId xmlns:a16="http://schemas.microsoft.com/office/drawing/2014/main" id="{28C6AA7C-715C-2755-1760-C3FE6D600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05000"/>
              <a:ext cx="4040188" cy="303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a:extLst>
                <a:ext uri="{FF2B5EF4-FFF2-40B4-BE49-F238E27FC236}">
                  <a16:creationId xmlns:a16="http://schemas.microsoft.com/office/drawing/2014/main" id="{40B1FD86-1AA4-4248-865C-E1FB7AD1DDD2}"/>
                </a:ext>
              </a:extLst>
            </p:cNvPr>
            <p:cNvSpPr txBox="1">
              <a:spLocks noChangeArrowheads="1"/>
            </p:cNvSpPr>
            <p:nvPr/>
          </p:nvSpPr>
          <p:spPr bwMode="auto">
            <a:xfrm>
              <a:off x="4495800" y="4952825"/>
              <a:ext cx="3962400" cy="523190"/>
            </a:xfrm>
            <a:prstGeom prst="rect">
              <a:avLst/>
            </a:prstGeom>
            <a:noFill/>
            <a:ln w="9525">
              <a:noFill/>
              <a:miter lim="800000"/>
              <a:headEnd/>
              <a:tailEnd/>
            </a:ln>
          </p:spPr>
          <p:txBody>
            <a:bodyPr>
              <a:spAutoFit/>
            </a:bodyPr>
            <a:lstStyle/>
            <a:p>
              <a:pPr>
                <a:defRPr/>
              </a:pPr>
              <a:r>
                <a:rPr lang="en-US" sz="1400" dirty="0">
                  <a:solidFill>
                    <a:srgbClr val="000099"/>
                  </a:solidFill>
                  <a:cs typeface="Arial" pitchFamily="34" charset="0"/>
                </a:rPr>
                <a:t>Images Courtesy: </a:t>
              </a:r>
            </a:p>
            <a:p>
              <a:pPr>
                <a:defRPr/>
              </a:pPr>
              <a:r>
                <a:rPr lang="en-US" sz="1400" dirty="0">
                  <a:solidFill>
                    <a:srgbClr val="000099"/>
                  </a:solidFill>
                  <a:cs typeface="Arial" pitchFamily="34" charset="0"/>
                </a:rPr>
                <a:t>CoE, Bowring &amp; Lady Curzon Hospital, Bengaluru</a:t>
              </a:r>
              <a:endParaRPr lang="en-US" sz="1400" dirty="0">
                <a:solidFill>
                  <a:srgbClr val="000099"/>
                </a:solidFill>
              </a:endParaRPr>
            </a:p>
          </p:txBody>
        </p:sp>
      </p:grpSp>
      <p:sp>
        <p:nvSpPr>
          <p:cNvPr id="8" name="TextBox 3">
            <a:extLst>
              <a:ext uri="{FF2B5EF4-FFF2-40B4-BE49-F238E27FC236}">
                <a16:creationId xmlns:a16="http://schemas.microsoft.com/office/drawing/2014/main" id="{F3A2DDF8-6080-4139-B084-42343CEC7777}"/>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20</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886DA37-7AFE-71BE-C559-1F9800875146}"/>
              </a:ext>
            </a:extLst>
          </p:cNvPr>
          <p:cNvSpPr>
            <a:spLocks noGrp="1" noChangeArrowheads="1"/>
          </p:cNvSpPr>
          <p:nvPr>
            <p:ph type="title"/>
          </p:nvPr>
        </p:nvSpPr>
        <p:spPr>
          <a:xfrm>
            <a:off x="838200" y="365125"/>
            <a:ext cx="10515600" cy="887603"/>
          </a:xfrm>
          <a:solidFill>
            <a:schemeClr val="tx2">
              <a:lumMod val="50000"/>
              <a:lumOff val="50000"/>
            </a:schemeClr>
          </a:solidFill>
        </p:spPr>
        <p:txBody>
          <a:bodyPr/>
          <a:lstStyle/>
          <a:p>
            <a:pPr eaLnBrk="1" hangingPunct="1"/>
            <a:r>
              <a:rPr lang="en-US" altLang="en-US" dirty="0"/>
              <a:t>Syndromic Management</a:t>
            </a:r>
            <a:endParaRPr lang="en-GB" altLang="en-US" dirty="0"/>
          </a:p>
        </p:txBody>
      </p:sp>
      <p:sp>
        <p:nvSpPr>
          <p:cNvPr id="41987" name="Rectangle 3">
            <a:extLst>
              <a:ext uri="{FF2B5EF4-FFF2-40B4-BE49-F238E27FC236}">
                <a16:creationId xmlns:a16="http://schemas.microsoft.com/office/drawing/2014/main" id="{F42CA584-55E8-73D5-EDFB-1CDA33482F21}"/>
              </a:ext>
            </a:extLst>
          </p:cNvPr>
          <p:cNvSpPr>
            <a:spLocks noGrp="1" noChangeArrowheads="1"/>
          </p:cNvSpPr>
          <p:nvPr>
            <p:ph idx="1"/>
          </p:nvPr>
        </p:nvSpPr>
        <p:spPr>
          <a:xfrm>
            <a:off x="1917192" y="1485265"/>
            <a:ext cx="8185150" cy="4503738"/>
          </a:xfrm>
        </p:spPr>
        <p:txBody>
          <a:bodyPr>
            <a:normAutofit lnSpcReduction="10000"/>
          </a:bodyPr>
          <a:lstStyle/>
          <a:p>
            <a:pPr>
              <a:spcBef>
                <a:spcPts val="400"/>
              </a:spcBef>
              <a:spcAft>
                <a:spcPts val="400"/>
              </a:spcAft>
            </a:pPr>
            <a:r>
              <a:rPr lang="en-US" altLang="en-US"/>
              <a:t>Medical treatment </a:t>
            </a:r>
          </a:p>
          <a:p>
            <a:pPr>
              <a:spcBef>
                <a:spcPts val="400"/>
              </a:spcBef>
              <a:spcAft>
                <a:spcPts val="400"/>
              </a:spcAft>
            </a:pPr>
            <a:r>
              <a:rPr lang="en-US" altLang="en-US"/>
              <a:t>Follow-up: Return in 7 days, if symptoms persist</a:t>
            </a:r>
          </a:p>
          <a:p>
            <a:pPr>
              <a:spcBef>
                <a:spcPts val="400"/>
              </a:spcBef>
              <a:spcAft>
                <a:spcPts val="400"/>
              </a:spcAft>
            </a:pPr>
            <a:r>
              <a:rPr lang="en-US" altLang="en-US"/>
              <a:t>Partner notification</a:t>
            </a:r>
          </a:p>
          <a:p>
            <a:pPr>
              <a:spcBef>
                <a:spcPts val="400"/>
              </a:spcBef>
              <a:spcAft>
                <a:spcPts val="400"/>
              </a:spcAft>
            </a:pPr>
            <a:r>
              <a:rPr lang="en-US" altLang="en-US"/>
              <a:t>Rule out other STIs </a:t>
            </a:r>
          </a:p>
          <a:p>
            <a:pPr>
              <a:spcBef>
                <a:spcPts val="400"/>
              </a:spcBef>
              <a:spcAft>
                <a:spcPts val="400"/>
              </a:spcAft>
            </a:pPr>
            <a:r>
              <a:rPr lang="en-US" altLang="en-US"/>
              <a:t>Voluntary HIV test and counselling</a:t>
            </a:r>
          </a:p>
          <a:p>
            <a:pPr>
              <a:spcBef>
                <a:spcPts val="400"/>
              </a:spcBef>
              <a:spcAft>
                <a:spcPts val="400"/>
              </a:spcAft>
            </a:pPr>
            <a:r>
              <a:rPr lang="en-US" altLang="en-US"/>
              <a:t>Counselling &amp; education</a:t>
            </a:r>
          </a:p>
          <a:p>
            <a:pPr lvl="1">
              <a:spcBef>
                <a:spcPts val="400"/>
              </a:spcBef>
              <a:spcAft>
                <a:spcPts val="400"/>
              </a:spcAft>
            </a:pPr>
            <a:r>
              <a:rPr lang="en-US" altLang="en-US"/>
              <a:t>Safe sex</a:t>
            </a:r>
          </a:p>
          <a:p>
            <a:pPr lvl="1">
              <a:spcBef>
                <a:spcPts val="400"/>
              </a:spcBef>
              <a:spcAft>
                <a:spcPts val="400"/>
              </a:spcAft>
            </a:pPr>
            <a:r>
              <a:rPr lang="en-US" altLang="en-US"/>
              <a:t>Risk reduction</a:t>
            </a:r>
          </a:p>
          <a:p>
            <a:pPr lvl="1">
              <a:spcBef>
                <a:spcPts val="400"/>
              </a:spcBef>
              <a:spcAft>
                <a:spcPts val="400"/>
              </a:spcAft>
            </a:pPr>
            <a:r>
              <a:rPr lang="en-US" altLang="en-US"/>
              <a:t>Behaviour modification </a:t>
            </a:r>
          </a:p>
          <a:p>
            <a:pPr>
              <a:spcBef>
                <a:spcPts val="400"/>
              </a:spcBef>
              <a:spcAft>
                <a:spcPts val="400"/>
              </a:spcAft>
            </a:pPr>
            <a:r>
              <a:rPr lang="en-US" altLang="en-US"/>
              <a:t>Condom promotion and provision</a:t>
            </a:r>
            <a:endParaRPr lang="en-GB" altLang="en-US"/>
          </a:p>
        </p:txBody>
      </p:sp>
      <p:sp>
        <p:nvSpPr>
          <p:cNvPr id="5" name="TextBox 3">
            <a:extLst>
              <a:ext uri="{FF2B5EF4-FFF2-40B4-BE49-F238E27FC236}">
                <a16:creationId xmlns:a16="http://schemas.microsoft.com/office/drawing/2014/main" id="{523CF189-054B-470D-BEFF-4655BA2D0331}"/>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23</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a:extLst>
              <a:ext uri="{FF2B5EF4-FFF2-40B4-BE49-F238E27FC236}">
                <a16:creationId xmlns:a16="http://schemas.microsoft.com/office/drawing/2014/main" id="{54C53B63-CC91-E3BA-BA22-4E72724A080C}"/>
              </a:ext>
            </a:extLst>
          </p:cNvPr>
          <p:cNvSpPr>
            <a:spLocks noGrp="1" noChangeArrowheads="1"/>
          </p:cNvSpPr>
          <p:nvPr>
            <p:ph type="title"/>
          </p:nvPr>
        </p:nvSpPr>
        <p:spPr>
          <a:xfrm>
            <a:off x="838200" y="365125"/>
            <a:ext cx="10515600" cy="860171"/>
          </a:xfrm>
          <a:solidFill>
            <a:schemeClr val="tx2">
              <a:lumMod val="50000"/>
              <a:lumOff val="50000"/>
            </a:schemeClr>
          </a:solidFill>
        </p:spPr>
        <p:txBody>
          <a:bodyPr/>
          <a:lstStyle/>
          <a:p>
            <a:pPr eaLnBrk="1" hangingPunct="1"/>
            <a:r>
              <a:rPr lang="en-GB" altLang="en-US" dirty="0"/>
              <a:t> Syndromes</a:t>
            </a:r>
          </a:p>
        </p:txBody>
      </p:sp>
      <p:sp>
        <p:nvSpPr>
          <p:cNvPr id="44035" name="Rectangle 5">
            <a:extLst>
              <a:ext uri="{FF2B5EF4-FFF2-40B4-BE49-F238E27FC236}">
                <a16:creationId xmlns:a16="http://schemas.microsoft.com/office/drawing/2014/main" id="{E2675AA0-2726-DA27-7502-8CB5C6BC6F39}"/>
              </a:ext>
            </a:extLst>
          </p:cNvPr>
          <p:cNvSpPr>
            <a:spLocks noGrp="1" noChangeArrowheads="1"/>
          </p:cNvSpPr>
          <p:nvPr>
            <p:ph idx="1"/>
          </p:nvPr>
        </p:nvSpPr>
        <p:spPr>
          <a:xfrm>
            <a:off x="1267968" y="1523079"/>
            <a:ext cx="8185150" cy="4503738"/>
          </a:xfrm>
        </p:spPr>
        <p:txBody>
          <a:bodyPr/>
          <a:lstStyle/>
          <a:p>
            <a:pPr>
              <a:spcBef>
                <a:spcPts val="400"/>
              </a:spcBef>
              <a:spcAft>
                <a:spcPts val="400"/>
              </a:spcAft>
              <a:buNone/>
            </a:pPr>
            <a:r>
              <a:rPr lang="en-GB" altLang="en-US" dirty="0"/>
              <a:t>	Syndromic approach uses flow charts to                 identify causes of 7 common syndromes             associated with STIs:</a:t>
            </a:r>
          </a:p>
          <a:p>
            <a:pPr lvl="1">
              <a:spcBef>
                <a:spcPts val="400"/>
              </a:spcBef>
              <a:spcAft>
                <a:spcPts val="400"/>
              </a:spcAft>
            </a:pPr>
            <a:r>
              <a:rPr lang="en-GB" altLang="en-US" dirty="0"/>
              <a:t>Urethral discharge </a:t>
            </a:r>
            <a:r>
              <a:rPr lang="en-US" altLang="en-US" dirty="0"/>
              <a:t>/ Burning micturition</a:t>
            </a:r>
          </a:p>
          <a:p>
            <a:pPr lvl="1">
              <a:spcBef>
                <a:spcPts val="400"/>
              </a:spcBef>
              <a:spcAft>
                <a:spcPts val="400"/>
              </a:spcAft>
            </a:pPr>
            <a:r>
              <a:rPr lang="en-GB" altLang="en-US" dirty="0"/>
              <a:t>Genital ulcer</a:t>
            </a:r>
            <a:endParaRPr lang="en-US" altLang="en-US" dirty="0"/>
          </a:p>
          <a:p>
            <a:pPr lvl="1">
              <a:spcBef>
                <a:spcPts val="400"/>
              </a:spcBef>
              <a:spcAft>
                <a:spcPts val="400"/>
              </a:spcAft>
            </a:pPr>
            <a:r>
              <a:rPr lang="en-GB" altLang="en-US" dirty="0"/>
              <a:t>Vaginal discharge</a:t>
            </a:r>
            <a:endParaRPr lang="en-US" altLang="en-US" dirty="0"/>
          </a:p>
          <a:p>
            <a:pPr lvl="1">
              <a:spcBef>
                <a:spcPts val="400"/>
              </a:spcBef>
              <a:spcAft>
                <a:spcPts val="400"/>
              </a:spcAft>
            </a:pPr>
            <a:r>
              <a:rPr lang="en-GB" altLang="en-US" dirty="0"/>
              <a:t>Scrotal swelling</a:t>
            </a:r>
            <a:endParaRPr lang="en-US" altLang="en-US" dirty="0"/>
          </a:p>
          <a:p>
            <a:pPr lvl="1">
              <a:spcBef>
                <a:spcPts val="400"/>
              </a:spcBef>
              <a:spcAft>
                <a:spcPts val="400"/>
              </a:spcAft>
            </a:pPr>
            <a:r>
              <a:rPr lang="en-GB" altLang="en-US" dirty="0"/>
              <a:t>Lower abdominal pain</a:t>
            </a:r>
          </a:p>
          <a:p>
            <a:pPr lvl="1">
              <a:spcBef>
                <a:spcPts val="400"/>
              </a:spcBef>
              <a:spcAft>
                <a:spcPts val="400"/>
              </a:spcAft>
            </a:pPr>
            <a:r>
              <a:rPr lang="en-GB" altLang="en-US" dirty="0"/>
              <a:t>Inguinal bubo</a:t>
            </a:r>
          </a:p>
          <a:p>
            <a:pPr lvl="1">
              <a:spcBef>
                <a:spcPts val="400"/>
              </a:spcBef>
              <a:spcAft>
                <a:spcPts val="400"/>
              </a:spcAft>
            </a:pPr>
            <a:r>
              <a:rPr lang="en-US" altLang="en-US" dirty="0">
                <a:solidFill>
                  <a:srgbClr val="000099"/>
                </a:solidFill>
              </a:rPr>
              <a:t>Oral and Anal STIs</a:t>
            </a:r>
            <a:endParaRPr lang="en-GB" altLang="en-US" dirty="0">
              <a:solidFill>
                <a:srgbClr val="C25A70"/>
              </a:solidFill>
            </a:endParaRPr>
          </a:p>
        </p:txBody>
      </p:sp>
      <p:pic>
        <p:nvPicPr>
          <p:cNvPr id="44036" name="Picture 8" descr="Syndromic Poster.jpg">
            <a:extLst>
              <a:ext uri="{FF2B5EF4-FFF2-40B4-BE49-F238E27FC236}">
                <a16:creationId xmlns:a16="http://schemas.microsoft.com/office/drawing/2014/main" id="{4F3FB4D0-4CC0-EC22-06F5-5CCBB2EA64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81688" y="3352800"/>
            <a:ext cx="455771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3">
            <a:extLst>
              <a:ext uri="{FF2B5EF4-FFF2-40B4-BE49-F238E27FC236}">
                <a16:creationId xmlns:a16="http://schemas.microsoft.com/office/drawing/2014/main" id="{FBAE7B5C-B291-4313-858E-C30A17015688}"/>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24</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5">
            <a:extLst>
              <a:ext uri="{FF2B5EF4-FFF2-40B4-BE49-F238E27FC236}">
                <a16:creationId xmlns:a16="http://schemas.microsoft.com/office/drawing/2014/main" id="{F6073AE7-CDB7-F73C-CB33-64BE54039DA9}"/>
              </a:ext>
            </a:extLst>
          </p:cNvPr>
          <p:cNvSpPr>
            <a:spLocks noGrp="1" noChangeArrowheads="1"/>
          </p:cNvSpPr>
          <p:nvPr>
            <p:ph sz="quarter" idx="4"/>
          </p:nvPr>
        </p:nvSpPr>
        <p:spPr>
          <a:xfrm>
            <a:off x="4724401" y="1677988"/>
            <a:ext cx="3459163" cy="3122612"/>
          </a:xfrm>
          <a:extLst>
            <a:ext uri="{909E8E84-426E-40DD-AFC4-6F175D3DCCD1}">
              <a14:hiddenFill xmlns:a14="http://schemas.microsoft.com/office/drawing/2010/main">
                <a:solidFill>
                  <a:srgbClr val="F4FAFE"/>
                </a:solidFill>
              </a14:hiddenFill>
            </a:ext>
          </a:extLst>
        </p:spPr>
        <p:txBody>
          <a:bodyPr/>
          <a:lstStyle/>
          <a:p>
            <a:pPr eaLnBrk="1" hangingPunct="1">
              <a:buFontTx/>
              <a:buNone/>
            </a:pPr>
            <a:r>
              <a:rPr lang="en-US" altLang="en-US" sz="2200">
                <a:solidFill>
                  <a:srgbClr val="C00000"/>
                </a:solidFill>
              </a:rPr>
              <a:t>Complications</a:t>
            </a:r>
            <a:endParaRPr lang="en-GB" altLang="en-US" sz="2200">
              <a:solidFill>
                <a:srgbClr val="C00000"/>
              </a:solidFill>
            </a:endParaRPr>
          </a:p>
          <a:p>
            <a:pPr eaLnBrk="1" hangingPunct="1"/>
            <a:r>
              <a:rPr lang="en-US" altLang="en-US" sz="2200"/>
              <a:t>Epididymitis </a:t>
            </a:r>
          </a:p>
          <a:p>
            <a:pPr eaLnBrk="1" hangingPunct="1"/>
            <a:r>
              <a:rPr lang="en-US" altLang="en-US" sz="2200"/>
              <a:t>Periurethral abscess</a:t>
            </a:r>
          </a:p>
          <a:p>
            <a:pPr eaLnBrk="1" hangingPunct="1"/>
            <a:r>
              <a:rPr lang="en-US" altLang="en-US" sz="2200"/>
              <a:t>Urethral stricture</a:t>
            </a:r>
          </a:p>
          <a:p>
            <a:pPr eaLnBrk="1" hangingPunct="1"/>
            <a:r>
              <a:rPr lang="en-US" altLang="en-US" sz="2200"/>
              <a:t>Prostatitis</a:t>
            </a:r>
          </a:p>
          <a:p>
            <a:pPr eaLnBrk="1" hangingPunct="1"/>
            <a:r>
              <a:rPr lang="en-US" altLang="en-US" sz="2200"/>
              <a:t>Gonococcal arthritis</a:t>
            </a:r>
            <a:endParaRPr lang="en-GB" altLang="en-US" sz="2200"/>
          </a:p>
          <a:p>
            <a:endParaRPr lang="en-GB" altLang="en-US" sz="2200"/>
          </a:p>
        </p:txBody>
      </p:sp>
      <p:sp>
        <p:nvSpPr>
          <p:cNvPr id="46083" name="Title 2">
            <a:extLst>
              <a:ext uri="{FF2B5EF4-FFF2-40B4-BE49-F238E27FC236}">
                <a16:creationId xmlns:a16="http://schemas.microsoft.com/office/drawing/2014/main" id="{C591670A-C234-BE9F-389C-B58991790654}"/>
              </a:ext>
            </a:extLst>
          </p:cNvPr>
          <p:cNvSpPr>
            <a:spLocks noGrp="1" noChangeArrowheads="1"/>
          </p:cNvSpPr>
          <p:nvPr>
            <p:ph type="title"/>
          </p:nvPr>
        </p:nvSpPr>
        <p:spPr>
          <a:xfrm>
            <a:off x="839788" y="365125"/>
            <a:ext cx="10515600" cy="851027"/>
          </a:xfrm>
          <a:solidFill>
            <a:schemeClr val="tx2">
              <a:lumMod val="50000"/>
              <a:lumOff val="50000"/>
            </a:schemeClr>
          </a:solidFill>
        </p:spPr>
        <p:txBody>
          <a:bodyPr>
            <a:normAutofit fontScale="90000"/>
          </a:bodyPr>
          <a:lstStyle/>
          <a:p>
            <a:br>
              <a:rPr lang="en-US" altLang="en-US" dirty="0"/>
            </a:br>
            <a:r>
              <a:rPr lang="en-US" altLang="en-US" dirty="0"/>
              <a:t>Urethral Discharge</a:t>
            </a:r>
            <a:br>
              <a:rPr lang="en-US" altLang="en-US" dirty="0"/>
            </a:br>
            <a:endParaRPr lang="en-US" altLang="en-US" dirty="0"/>
          </a:p>
        </p:txBody>
      </p:sp>
      <p:pic>
        <p:nvPicPr>
          <p:cNvPr id="46084" name="Picture 2">
            <a:extLst>
              <a:ext uri="{FF2B5EF4-FFF2-40B4-BE49-F238E27FC236}">
                <a16:creationId xmlns:a16="http://schemas.microsoft.com/office/drawing/2014/main" id="{69348E03-3EF6-5181-60FA-1F8121A9D71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409700" y="1541590"/>
            <a:ext cx="2971800" cy="2492375"/>
          </a:xfrm>
          <a:noFill/>
          <a:extLst>
            <a:ext uri="{909E8E84-426E-40DD-AFC4-6F175D3DCCD1}">
              <a14:hiddenFill xmlns:a14="http://schemas.microsoft.com/office/drawing/2010/main">
                <a:solidFill>
                  <a:srgbClr val="F4FAFE"/>
                </a:solidFill>
              </a14:hiddenFill>
            </a:ext>
          </a:extLst>
        </p:spPr>
      </p:pic>
      <p:pic>
        <p:nvPicPr>
          <p:cNvPr id="46085" name="Picture 3">
            <a:extLst>
              <a:ext uri="{FF2B5EF4-FFF2-40B4-BE49-F238E27FC236}">
                <a16:creationId xmlns:a16="http://schemas.microsoft.com/office/drawing/2014/main" id="{604B39C4-4212-1BCF-0AA6-B7143852CB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1857" y="1448595"/>
            <a:ext cx="23590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a:extLst>
              <a:ext uri="{FF2B5EF4-FFF2-40B4-BE49-F238E27FC236}">
                <a16:creationId xmlns:a16="http://schemas.microsoft.com/office/drawing/2014/main" id="{6B4D7755-368C-49BE-836E-6C43782B3EAA}"/>
              </a:ext>
            </a:extLst>
          </p:cNvPr>
          <p:cNvSpPr txBox="1">
            <a:spLocks/>
          </p:cNvSpPr>
          <p:nvPr/>
        </p:nvSpPr>
        <p:spPr>
          <a:xfrm>
            <a:off x="2895600" y="4495801"/>
            <a:ext cx="6934200" cy="1630363"/>
          </a:xfrm>
          <a:prstGeom prst="rect">
            <a:avLst/>
          </a:prstGeom>
        </p:spPr>
        <p:txBody>
          <a:bodyPr anchor="ctr"/>
          <a:lstStyle/>
          <a:p>
            <a:pPr marL="342900" indent="-342900">
              <a:defRPr/>
            </a:pPr>
            <a:r>
              <a:rPr lang="en-US" sz="2400" kern="0" dirty="0">
                <a:solidFill>
                  <a:srgbClr val="C00000"/>
                </a:solidFill>
              </a:rPr>
              <a:t>Treatment:</a:t>
            </a:r>
          </a:p>
          <a:p>
            <a:pPr marL="342900" indent="-342900">
              <a:buFontTx/>
              <a:buChar char="•"/>
              <a:defRPr/>
            </a:pPr>
            <a:r>
              <a:rPr lang="en-US" sz="2400" kern="0" dirty="0">
                <a:solidFill>
                  <a:srgbClr val="000099"/>
                </a:solidFill>
              </a:rPr>
              <a:t>Tab. Azithromycin 1g od, single dose +</a:t>
            </a:r>
          </a:p>
          <a:p>
            <a:pPr marL="342900" indent="-342900">
              <a:buFontTx/>
              <a:buChar char="•"/>
              <a:defRPr/>
            </a:pPr>
            <a:r>
              <a:rPr lang="en-US" sz="2400" kern="0" dirty="0">
                <a:solidFill>
                  <a:srgbClr val="000099"/>
                </a:solidFill>
              </a:rPr>
              <a:t>Tab. </a:t>
            </a:r>
            <a:r>
              <a:rPr lang="en-US" sz="2400" kern="0" dirty="0" err="1">
                <a:solidFill>
                  <a:srgbClr val="000099"/>
                </a:solidFill>
              </a:rPr>
              <a:t>Cefixime</a:t>
            </a:r>
            <a:r>
              <a:rPr lang="en-US" sz="2400" kern="0" dirty="0">
                <a:solidFill>
                  <a:srgbClr val="000099"/>
                </a:solidFill>
              </a:rPr>
              <a:t> 400 mg </a:t>
            </a:r>
            <a:r>
              <a:rPr lang="en-US" sz="2400" kern="0" dirty="0" err="1">
                <a:solidFill>
                  <a:srgbClr val="000099"/>
                </a:solidFill>
              </a:rPr>
              <a:t>od</a:t>
            </a:r>
            <a:r>
              <a:rPr lang="en-US" sz="2400" kern="0" dirty="0">
                <a:solidFill>
                  <a:srgbClr val="000099"/>
                </a:solidFill>
              </a:rPr>
              <a:t>, </a:t>
            </a:r>
            <a:r>
              <a:rPr lang="en-US" sz="2400" kern="0" dirty="0">
                <a:solidFill>
                  <a:srgbClr val="000099"/>
                </a:solidFill>
                <a:latin typeface="Arial"/>
              </a:rPr>
              <a:t>single dose </a:t>
            </a:r>
            <a:endParaRPr lang="en-GB" sz="2400" kern="0" dirty="0">
              <a:solidFill>
                <a:srgbClr val="000099"/>
              </a:solidFill>
            </a:endParaRPr>
          </a:p>
        </p:txBody>
      </p:sp>
      <p:sp>
        <p:nvSpPr>
          <p:cNvPr id="8" name="TextBox 3">
            <a:extLst>
              <a:ext uri="{FF2B5EF4-FFF2-40B4-BE49-F238E27FC236}">
                <a16:creationId xmlns:a16="http://schemas.microsoft.com/office/drawing/2014/main" id="{9D27D92E-BD7C-4823-B103-179CE7E44C81}"/>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25</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A90BE964-373C-22C1-2004-737DEF240A68}"/>
              </a:ext>
            </a:extLst>
          </p:cNvPr>
          <p:cNvSpPr>
            <a:spLocks noGrp="1" noChangeArrowheads="1"/>
          </p:cNvSpPr>
          <p:nvPr>
            <p:ph type="title"/>
          </p:nvPr>
        </p:nvSpPr>
        <p:spPr/>
        <p:txBody>
          <a:bodyPr/>
          <a:lstStyle/>
          <a:p>
            <a:r>
              <a:rPr lang="en-US" altLang="en-US" sz="3200"/>
              <a:t>Cervical Discharge Syndrome (Cervicitis)</a:t>
            </a:r>
            <a:endParaRPr lang="en-GB" altLang="en-US" sz="3200"/>
          </a:p>
        </p:txBody>
      </p:sp>
      <p:sp>
        <p:nvSpPr>
          <p:cNvPr id="5" name="Content Placeholder 2">
            <a:extLst>
              <a:ext uri="{FF2B5EF4-FFF2-40B4-BE49-F238E27FC236}">
                <a16:creationId xmlns:a16="http://schemas.microsoft.com/office/drawing/2014/main" id="{8EF42331-1649-4723-9637-EEE13F9CF5F6}"/>
              </a:ext>
            </a:extLst>
          </p:cNvPr>
          <p:cNvSpPr txBox="1">
            <a:spLocks/>
          </p:cNvSpPr>
          <p:nvPr/>
        </p:nvSpPr>
        <p:spPr>
          <a:xfrm>
            <a:off x="4648200" y="1828800"/>
            <a:ext cx="3505200" cy="3048000"/>
          </a:xfrm>
          <a:prstGeom prst="rect">
            <a:avLst/>
          </a:prstGeom>
        </p:spPr>
        <p:txBody>
          <a:bodyPr/>
          <a:lstStyle/>
          <a:p>
            <a:pPr marL="342900" indent="-342900">
              <a:spcBef>
                <a:spcPct val="20000"/>
              </a:spcBef>
              <a:buFontTx/>
              <a:buChar char="•"/>
              <a:defRPr/>
            </a:pPr>
            <a:r>
              <a:rPr lang="en-US" sz="2200" kern="0" dirty="0">
                <a:solidFill>
                  <a:srgbClr val="003300"/>
                </a:solidFill>
              </a:rPr>
              <a:t>Yellowish discharge with bad odour</a:t>
            </a:r>
          </a:p>
          <a:p>
            <a:pPr marL="342900" indent="-342900">
              <a:spcBef>
                <a:spcPct val="20000"/>
              </a:spcBef>
              <a:buFontTx/>
              <a:buChar char="•"/>
              <a:defRPr/>
            </a:pPr>
            <a:r>
              <a:rPr lang="en-US" sz="2200" kern="0" dirty="0">
                <a:solidFill>
                  <a:srgbClr val="003300"/>
                </a:solidFill>
              </a:rPr>
              <a:t>Nature and type of discharge: quantity, colour, odour</a:t>
            </a:r>
          </a:p>
          <a:p>
            <a:pPr marL="342900" indent="-342900">
              <a:spcBef>
                <a:spcPct val="20000"/>
              </a:spcBef>
              <a:buFontTx/>
              <a:buChar char="•"/>
              <a:defRPr/>
            </a:pPr>
            <a:r>
              <a:rPr lang="en-US" sz="2200" kern="0" dirty="0">
                <a:solidFill>
                  <a:srgbClr val="003300"/>
                </a:solidFill>
              </a:rPr>
              <a:t>Burning while passing urine, increased frequency</a:t>
            </a:r>
          </a:p>
          <a:p>
            <a:pPr marL="342900" indent="-342900">
              <a:spcBef>
                <a:spcPct val="20000"/>
              </a:spcBef>
              <a:buFontTx/>
              <a:buChar char="•"/>
              <a:defRPr/>
            </a:pPr>
            <a:endParaRPr lang="en-GB" sz="2200" kern="0" dirty="0">
              <a:solidFill>
                <a:srgbClr val="0000A8"/>
              </a:solidFill>
            </a:endParaRPr>
          </a:p>
        </p:txBody>
      </p:sp>
      <p:sp>
        <p:nvSpPr>
          <p:cNvPr id="7" name="Content Placeholder 2">
            <a:extLst>
              <a:ext uri="{FF2B5EF4-FFF2-40B4-BE49-F238E27FC236}">
                <a16:creationId xmlns:a16="http://schemas.microsoft.com/office/drawing/2014/main" id="{0E8C1CD6-2915-4E52-B2FC-5BF85ECC76A0}"/>
              </a:ext>
            </a:extLst>
          </p:cNvPr>
          <p:cNvSpPr txBox="1">
            <a:spLocks/>
          </p:cNvSpPr>
          <p:nvPr/>
        </p:nvSpPr>
        <p:spPr>
          <a:xfrm>
            <a:off x="2895600" y="4495801"/>
            <a:ext cx="6934200" cy="1630363"/>
          </a:xfrm>
          <a:prstGeom prst="rect">
            <a:avLst/>
          </a:prstGeom>
        </p:spPr>
        <p:txBody>
          <a:bodyPr anchor="ctr"/>
          <a:lstStyle/>
          <a:p>
            <a:pPr marL="342900" indent="-342900">
              <a:defRPr/>
            </a:pPr>
            <a:r>
              <a:rPr lang="en-US" sz="2400" kern="0" dirty="0">
                <a:solidFill>
                  <a:srgbClr val="C00000"/>
                </a:solidFill>
              </a:rPr>
              <a:t>Treatment:</a:t>
            </a:r>
          </a:p>
          <a:p>
            <a:pPr marL="342900" indent="-342900">
              <a:buFontTx/>
              <a:buChar char="•"/>
              <a:defRPr/>
            </a:pPr>
            <a:r>
              <a:rPr lang="en-US" sz="2400" kern="0" dirty="0">
                <a:solidFill>
                  <a:srgbClr val="000099"/>
                </a:solidFill>
              </a:rPr>
              <a:t>Tab. Azithromycin 1g od, </a:t>
            </a:r>
            <a:r>
              <a:rPr lang="en-US" sz="2400" kern="0" dirty="0">
                <a:solidFill>
                  <a:srgbClr val="000099"/>
                </a:solidFill>
                <a:latin typeface="Arial"/>
              </a:rPr>
              <a:t>single dose</a:t>
            </a:r>
            <a:r>
              <a:rPr lang="en-US" sz="2400" kern="0" dirty="0">
                <a:solidFill>
                  <a:srgbClr val="000099"/>
                </a:solidFill>
              </a:rPr>
              <a:t> +</a:t>
            </a:r>
          </a:p>
          <a:p>
            <a:pPr marL="342900" indent="-342900">
              <a:buFontTx/>
              <a:buChar char="•"/>
              <a:defRPr/>
            </a:pPr>
            <a:r>
              <a:rPr lang="en-US" sz="2400" kern="0" dirty="0">
                <a:solidFill>
                  <a:srgbClr val="000099"/>
                </a:solidFill>
              </a:rPr>
              <a:t>Tab. </a:t>
            </a:r>
            <a:r>
              <a:rPr lang="en-US" sz="2400" kern="0" dirty="0" err="1">
                <a:solidFill>
                  <a:srgbClr val="000099"/>
                </a:solidFill>
              </a:rPr>
              <a:t>Cefixime</a:t>
            </a:r>
            <a:r>
              <a:rPr lang="en-US" sz="2400" kern="0" dirty="0">
                <a:solidFill>
                  <a:srgbClr val="000099"/>
                </a:solidFill>
              </a:rPr>
              <a:t> 400 mg </a:t>
            </a:r>
            <a:r>
              <a:rPr lang="en-US" sz="2400" kern="0" dirty="0" err="1">
                <a:solidFill>
                  <a:srgbClr val="000099"/>
                </a:solidFill>
              </a:rPr>
              <a:t>od</a:t>
            </a:r>
            <a:r>
              <a:rPr lang="en-US" sz="2400" kern="0" dirty="0">
                <a:solidFill>
                  <a:srgbClr val="000099"/>
                </a:solidFill>
              </a:rPr>
              <a:t>, </a:t>
            </a:r>
            <a:r>
              <a:rPr lang="en-US" sz="2400" kern="0" dirty="0">
                <a:solidFill>
                  <a:srgbClr val="000099"/>
                </a:solidFill>
                <a:latin typeface="Arial"/>
              </a:rPr>
              <a:t>single dose </a:t>
            </a:r>
            <a:endParaRPr lang="en-GB" sz="2400" kern="0" dirty="0">
              <a:solidFill>
                <a:srgbClr val="000099"/>
              </a:solidFill>
            </a:endParaRPr>
          </a:p>
        </p:txBody>
      </p:sp>
      <p:sp>
        <p:nvSpPr>
          <p:cNvPr id="48133" name="Picture 2">
            <a:extLst>
              <a:ext uri="{FF2B5EF4-FFF2-40B4-BE49-F238E27FC236}">
                <a16:creationId xmlns:a16="http://schemas.microsoft.com/office/drawing/2014/main" id="{B9E5CB56-7072-BE9C-B88D-2729426363BF}"/>
              </a:ext>
            </a:extLst>
          </p:cNvPr>
          <p:cNvSpPr>
            <a:spLocks noChangeAspect="1" noChangeArrowheads="1"/>
          </p:cNvSpPr>
          <p:nvPr/>
        </p:nvSpPr>
        <p:spPr bwMode="auto">
          <a:xfrm>
            <a:off x="1752600" y="1752600"/>
            <a:ext cx="28654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SzPct val="50000"/>
              <a:buBlip>
                <a:blip r:embed="rId3"/>
              </a:buBlip>
              <a:defRPr sz="2200" b="1">
                <a:solidFill>
                  <a:srgbClr val="0000A8"/>
                </a:solidFill>
                <a:latin typeface="Arial" panose="020B0604020202020204" pitchFamily="34" charset="0"/>
              </a:defRPr>
            </a:lvl1pPr>
            <a:lvl2pPr marL="742950" indent="-285750">
              <a:spcBef>
                <a:spcPts val="600"/>
              </a:spcBef>
              <a:spcAft>
                <a:spcPts val="600"/>
              </a:spcAft>
              <a:buSzPct val="50000"/>
              <a:buBlip>
                <a:blip r:embed="rId3"/>
              </a:buBlip>
              <a:defRPr sz="2200" b="1">
                <a:solidFill>
                  <a:srgbClr val="0000A8"/>
                </a:solidFill>
                <a:latin typeface="Arial" panose="020B0604020202020204" pitchFamily="34" charset="0"/>
              </a:defRPr>
            </a:lvl2pPr>
            <a:lvl3pPr marL="1143000" indent="-228600">
              <a:spcBef>
                <a:spcPts val="600"/>
              </a:spcBef>
              <a:spcAft>
                <a:spcPts val="600"/>
              </a:spcAft>
              <a:buSzPct val="50000"/>
              <a:buBlip>
                <a:blip r:embed="rId3"/>
              </a:buBlip>
              <a:defRPr sz="2000" b="1">
                <a:solidFill>
                  <a:srgbClr val="0000A8"/>
                </a:solidFill>
                <a:latin typeface="Arial" panose="020B0604020202020204" pitchFamily="34" charset="0"/>
              </a:defRPr>
            </a:lvl3pPr>
            <a:lvl4pPr marL="1600200" indent="-228600">
              <a:spcBef>
                <a:spcPts val="600"/>
              </a:spcBef>
              <a:spcAft>
                <a:spcPts val="600"/>
              </a:spcAft>
              <a:buSzPct val="50000"/>
              <a:buBlip>
                <a:blip r:embed="rId3"/>
              </a:buBlip>
              <a:defRPr sz="2000" b="1">
                <a:solidFill>
                  <a:srgbClr val="0000A8"/>
                </a:solidFill>
                <a:latin typeface="Arial" panose="020B0604020202020204" pitchFamily="34" charset="0"/>
              </a:defRPr>
            </a:lvl4pPr>
            <a:lvl5pPr marL="2057400" indent="-228600">
              <a:spcBef>
                <a:spcPts val="600"/>
              </a:spcBef>
              <a:spcAft>
                <a:spcPts val="600"/>
              </a:spcAft>
              <a:buSzPct val="50000"/>
              <a:buBlip>
                <a:blip r:embed="rId3"/>
              </a:buBlip>
              <a:defRPr sz="2000" b="1">
                <a:solidFill>
                  <a:srgbClr val="0000A8"/>
                </a:solidFill>
                <a:latin typeface="Arial" panose="020B0604020202020204" pitchFamily="34" charset="0"/>
              </a:defRPr>
            </a:lvl5pPr>
            <a:lvl6pPr marL="2514600" indent="-228600" eaLnBrk="0" fontAlgn="base" hangingPunct="0">
              <a:spcBef>
                <a:spcPts val="600"/>
              </a:spcBef>
              <a:spcAft>
                <a:spcPts val="600"/>
              </a:spcAft>
              <a:buSzPct val="50000"/>
              <a:buBlip>
                <a:blip r:embed="rId3"/>
              </a:buBlip>
              <a:defRPr sz="2000" b="1">
                <a:solidFill>
                  <a:srgbClr val="0000A8"/>
                </a:solidFill>
                <a:latin typeface="Arial" panose="020B0604020202020204" pitchFamily="34" charset="0"/>
              </a:defRPr>
            </a:lvl6pPr>
            <a:lvl7pPr marL="2971800" indent="-228600" eaLnBrk="0" fontAlgn="base" hangingPunct="0">
              <a:spcBef>
                <a:spcPts val="600"/>
              </a:spcBef>
              <a:spcAft>
                <a:spcPts val="600"/>
              </a:spcAft>
              <a:buSzPct val="50000"/>
              <a:buBlip>
                <a:blip r:embed="rId3"/>
              </a:buBlip>
              <a:defRPr sz="2000" b="1">
                <a:solidFill>
                  <a:srgbClr val="0000A8"/>
                </a:solidFill>
                <a:latin typeface="Arial" panose="020B0604020202020204" pitchFamily="34" charset="0"/>
              </a:defRPr>
            </a:lvl7pPr>
            <a:lvl8pPr marL="3429000" indent="-228600" eaLnBrk="0" fontAlgn="base" hangingPunct="0">
              <a:spcBef>
                <a:spcPts val="600"/>
              </a:spcBef>
              <a:spcAft>
                <a:spcPts val="600"/>
              </a:spcAft>
              <a:buSzPct val="50000"/>
              <a:buBlip>
                <a:blip r:embed="rId3"/>
              </a:buBlip>
              <a:defRPr sz="2000" b="1">
                <a:solidFill>
                  <a:srgbClr val="0000A8"/>
                </a:solidFill>
                <a:latin typeface="Arial" panose="020B0604020202020204" pitchFamily="34" charset="0"/>
              </a:defRPr>
            </a:lvl8pPr>
            <a:lvl9pPr marL="3886200" indent="-228600" eaLnBrk="0" fontAlgn="base" hangingPunct="0">
              <a:spcBef>
                <a:spcPts val="600"/>
              </a:spcBef>
              <a:spcAft>
                <a:spcPts val="600"/>
              </a:spcAft>
              <a:buSzPct val="50000"/>
              <a:buBlip>
                <a:blip r:embed="rId3"/>
              </a:buBlip>
              <a:defRPr sz="2000" b="1">
                <a:solidFill>
                  <a:srgbClr val="0000A8"/>
                </a:solidFill>
                <a:latin typeface="Arial" panose="020B0604020202020204" pitchFamily="34" charset="0"/>
              </a:defRPr>
            </a:lvl9pPr>
          </a:lstStyle>
          <a:p>
            <a:pPr eaLnBrk="1" hangingPunct="1">
              <a:spcBef>
                <a:spcPct val="0"/>
              </a:spcBef>
              <a:spcAft>
                <a:spcPct val="0"/>
              </a:spcAft>
              <a:buSzTx/>
              <a:buFontTx/>
              <a:buNone/>
            </a:pPr>
            <a:endParaRPr lang="en-GB" altLang="en-US" sz="2000">
              <a:solidFill>
                <a:srgbClr val="FF9900"/>
              </a:solidFill>
              <a:latin typeface="Book Antiqua" panose="02040602050305030304" pitchFamily="18" charset="0"/>
            </a:endParaRPr>
          </a:p>
        </p:txBody>
      </p:sp>
      <p:pic>
        <p:nvPicPr>
          <p:cNvPr id="48134" name="Picture 3">
            <a:extLst>
              <a:ext uri="{FF2B5EF4-FFF2-40B4-BE49-F238E27FC236}">
                <a16:creationId xmlns:a16="http://schemas.microsoft.com/office/drawing/2014/main" id="{C1B0A35D-43A5-DB56-99FA-2FBD2F97C7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1" y="1600200"/>
            <a:ext cx="23590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
            <a:extLst>
              <a:ext uri="{FF2B5EF4-FFF2-40B4-BE49-F238E27FC236}">
                <a16:creationId xmlns:a16="http://schemas.microsoft.com/office/drawing/2014/main" id="{D9359D84-5B8E-474F-A207-616ED483CB2A}"/>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26</a:t>
            </a:r>
          </a:p>
        </p:txBody>
      </p:sp>
      <p:pic>
        <p:nvPicPr>
          <p:cNvPr id="48136" name="Picture 2" descr="Signs of chlamydial cervicitis on speculum examina">
            <a:extLst>
              <a:ext uri="{FF2B5EF4-FFF2-40B4-BE49-F238E27FC236}">
                <a16:creationId xmlns:a16="http://schemas.microsoft.com/office/drawing/2014/main" id="{870E0DBC-8991-999B-DAF2-08849FB376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1053" t="27211" r="20001" b="18367"/>
          <a:stretch>
            <a:fillRect/>
          </a:stretch>
        </p:blipFill>
        <p:spPr bwMode="auto">
          <a:xfrm>
            <a:off x="1989138" y="1981200"/>
            <a:ext cx="2667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98122FA5-B49D-F57F-E4D0-E50BCB77A315}"/>
              </a:ext>
            </a:extLst>
          </p:cNvPr>
          <p:cNvSpPr>
            <a:spLocks noGrp="1" noChangeArrowheads="1"/>
          </p:cNvSpPr>
          <p:nvPr>
            <p:ph type="title"/>
          </p:nvPr>
        </p:nvSpPr>
        <p:spPr/>
        <p:txBody>
          <a:bodyPr/>
          <a:lstStyle/>
          <a:p>
            <a:r>
              <a:rPr lang="en-US" altLang="en-US"/>
              <a:t>Painful Scrotal Swelling</a:t>
            </a:r>
            <a:endParaRPr lang="en-GB" altLang="en-US">
              <a:solidFill>
                <a:srgbClr val="000099"/>
              </a:solidFill>
            </a:endParaRPr>
          </a:p>
        </p:txBody>
      </p:sp>
      <p:sp>
        <p:nvSpPr>
          <p:cNvPr id="5" name="Content Placeholder 2">
            <a:extLst>
              <a:ext uri="{FF2B5EF4-FFF2-40B4-BE49-F238E27FC236}">
                <a16:creationId xmlns:a16="http://schemas.microsoft.com/office/drawing/2014/main" id="{3DAF4CD9-7EB3-4685-9C67-DFB4F185978B}"/>
              </a:ext>
            </a:extLst>
          </p:cNvPr>
          <p:cNvSpPr txBox="1">
            <a:spLocks/>
          </p:cNvSpPr>
          <p:nvPr/>
        </p:nvSpPr>
        <p:spPr>
          <a:xfrm>
            <a:off x="4648200" y="1600200"/>
            <a:ext cx="3505200" cy="3200400"/>
          </a:xfrm>
          <a:prstGeom prst="rect">
            <a:avLst/>
          </a:prstGeom>
        </p:spPr>
        <p:txBody>
          <a:bodyPr/>
          <a:lstStyle/>
          <a:p>
            <a:pPr marL="342900" indent="-342900">
              <a:spcBef>
                <a:spcPts val="1200"/>
              </a:spcBef>
              <a:spcAft>
                <a:spcPts val="600"/>
              </a:spcAft>
              <a:buFontTx/>
              <a:buChar char="•"/>
              <a:defRPr/>
            </a:pPr>
            <a:r>
              <a:rPr lang="en-US" sz="2200" kern="0" dirty="0">
                <a:solidFill>
                  <a:srgbClr val="003300"/>
                </a:solidFill>
              </a:rPr>
              <a:t>Swelling and pain in the scrotal swelling</a:t>
            </a:r>
          </a:p>
          <a:p>
            <a:pPr marL="342900" indent="-342900">
              <a:spcBef>
                <a:spcPts val="1200"/>
              </a:spcBef>
              <a:spcAft>
                <a:spcPts val="600"/>
              </a:spcAft>
              <a:buFontTx/>
              <a:buChar char="•"/>
              <a:defRPr/>
            </a:pPr>
            <a:r>
              <a:rPr lang="en-US" sz="2200" kern="0" dirty="0">
                <a:solidFill>
                  <a:srgbClr val="003300"/>
                </a:solidFill>
              </a:rPr>
              <a:t>Pain or burning         while passing urine</a:t>
            </a:r>
          </a:p>
          <a:p>
            <a:pPr marL="342900" indent="-342900">
              <a:spcBef>
                <a:spcPts val="1200"/>
              </a:spcBef>
              <a:spcAft>
                <a:spcPts val="600"/>
              </a:spcAft>
              <a:buFontTx/>
              <a:buChar char="•"/>
              <a:defRPr/>
            </a:pPr>
            <a:r>
              <a:rPr lang="en-US" sz="2200" kern="0" dirty="0">
                <a:solidFill>
                  <a:srgbClr val="003300"/>
                </a:solidFill>
              </a:rPr>
              <a:t>Systemic symptoms like malaise, fever</a:t>
            </a:r>
          </a:p>
          <a:p>
            <a:pPr marL="342900" indent="-342900">
              <a:spcBef>
                <a:spcPts val="1200"/>
              </a:spcBef>
              <a:spcAft>
                <a:spcPts val="600"/>
              </a:spcAft>
              <a:buFontTx/>
              <a:buChar char="•"/>
              <a:defRPr/>
            </a:pPr>
            <a:r>
              <a:rPr lang="en-US" sz="2200" kern="0" dirty="0">
                <a:solidFill>
                  <a:srgbClr val="003300"/>
                </a:solidFill>
              </a:rPr>
              <a:t>History of urethral discharge</a:t>
            </a:r>
          </a:p>
          <a:p>
            <a:pPr marL="342900" indent="-342900">
              <a:spcBef>
                <a:spcPts val="1200"/>
              </a:spcBef>
              <a:spcAft>
                <a:spcPts val="600"/>
              </a:spcAft>
              <a:buFontTx/>
              <a:buChar char="•"/>
              <a:defRPr/>
            </a:pPr>
            <a:endParaRPr lang="en-GB" sz="2200" kern="0" dirty="0">
              <a:solidFill>
                <a:srgbClr val="0000A8"/>
              </a:solidFill>
            </a:endParaRPr>
          </a:p>
        </p:txBody>
      </p:sp>
      <p:sp>
        <p:nvSpPr>
          <p:cNvPr id="7" name="Content Placeholder 2">
            <a:extLst>
              <a:ext uri="{FF2B5EF4-FFF2-40B4-BE49-F238E27FC236}">
                <a16:creationId xmlns:a16="http://schemas.microsoft.com/office/drawing/2014/main" id="{F141B07C-851E-4DBB-A193-05BB6B756ADE}"/>
              </a:ext>
            </a:extLst>
          </p:cNvPr>
          <p:cNvSpPr txBox="1">
            <a:spLocks/>
          </p:cNvSpPr>
          <p:nvPr/>
        </p:nvSpPr>
        <p:spPr>
          <a:xfrm>
            <a:off x="2895600" y="4694238"/>
            <a:ext cx="6934200" cy="1630362"/>
          </a:xfrm>
          <a:prstGeom prst="rect">
            <a:avLst/>
          </a:prstGeom>
        </p:spPr>
        <p:txBody>
          <a:bodyPr anchor="ctr"/>
          <a:lstStyle/>
          <a:p>
            <a:pPr marL="342900" indent="-342900">
              <a:defRPr/>
            </a:pPr>
            <a:r>
              <a:rPr lang="en-US" sz="2400" kern="0" dirty="0">
                <a:solidFill>
                  <a:srgbClr val="C00000"/>
                </a:solidFill>
              </a:rPr>
              <a:t>Treatment:</a:t>
            </a:r>
          </a:p>
          <a:p>
            <a:pPr marL="342900" indent="-342900">
              <a:buFontTx/>
              <a:buChar char="•"/>
              <a:defRPr/>
            </a:pPr>
            <a:r>
              <a:rPr lang="en-US" sz="2400" kern="0" dirty="0">
                <a:solidFill>
                  <a:srgbClr val="0000A8"/>
                </a:solidFill>
              </a:rPr>
              <a:t>Tab. Azithromycin 1g od, single dose +</a:t>
            </a:r>
          </a:p>
          <a:p>
            <a:pPr marL="342900" indent="-342900">
              <a:buFontTx/>
              <a:buChar char="•"/>
              <a:defRPr/>
            </a:pPr>
            <a:r>
              <a:rPr lang="en-US" sz="2400" kern="0" dirty="0">
                <a:solidFill>
                  <a:srgbClr val="0000A8"/>
                </a:solidFill>
              </a:rPr>
              <a:t>Tab. </a:t>
            </a:r>
            <a:r>
              <a:rPr lang="en-US" sz="2400" kern="0" dirty="0" err="1">
                <a:solidFill>
                  <a:srgbClr val="0000A8"/>
                </a:solidFill>
              </a:rPr>
              <a:t>Cefixime</a:t>
            </a:r>
            <a:r>
              <a:rPr lang="en-US" sz="2400" kern="0" dirty="0">
                <a:solidFill>
                  <a:srgbClr val="0000A8"/>
                </a:solidFill>
              </a:rPr>
              <a:t> 400 mg </a:t>
            </a:r>
            <a:r>
              <a:rPr lang="en-US" sz="2400" kern="0" dirty="0" err="1">
                <a:solidFill>
                  <a:srgbClr val="0000A8"/>
                </a:solidFill>
              </a:rPr>
              <a:t>od</a:t>
            </a:r>
            <a:r>
              <a:rPr lang="en-US" sz="2400" kern="0" dirty="0">
                <a:solidFill>
                  <a:srgbClr val="0000A8"/>
                </a:solidFill>
              </a:rPr>
              <a:t>, single dose </a:t>
            </a:r>
            <a:endParaRPr lang="en-GB" sz="2400" kern="0" dirty="0">
              <a:solidFill>
                <a:srgbClr val="0000A8"/>
              </a:solidFill>
            </a:endParaRPr>
          </a:p>
        </p:txBody>
      </p:sp>
      <p:pic>
        <p:nvPicPr>
          <p:cNvPr id="50181" name="Picture 3">
            <a:extLst>
              <a:ext uri="{FF2B5EF4-FFF2-40B4-BE49-F238E27FC236}">
                <a16:creationId xmlns:a16="http://schemas.microsoft.com/office/drawing/2014/main" id="{41F18522-75FB-1C9D-9428-9088C2D00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1" y="1600200"/>
            <a:ext cx="23590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12">
            <a:extLst>
              <a:ext uri="{FF2B5EF4-FFF2-40B4-BE49-F238E27FC236}">
                <a16:creationId xmlns:a16="http://schemas.microsoft.com/office/drawing/2014/main" id="{FA3C4423-2FFA-DE5B-2A37-A7B5AA6F41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595438"/>
            <a:ext cx="2909888" cy="274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
            <a:extLst>
              <a:ext uri="{FF2B5EF4-FFF2-40B4-BE49-F238E27FC236}">
                <a16:creationId xmlns:a16="http://schemas.microsoft.com/office/drawing/2014/main" id="{A92374E1-3159-4687-9B07-143E70FD68A0}"/>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27</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3">
            <a:extLst>
              <a:ext uri="{FF2B5EF4-FFF2-40B4-BE49-F238E27FC236}">
                <a16:creationId xmlns:a16="http://schemas.microsoft.com/office/drawing/2014/main" id="{868A0AC7-8599-04EA-7BEF-177245A10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6713" y="1601789"/>
            <a:ext cx="236220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Title 1">
            <a:extLst>
              <a:ext uri="{FF2B5EF4-FFF2-40B4-BE49-F238E27FC236}">
                <a16:creationId xmlns:a16="http://schemas.microsoft.com/office/drawing/2014/main" id="{379C4850-7ECB-4693-00BF-3CBF2EC66351}"/>
              </a:ext>
            </a:extLst>
          </p:cNvPr>
          <p:cNvSpPr>
            <a:spLocks noGrp="1" noChangeArrowheads="1"/>
          </p:cNvSpPr>
          <p:nvPr>
            <p:ph type="title"/>
          </p:nvPr>
        </p:nvSpPr>
        <p:spPr/>
        <p:txBody>
          <a:bodyPr/>
          <a:lstStyle/>
          <a:p>
            <a:r>
              <a:rPr lang="en-US" altLang="en-US"/>
              <a:t>Vaginal Discharge Syndrome</a:t>
            </a:r>
            <a:endParaRPr lang="en-GB" altLang="en-US"/>
          </a:p>
        </p:txBody>
      </p:sp>
      <p:sp>
        <p:nvSpPr>
          <p:cNvPr id="5" name="Content Placeholder 2">
            <a:extLst>
              <a:ext uri="{FF2B5EF4-FFF2-40B4-BE49-F238E27FC236}">
                <a16:creationId xmlns:a16="http://schemas.microsoft.com/office/drawing/2014/main" id="{5D36926B-4363-4756-9077-02CC50132897}"/>
              </a:ext>
            </a:extLst>
          </p:cNvPr>
          <p:cNvSpPr txBox="1">
            <a:spLocks/>
          </p:cNvSpPr>
          <p:nvPr/>
        </p:nvSpPr>
        <p:spPr>
          <a:xfrm>
            <a:off x="4495800" y="1752600"/>
            <a:ext cx="3505200" cy="3048000"/>
          </a:xfrm>
          <a:prstGeom prst="rect">
            <a:avLst/>
          </a:prstGeom>
        </p:spPr>
        <p:txBody>
          <a:bodyPr/>
          <a:lstStyle/>
          <a:p>
            <a:pPr marL="342900" indent="-342900">
              <a:spcBef>
                <a:spcPct val="20000"/>
              </a:spcBef>
              <a:buSzPct val="50000"/>
              <a:buBlip>
                <a:blip r:embed="rId4"/>
              </a:buBlip>
              <a:defRPr/>
            </a:pPr>
            <a:r>
              <a:rPr lang="en-US" sz="2200" kern="0" dirty="0">
                <a:solidFill>
                  <a:srgbClr val="003300"/>
                </a:solidFill>
              </a:rPr>
              <a:t>Vaginal discharge- cheese white</a:t>
            </a:r>
          </a:p>
          <a:p>
            <a:pPr marL="342900" indent="-342900">
              <a:spcBef>
                <a:spcPct val="20000"/>
              </a:spcBef>
              <a:buSzPct val="50000"/>
              <a:buBlip>
                <a:blip r:embed="rId4"/>
              </a:buBlip>
              <a:defRPr/>
            </a:pPr>
            <a:r>
              <a:rPr lang="en-US" sz="2200" kern="0" dirty="0">
                <a:solidFill>
                  <a:srgbClr val="003300"/>
                </a:solidFill>
              </a:rPr>
              <a:t>Nature and type of discharge: quantity, colour, odour</a:t>
            </a:r>
          </a:p>
          <a:p>
            <a:pPr marL="342900" indent="-342900">
              <a:spcBef>
                <a:spcPct val="20000"/>
              </a:spcBef>
              <a:buSzPct val="50000"/>
              <a:buBlip>
                <a:blip r:embed="rId4"/>
              </a:buBlip>
              <a:defRPr/>
            </a:pPr>
            <a:r>
              <a:rPr lang="en-US" sz="2200" kern="0" dirty="0">
                <a:solidFill>
                  <a:srgbClr val="003300"/>
                </a:solidFill>
              </a:rPr>
              <a:t>Itching around genitalia</a:t>
            </a:r>
          </a:p>
          <a:p>
            <a:pPr marL="342900" indent="-342900">
              <a:spcBef>
                <a:spcPct val="20000"/>
              </a:spcBef>
              <a:buSzPct val="50000"/>
              <a:buBlip>
                <a:blip r:embed="rId4"/>
              </a:buBlip>
              <a:defRPr/>
            </a:pPr>
            <a:endParaRPr lang="en-GB" sz="2200" kern="0" dirty="0">
              <a:solidFill>
                <a:srgbClr val="003300"/>
              </a:solidFill>
            </a:endParaRPr>
          </a:p>
        </p:txBody>
      </p:sp>
      <p:sp>
        <p:nvSpPr>
          <p:cNvPr id="7" name="Content Placeholder 2">
            <a:extLst>
              <a:ext uri="{FF2B5EF4-FFF2-40B4-BE49-F238E27FC236}">
                <a16:creationId xmlns:a16="http://schemas.microsoft.com/office/drawing/2014/main" id="{6C114384-1550-4F7C-9FE0-A0A2348E2ED3}"/>
              </a:ext>
            </a:extLst>
          </p:cNvPr>
          <p:cNvSpPr txBox="1">
            <a:spLocks/>
          </p:cNvSpPr>
          <p:nvPr/>
        </p:nvSpPr>
        <p:spPr>
          <a:xfrm>
            <a:off x="2895600" y="4846638"/>
            <a:ext cx="6934200" cy="1401762"/>
          </a:xfrm>
          <a:prstGeom prst="rect">
            <a:avLst/>
          </a:prstGeom>
        </p:spPr>
        <p:txBody>
          <a:bodyPr anchor="ctr"/>
          <a:lstStyle/>
          <a:p>
            <a:pPr marL="342900" indent="-342900">
              <a:defRPr/>
            </a:pPr>
            <a:r>
              <a:rPr lang="en-US" sz="2400" kern="0" dirty="0">
                <a:solidFill>
                  <a:srgbClr val="C00000"/>
                </a:solidFill>
              </a:rPr>
              <a:t>Treatment:</a:t>
            </a:r>
          </a:p>
          <a:p>
            <a:pPr marL="342900" indent="-342900">
              <a:buSzPct val="50000"/>
              <a:buBlip>
                <a:blip r:embed="rId4"/>
              </a:buBlip>
              <a:defRPr/>
            </a:pPr>
            <a:r>
              <a:rPr lang="en-US" sz="2400" kern="0" dirty="0">
                <a:solidFill>
                  <a:srgbClr val="0000A8"/>
                </a:solidFill>
              </a:rPr>
              <a:t>Tab. </a:t>
            </a:r>
            <a:r>
              <a:rPr lang="en-US" sz="2400" kern="0" dirty="0" err="1">
                <a:solidFill>
                  <a:srgbClr val="0000A8"/>
                </a:solidFill>
              </a:rPr>
              <a:t>Secnidazole</a:t>
            </a:r>
            <a:r>
              <a:rPr lang="en-US" sz="2400" kern="0" dirty="0">
                <a:solidFill>
                  <a:srgbClr val="0000A8"/>
                </a:solidFill>
              </a:rPr>
              <a:t> 2g OD, single dose +</a:t>
            </a:r>
          </a:p>
          <a:p>
            <a:pPr marL="342900" indent="-342900">
              <a:buSzPct val="50000"/>
              <a:buBlip>
                <a:blip r:embed="rId4"/>
              </a:buBlip>
              <a:defRPr/>
            </a:pPr>
            <a:r>
              <a:rPr lang="en-US" sz="2400" kern="0" dirty="0">
                <a:solidFill>
                  <a:srgbClr val="0000A8"/>
                </a:solidFill>
              </a:rPr>
              <a:t>Tab. Fluconazole 150 mg OD, single dose </a:t>
            </a:r>
            <a:endParaRPr lang="en-GB" sz="2400" kern="0" dirty="0">
              <a:solidFill>
                <a:srgbClr val="0000A8"/>
              </a:solidFill>
            </a:endParaRPr>
          </a:p>
        </p:txBody>
      </p:sp>
      <p:pic>
        <p:nvPicPr>
          <p:cNvPr id="52230" name="Picture 2">
            <a:extLst>
              <a:ext uri="{FF2B5EF4-FFF2-40B4-BE49-F238E27FC236}">
                <a16:creationId xmlns:a16="http://schemas.microsoft.com/office/drawing/2014/main" id="{C3A44394-FE5C-51CA-BF93-5567C96797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1" y="1524001"/>
            <a:ext cx="2562225" cy="3248025"/>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pic>
      <p:sp>
        <p:nvSpPr>
          <p:cNvPr id="8" name="TextBox 3">
            <a:extLst>
              <a:ext uri="{FF2B5EF4-FFF2-40B4-BE49-F238E27FC236}">
                <a16:creationId xmlns:a16="http://schemas.microsoft.com/office/drawing/2014/main" id="{C3AAE3A2-3597-48EB-AE37-D1DD5FD2C6F2}"/>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28</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11B79712-7595-52F3-55E4-1851B38EB549}"/>
              </a:ext>
            </a:extLst>
          </p:cNvPr>
          <p:cNvSpPr>
            <a:spLocks noGrp="1" noChangeArrowheads="1"/>
          </p:cNvSpPr>
          <p:nvPr>
            <p:ph type="title"/>
          </p:nvPr>
        </p:nvSpPr>
        <p:spPr/>
        <p:txBody>
          <a:bodyPr/>
          <a:lstStyle/>
          <a:p>
            <a:r>
              <a:rPr lang="en-US" altLang="en-US"/>
              <a:t>Genital ulcer: Non Herpetic</a:t>
            </a:r>
            <a:endParaRPr lang="en-GB" altLang="en-US">
              <a:solidFill>
                <a:srgbClr val="000099"/>
              </a:solidFill>
            </a:endParaRPr>
          </a:p>
        </p:txBody>
      </p:sp>
      <p:sp>
        <p:nvSpPr>
          <p:cNvPr id="5" name="Content Placeholder 2">
            <a:extLst>
              <a:ext uri="{FF2B5EF4-FFF2-40B4-BE49-F238E27FC236}">
                <a16:creationId xmlns:a16="http://schemas.microsoft.com/office/drawing/2014/main" id="{56D6E59B-C2C4-4A91-8DD9-33A85777DB74}"/>
              </a:ext>
            </a:extLst>
          </p:cNvPr>
          <p:cNvSpPr txBox="1">
            <a:spLocks/>
          </p:cNvSpPr>
          <p:nvPr/>
        </p:nvSpPr>
        <p:spPr>
          <a:xfrm>
            <a:off x="4267200" y="1493838"/>
            <a:ext cx="4419600" cy="2697162"/>
          </a:xfrm>
          <a:prstGeom prst="rect">
            <a:avLst/>
          </a:prstGeom>
        </p:spPr>
        <p:txBody>
          <a:bodyPr/>
          <a:lstStyle/>
          <a:p>
            <a:pPr marL="342900" indent="-342900">
              <a:spcBef>
                <a:spcPts val="1200"/>
              </a:spcBef>
              <a:buSzPct val="50000"/>
              <a:buBlip>
                <a:blip r:embed="rId3"/>
              </a:buBlip>
              <a:defRPr/>
            </a:pPr>
            <a:r>
              <a:rPr lang="en-US" kern="0" dirty="0">
                <a:solidFill>
                  <a:srgbClr val="003300"/>
                </a:solidFill>
              </a:rPr>
              <a:t>Genital Ulcer; single or multiple; painful or painless</a:t>
            </a:r>
          </a:p>
          <a:p>
            <a:pPr marL="342900" indent="-342900">
              <a:spcBef>
                <a:spcPts val="1200"/>
              </a:spcBef>
              <a:buSzPct val="50000"/>
              <a:buBlip>
                <a:blip r:embed="rId3"/>
              </a:buBlip>
              <a:defRPr/>
            </a:pPr>
            <a:r>
              <a:rPr lang="en-US" kern="0" dirty="0">
                <a:solidFill>
                  <a:srgbClr val="003300"/>
                </a:solidFill>
              </a:rPr>
              <a:t>Burning sensation in the genital area</a:t>
            </a:r>
          </a:p>
          <a:p>
            <a:pPr marL="342900" indent="-342900">
              <a:spcBef>
                <a:spcPts val="1200"/>
              </a:spcBef>
              <a:buSzPct val="50000"/>
              <a:buBlip>
                <a:blip r:embed="rId3"/>
              </a:buBlip>
              <a:defRPr/>
            </a:pPr>
            <a:r>
              <a:rPr lang="en-US" kern="0" dirty="0">
                <a:solidFill>
                  <a:srgbClr val="003300"/>
                </a:solidFill>
              </a:rPr>
              <a:t>Burning sensation in the genital area</a:t>
            </a:r>
          </a:p>
          <a:p>
            <a:pPr marL="342900" indent="-342900">
              <a:spcBef>
                <a:spcPts val="1200"/>
              </a:spcBef>
              <a:buSzPct val="50000"/>
              <a:buBlip>
                <a:blip r:embed="rId3"/>
              </a:buBlip>
              <a:defRPr/>
            </a:pPr>
            <a:r>
              <a:rPr lang="en-US" kern="0" dirty="0">
                <a:solidFill>
                  <a:srgbClr val="003300"/>
                </a:solidFill>
              </a:rPr>
              <a:t>Enlarged lymph</a:t>
            </a:r>
          </a:p>
          <a:p>
            <a:pPr marL="342900" indent="-342900">
              <a:spcBef>
                <a:spcPts val="1200"/>
              </a:spcBef>
              <a:buSzPct val="50000"/>
              <a:buBlip>
                <a:blip r:embed="rId3"/>
              </a:buBlip>
              <a:defRPr/>
            </a:pPr>
            <a:endParaRPr lang="en-GB" kern="0" dirty="0">
              <a:solidFill>
                <a:srgbClr val="0000A8"/>
              </a:solidFill>
            </a:endParaRPr>
          </a:p>
        </p:txBody>
      </p:sp>
      <p:sp>
        <p:nvSpPr>
          <p:cNvPr id="7" name="Content Placeholder 2">
            <a:extLst>
              <a:ext uri="{FF2B5EF4-FFF2-40B4-BE49-F238E27FC236}">
                <a16:creationId xmlns:a16="http://schemas.microsoft.com/office/drawing/2014/main" id="{FE4C14E6-487D-47A3-AB12-148C2A9E9A4D}"/>
              </a:ext>
            </a:extLst>
          </p:cNvPr>
          <p:cNvSpPr txBox="1">
            <a:spLocks/>
          </p:cNvSpPr>
          <p:nvPr/>
        </p:nvSpPr>
        <p:spPr>
          <a:xfrm>
            <a:off x="4192588" y="4114801"/>
            <a:ext cx="5332412" cy="2244725"/>
          </a:xfrm>
          <a:prstGeom prst="rect">
            <a:avLst/>
          </a:prstGeom>
        </p:spPr>
        <p:txBody>
          <a:bodyPr anchor="ctr"/>
          <a:lstStyle/>
          <a:p>
            <a:pPr marL="342900" indent="-342900">
              <a:defRPr/>
            </a:pPr>
            <a:r>
              <a:rPr lang="en-US" sz="2400" kern="0" dirty="0">
                <a:solidFill>
                  <a:srgbClr val="C00000"/>
                </a:solidFill>
              </a:rPr>
              <a:t>Treatment:</a:t>
            </a:r>
          </a:p>
          <a:p>
            <a:pPr marL="342900" indent="-342900">
              <a:buSzPct val="50000"/>
              <a:buBlip>
                <a:blip r:embed="rId3"/>
              </a:buBlip>
              <a:defRPr/>
            </a:pPr>
            <a:r>
              <a:rPr lang="en-US" kern="0" dirty="0">
                <a:solidFill>
                  <a:srgbClr val="000099"/>
                </a:solidFill>
              </a:rPr>
              <a:t>Inj. </a:t>
            </a:r>
            <a:r>
              <a:rPr lang="en-US" kern="0" dirty="0" err="1">
                <a:solidFill>
                  <a:srgbClr val="000099"/>
                </a:solidFill>
              </a:rPr>
              <a:t>Benzathine</a:t>
            </a:r>
            <a:r>
              <a:rPr lang="en-US" kern="0" dirty="0">
                <a:solidFill>
                  <a:srgbClr val="000099"/>
                </a:solidFill>
              </a:rPr>
              <a:t> Penicillin 2.4 MU + </a:t>
            </a:r>
          </a:p>
          <a:p>
            <a:pPr marL="342900" indent="-342900">
              <a:spcBef>
                <a:spcPts val="600"/>
              </a:spcBef>
              <a:spcAft>
                <a:spcPts val="600"/>
              </a:spcAft>
              <a:buSzPct val="50000"/>
              <a:defRPr/>
            </a:pPr>
            <a:r>
              <a:rPr lang="en-US" kern="0" dirty="0">
                <a:solidFill>
                  <a:srgbClr val="000099"/>
                </a:solidFill>
              </a:rPr>
              <a:t>	Tab. Azithromycin 1gm </a:t>
            </a:r>
            <a:r>
              <a:rPr lang="en-US" kern="0" dirty="0" err="1">
                <a:solidFill>
                  <a:srgbClr val="000099"/>
                </a:solidFill>
              </a:rPr>
              <a:t>od</a:t>
            </a:r>
            <a:r>
              <a:rPr lang="en-US" kern="0" dirty="0">
                <a:solidFill>
                  <a:srgbClr val="000099"/>
                </a:solidFill>
              </a:rPr>
              <a:t>, single             dose   </a:t>
            </a:r>
            <a:r>
              <a:rPr lang="en-US" kern="0" dirty="0">
                <a:solidFill>
                  <a:srgbClr val="C00000"/>
                </a:solidFill>
              </a:rPr>
              <a:t>(OR)</a:t>
            </a:r>
          </a:p>
          <a:p>
            <a:pPr marL="342900" indent="-342900">
              <a:buSzPct val="50000"/>
              <a:buBlip>
                <a:blip r:embed="rId3"/>
              </a:buBlip>
              <a:defRPr/>
            </a:pPr>
            <a:r>
              <a:rPr lang="en-US" kern="0" dirty="0" err="1">
                <a:solidFill>
                  <a:srgbClr val="000099"/>
                </a:solidFill>
              </a:rPr>
              <a:t>Doxycycline</a:t>
            </a:r>
            <a:r>
              <a:rPr lang="en-US" kern="0" dirty="0">
                <a:solidFill>
                  <a:srgbClr val="000099"/>
                </a:solidFill>
              </a:rPr>
              <a:t> 100 mg bid X 15 days + Tab. Azithromycin 1g od, single dose </a:t>
            </a:r>
            <a:endParaRPr lang="en-GB" kern="0" dirty="0">
              <a:solidFill>
                <a:srgbClr val="000099"/>
              </a:solidFill>
            </a:endParaRPr>
          </a:p>
        </p:txBody>
      </p:sp>
      <p:pic>
        <p:nvPicPr>
          <p:cNvPr id="54277" name="Picture 2">
            <a:extLst>
              <a:ext uri="{FF2B5EF4-FFF2-40B4-BE49-F238E27FC236}">
                <a16:creationId xmlns:a16="http://schemas.microsoft.com/office/drawing/2014/main" id="{0108AD37-E0AD-99F0-071A-94BDFD09D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0850" y="1543050"/>
            <a:ext cx="247650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3">
            <a:extLst>
              <a:ext uri="{FF2B5EF4-FFF2-40B4-BE49-F238E27FC236}">
                <a16:creationId xmlns:a16="http://schemas.microsoft.com/office/drawing/2014/main" id="{0B44FD86-33C6-5071-A38C-29C4E6D301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0850" y="3883026"/>
            <a:ext cx="24701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4" name="Picture 4">
            <a:extLst>
              <a:ext uri="{FF2B5EF4-FFF2-40B4-BE49-F238E27FC236}">
                <a16:creationId xmlns:a16="http://schemas.microsoft.com/office/drawing/2014/main" id="{B9171558-90A8-475E-A56E-05A713BAFB9E}"/>
              </a:ext>
            </a:extLst>
          </p:cNvPr>
          <p:cNvPicPr>
            <a:picLocks noChangeAspect="1" noChangeArrowheads="1"/>
          </p:cNvPicPr>
          <p:nvPr/>
        </p:nvPicPr>
        <p:blipFill>
          <a:blip r:embed="rId6"/>
          <a:srcRect/>
          <a:stretch>
            <a:fillRect/>
          </a:stretch>
        </p:blipFill>
        <p:spPr bwMode="auto">
          <a:xfrm>
            <a:off x="8832851" y="1447800"/>
            <a:ext cx="1617663" cy="2103438"/>
          </a:xfrm>
          <a:prstGeom prst="rect">
            <a:avLst/>
          </a:prstGeom>
          <a:noFill/>
          <a:ln w="9525">
            <a:solidFill>
              <a:schemeClr val="tx1">
                <a:lumMod val="50000"/>
                <a:lumOff val="50000"/>
              </a:schemeClr>
            </a:solidFill>
            <a:miter lim="800000"/>
            <a:headEnd/>
            <a:tailEnd/>
          </a:ln>
          <a:effectLst/>
        </p:spPr>
      </p:pic>
      <p:pic>
        <p:nvPicPr>
          <p:cNvPr id="54280" name="Picture 5">
            <a:extLst>
              <a:ext uri="{FF2B5EF4-FFF2-40B4-BE49-F238E27FC236}">
                <a16:creationId xmlns:a16="http://schemas.microsoft.com/office/drawing/2014/main" id="{2C902F1F-40D8-CC88-D02B-1C24C5004F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16975" y="3581400"/>
            <a:ext cx="168275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3">
            <a:extLst>
              <a:ext uri="{FF2B5EF4-FFF2-40B4-BE49-F238E27FC236}">
                <a16:creationId xmlns:a16="http://schemas.microsoft.com/office/drawing/2014/main" id="{0AB34A42-A98F-44A5-8A80-C6BD2D3D3C70}"/>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29</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FAA4531-6422-443E-B601-9E49694415DE}"/>
              </a:ext>
            </a:extLst>
          </p:cNvPr>
          <p:cNvSpPr txBox="1">
            <a:spLocks/>
          </p:cNvSpPr>
          <p:nvPr/>
        </p:nvSpPr>
        <p:spPr>
          <a:xfrm>
            <a:off x="4648200" y="1752600"/>
            <a:ext cx="3505200" cy="2895600"/>
          </a:xfrm>
          <a:prstGeom prst="rect">
            <a:avLst/>
          </a:prstGeom>
        </p:spPr>
        <p:txBody>
          <a:bodyPr/>
          <a:lstStyle/>
          <a:p>
            <a:pPr marL="342900" indent="-342900">
              <a:spcBef>
                <a:spcPts val="1200"/>
              </a:spcBef>
              <a:spcAft>
                <a:spcPts val="600"/>
              </a:spcAft>
              <a:buSzPct val="50000"/>
              <a:buBlip>
                <a:blip r:embed="rId3"/>
              </a:buBlip>
              <a:defRPr/>
            </a:pPr>
            <a:r>
              <a:rPr lang="en-US" sz="2200" kern="0" dirty="0"/>
              <a:t>Eruption of vesicles, painful, multiple genital ulcer</a:t>
            </a:r>
          </a:p>
          <a:p>
            <a:pPr marL="342900" indent="-342900">
              <a:spcBef>
                <a:spcPts val="1200"/>
              </a:spcBef>
              <a:spcAft>
                <a:spcPts val="600"/>
              </a:spcAft>
              <a:buSzPct val="50000"/>
              <a:buBlip>
                <a:blip r:embed="rId3"/>
              </a:buBlip>
              <a:defRPr/>
            </a:pPr>
            <a:r>
              <a:rPr lang="en-US" sz="2200" kern="0" dirty="0"/>
              <a:t>Burning sensation in the genital area</a:t>
            </a:r>
          </a:p>
          <a:p>
            <a:pPr marL="342900" indent="-342900">
              <a:spcBef>
                <a:spcPts val="1200"/>
              </a:spcBef>
              <a:spcAft>
                <a:spcPts val="600"/>
              </a:spcAft>
              <a:buSzPct val="50000"/>
              <a:buBlip>
                <a:blip r:embed="rId3"/>
              </a:buBlip>
              <a:defRPr/>
            </a:pPr>
            <a:r>
              <a:rPr lang="en-US" sz="2200" kern="0" dirty="0"/>
              <a:t>Recurrence</a:t>
            </a:r>
            <a:endParaRPr lang="en-GB" sz="2200" kern="0" dirty="0">
              <a:solidFill>
                <a:srgbClr val="0000A8"/>
              </a:solidFill>
            </a:endParaRPr>
          </a:p>
        </p:txBody>
      </p:sp>
      <p:sp>
        <p:nvSpPr>
          <p:cNvPr id="7" name="Content Placeholder 2">
            <a:extLst>
              <a:ext uri="{FF2B5EF4-FFF2-40B4-BE49-F238E27FC236}">
                <a16:creationId xmlns:a16="http://schemas.microsoft.com/office/drawing/2014/main" id="{7F41A4E5-9007-4BCE-82D0-03C4ACDEFD89}"/>
              </a:ext>
            </a:extLst>
          </p:cNvPr>
          <p:cNvSpPr txBox="1">
            <a:spLocks/>
          </p:cNvSpPr>
          <p:nvPr/>
        </p:nvSpPr>
        <p:spPr>
          <a:xfrm>
            <a:off x="2895600" y="4495801"/>
            <a:ext cx="6934200" cy="1630363"/>
          </a:xfrm>
          <a:prstGeom prst="rect">
            <a:avLst/>
          </a:prstGeom>
        </p:spPr>
        <p:txBody>
          <a:bodyPr anchor="ctr"/>
          <a:lstStyle/>
          <a:p>
            <a:pPr marL="342900" indent="-342900">
              <a:spcBef>
                <a:spcPts val="1200"/>
              </a:spcBef>
              <a:defRPr/>
            </a:pPr>
            <a:r>
              <a:rPr lang="en-US" sz="2400" kern="0" dirty="0">
                <a:solidFill>
                  <a:srgbClr val="C00000"/>
                </a:solidFill>
              </a:rPr>
              <a:t>Treatment:</a:t>
            </a:r>
          </a:p>
          <a:p>
            <a:pPr marL="342900" indent="-342900">
              <a:spcBef>
                <a:spcPts val="1200"/>
              </a:spcBef>
              <a:buFontTx/>
              <a:buChar char="•"/>
              <a:defRPr/>
            </a:pPr>
            <a:r>
              <a:rPr lang="en-US" sz="2400" kern="0" dirty="0">
                <a:solidFill>
                  <a:srgbClr val="000099"/>
                </a:solidFill>
              </a:rPr>
              <a:t>Tab. Acyclovir 400 mg </a:t>
            </a:r>
            <a:r>
              <a:rPr lang="en-US" sz="2400" kern="0" dirty="0" err="1">
                <a:solidFill>
                  <a:srgbClr val="000099"/>
                </a:solidFill>
              </a:rPr>
              <a:t>tds</a:t>
            </a:r>
            <a:r>
              <a:rPr lang="en-US" sz="2400" kern="0" dirty="0">
                <a:solidFill>
                  <a:srgbClr val="000099"/>
                </a:solidFill>
              </a:rPr>
              <a:t> X 7 days</a:t>
            </a:r>
          </a:p>
        </p:txBody>
      </p:sp>
      <p:sp>
        <p:nvSpPr>
          <p:cNvPr id="56324" name="Title 1">
            <a:extLst>
              <a:ext uri="{FF2B5EF4-FFF2-40B4-BE49-F238E27FC236}">
                <a16:creationId xmlns:a16="http://schemas.microsoft.com/office/drawing/2014/main" id="{E0D31D4A-A671-2D6A-0F45-AB3557709F59}"/>
              </a:ext>
            </a:extLst>
          </p:cNvPr>
          <p:cNvSpPr>
            <a:spLocks noGrp="1" noChangeArrowheads="1"/>
          </p:cNvSpPr>
          <p:nvPr>
            <p:ph type="title"/>
          </p:nvPr>
        </p:nvSpPr>
        <p:spPr/>
        <p:txBody>
          <a:bodyPr/>
          <a:lstStyle/>
          <a:p>
            <a:r>
              <a:rPr lang="en-US" altLang="en-US"/>
              <a:t>Genital ulcer: Herpetic</a:t>
            </a:r>
            <a:endParaRPr lang="en-GB" altLang="en-US">
              <a:solidFill>
                <a:srgbClr val="000099"/>
              </a:solidFill>
            </a:endParaRPr>
          </a:p>
        </p:txBody>
      </p:sp>
      <p:pic>
        <p:nvPicPr>
          <p:cNvPr id="56325" name="Picture 7">
            <a:extLst>
              <a:ext uri="{FF2B5EF4-FFF2-40B4-BE49-F238E27FC236}">
                <a16:creationId xmlns:a16="http://schemas.microsoft.com/office/drawing/2014/main" id="{CDFC431B-F19C-EB45-5F4B-5DBA23E430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676401"/>
            <a:ext cx="2895600" cy="268446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56326" name="Picture 8">
            <a:extLst>
              <a:ext uri="{FF2B5EF4-FFF2-40B4-BE49-F238E27FC236}">
                <a16:creationId xmlns:a16="http://schemas.microsoft.com/office/drawing/2014/main" id="{954FA1A8-ADC0-CFEB-4BE5-690CAC7BC0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9100" y="1600200"/>
            <a:ext cx="23241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a:extLst>
              <a:ext uri="{FF2B5EF4-FFF2-40B4-BE49-F238E27FC236}">
                <a16:creationId xmlns:a16="http://schemas.microsoft.com/office/drawing/2014/main" id="{DE008AAC-9375-4EA3-920F-56A344B00713}"/>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30</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6A283D60-FB36-BCAE-4242-0E97BA5685F5}"/>
              </a:ext>
            </a:extLst>
          </p:cNvPr>
          <p:cNvSpPr>
            <a:spLocks noGrp="1" noChangeArrowheads="1"/>
          </p:cNvSpPr>
          <p:nvPr>
            <p:ph type="title"/>
          </p:nvPr>
        </p:nvSpPr>
        <p:spPr/>
        <p:txBody>
          <a:bodyPr/>
          <a:lstStyle/>
          <a:p>
            <a:r>
              <a:rPr lang="en-US" altLang="en-US"/>
              <a:t>Lower Abdominal Pain</a:t>
            </a:r>
            <a:endParaRPr lang="en-GB" altLang="en-US"/>
          </a:p>
        </p:txBody>
      </p:sp>
      <p:sp>
        <p:nvSpPr>
          <p:cNvPr id="5" name="Content Placeholder 2">
            <a:extLst>
              <a:ext uri="{FF2B5EF4-FFF2-40B4-BE49-F238E27FC236}">
                <a16:creationId xmlns:a16="http://schemas.microsoft.com/office/drawing/2014/main" id="{B6F73A24-5DAB-4E14-95F9-1D9B960E8739}"/>
              </a:ext>
            </a:extLst>
          </p:cNvPr>
          <p:cNvSpPr txBox="1">
            <a:spLocks/>
          </p:cNvSpPr>
          <p:nvPr/>
        </p:nvSpPr>
        <p:spPr>
          <a:xfrm>
            <a:off x="2057400" y="1447800"/>
            <a:ext cx="5791200" cy="3429000"/>
          </a:xfrm>
          <a:prstGeom prst="rect">
            <a:avLst/>
          </a:prstGeom>
        </p:spPr>
        <p:txBody>
          <a:bodyPr/>
          <a:lstStyle/>
          <a:p>
            <a:pPr marL="342900" indent="-342900">
              <a:spcBef>
                <a:spcPct val="20000"/>
              </a:spcBef>
              <a:buSzPct val="50000"/>
              <a:buBlip>
                <a:blip r:embed="rId3"/>
              </a:buBlip>
              <a:defRPr/>
            </a:pPr>
            <a:r>
              <a:rPr lang="en-US" sz="2200" kern="0" dirty="0"/>
              <a:t>Lower Abdominal Pain</a:t>
            </a:r>
          </a:p>
          <a:p>
            <a:pPr marL="342900" indent="-342900">
              <a:spcBef>
                <a:spcPct val="20000"/>
              </a:spcBef>
              <a:buSzPct val="50000"/>
              <a:buBlip>
                <a:blip r:embed="rId3"/>
              </a:buBlip>
              <a:defRPr/>
            </a:pPr>
            <a:r>
              <a:rPr lang="en-US" sz="2200" kern="0" dirty="0"/>
              <a:t>Fever</a:t>
            </a:r>
          </a:p>
          <a:p>
            <a:pPr marL="342900" indent="-342900">
              <a:spcBef>
                <a:spcPct val="20000"/>
              </a:spcBef>
              <a:buSzPct val="50000"/>
              <a:buBlip>
                <a:blip r:embed="rId3"/>
              </a:buBlip>
              <a:defRPr/>
            </a:pPr>
            <a:r>
              <a:rPr lang="en-US" sz="2200" kern="0" dirty="0"/>
              <a:t>Vaginal discharge</a:t>
            </a:r>
          </a:p>
          <a:p>
            <a:pPr marL="342900" indent="-342900">
              <a:spcBef>
                <a:spcPct val="20000"/>
              </a:spcBef>
              <a:buSzPct val="50000"/>
              <a:buBlip>
                <a:blip r:embed="rId3"/>
              </a:buBlip>
              <a:defRPr/>
            </a:pPr>
            <a:r>
              <a:rPr lang="en-US" sz="2200" kern="0" dirty="0"/>
              <a:t>Menstrual irregularities like heavy, irregular vaginal bleeding</a:t>
            </a:r>
          </a:p>
          <a:p>
            <a:pPr marL="342900" indent="-342900">
              <a:spcBef>
                <a:spcPct val="20000"/>
              </a:spcBef>
              <a:buSzPct val="50000"/>
              <a:buBlip>
                <a:blip r:embed="rId3"/>
              </a:buBlip>
              <a:defRPr/>
            </a:pPr>
            <a:r>
              <a:rPr lang="en-US" sz="2200" kern="0" dirty="0"/>
              <a:t>Dysmenorrhoea, </a:t>
            </a:r>
            <a:r>
              <a:rPr lang="en-US" sz="2200" kern="0" dirty="0" err="1"/>
              <a:t>dysparenunia</a:t>
            </a:r>
            <a:r>
              <a:rPr lang="en-US" sz="2200" kern="0" dirty="0"/>
              <a:t>, </a:t>
            </a:r>
            <a:r>
              <a:rPr lang="en-US" sz="2200" kern="0" dirty="0" err="1"/>
              <a:t>dysuria</a:t>
            </a:r>
            <a:r>
              <a:rPr lang="en-US" sz="2200" kern="0" dirty="0"/>
              <a:t>, </a:t>
            </a:r>
            <a:r>
              <a:rPr lang="en-US" sz="2200" kern="0" dirty="0" err="1"/>
              <a:t>tenesmus</a:t>
            </a:r>
            <a:endParaRPr lang="en-US" sz="2200" kern="0" dirty="0"/>
          </a:p>
          <a:p>
            <a:pPr marL="342900" indent="-342900">
              <a:spcBef>
                <a:spcPct val="20000"/>
              </a:spcBef>
              <a:buSzPct val="50000"/>
              <a:buBlip>
                <a:blip r:embed="rId3"/>
              </a:buBlip>
              <a:defRPr/>
            </a:pPr>
            <a:r>
              <a:rPr lang="en-US" sz="2200" kern="0" dirty="0"/>
              <a:t>Lower backache</a:t>
            </a:r>
          </a:p>
          <a:p>
            <a:pPr marL="342900" indent="-342900">
              <a:spcBef>
                <a:spcPct val="20000"/>
              </a:spcBef>
              <a:buSzPct val="50000"/>
              <a:buBlip>
                <a:blip r:embed="rId3"/>
              </a:buBlip>
              <a:defRPr/>
            </a:pPr>
            <a:r>
              <a:rPr lang="en-US" sz="2200" kern="0" dirty="0"/>
              <a:t>Cervical motion tenderness</a:t>
            </a:r>
          </a:p>
          <a:p>
            <a:pPr marL="342900" indent="-342900">
              <a:spcBef>
                <a:spcPct val="20000"/>
              </a:spcBef>
              <a:buSzPct val="50000"/>
              <a:buBlip>
                <a:blip r:embed="rId3"/>
              </a:buBlip>
              <a:defRPr/>
            </a:pPr>
            <a:endParaRPr lang="en-GB" sz="2200" kern="0" dirty="0">
              <a:solidFill>
                <a:srgbClr val="000099"/>
              </a:solidFill>
            </a:endParaRPr>
          </a:p>
        </p:txBody>
      </p:sp>
      <p:sp>
        <p:nvSpPr>
          <p:cNvPr id="7" name="Content Placeholder 2">
            <a:extLst>
              <a:ext uri="{FF2B5EF4-FFF2-40B4-BE49-F238E27FC236}">
                <a16:creationId xmlns:a16="http://schemas.microsoft.com/office/drawing/2014/main" id="{E36B586F-CA32-460C-97C3-C35FE53D1234}"/>
              </a:ext>
            </a:extLst>
          </p:cNvPr>
          <p:cNvSpPr txBox="1">
            <a:spLocks/>
          </p:cNvSpPr>
          <p:nvPr/>
        </p:nvSpPr>
        <p:spPr>
          <a:xfrm>
            <a:off x="2895600" y="4846638"/>
            <a:ext cx="6934200" cy="1630362"/>
          </a:xfrm>
          <a:prstGeom prst="rect">
            <a:avLst/>
          </a:prstGeom>
        </p:spPr>
        <p:txBody>
          <a:bodyPr anchor="ctr"/>
          <a:lstStyle/>
          <a:p>
            <a:pPr marL="342900" indent="-342900">
              <a:defRPr/>
            </a:pPr>
            <a:r>
              <a:rPr lang="en-US" sz="2400" kern="0" dirty="0">
                <a:solidFill>
                  <a:srgbClr val="C00000"/>
                </a:solidFill>
              </a:rPr>
              <a:t>Treatment:</a:t>
            </a:r>
          </a:p>
          <a:p>
            <a:pPr marL="342900" indent="-342900">
              <a:buSzPct val="50000"/>
              <a:buBlip>
                <a:blip r:embed="rId3"/>
              </a:buBlip>
              <a:defRPr/>
            </a:pPr>
            <a:r>
              <a:rPr lang="en-US" kern="0" dirty="0">
                <a:solidFill>
                  <a:srgbClr val="000099"/>
                </a:solidFill>
              </a:rPr>
              <a:t>Tab. </a:t>
            </a:r>
            <a:r>
              <a:rPr lang="en-US" kern="0" dirty="0" err="1">
                <a:solidFill>
                  <a:srgbClr val="000099"/>
                </a:solidFill>
              </a:rPr>
              <a:t>Cefixime</a:t>
            </a:r>
            <a:r>
              <a:rPr lang="en-US" kern="0" dirty="0">
                <a:solidFill>
                  <a:srgbClr val="000099"/>
                </a:solidFill>
              </a:rPr>
              <a:t> 400 mg </a:t>
            </a:r>
            <a:r>
              <a:rPr lang="en-US" kern="0" dirty="0" err="1">
                <a:solidFill>
                  <a:srgbClr val="000099"/>
                </a:solidFill>
              </a:rPr>
              <a:t>od</a:t>
            </a:r>
            <a:r>
              <a:rPr lang="en-US" kern="0" dirty="0">
                <a:solidFill>
                  <a:srgbClr val="000099"/>
                </a:solidFill>
              </a:rPr>
              <a:t> single dose +</a:t>
            </a:r>
          </a:p>
          <a:p>
            <a:pPr marL="342900" indent="-342900">
              <a:buSzPct val="50000"/>
              <a:defRPr/>
            </a:pPr>
            <a:r>
              <a:rPr lang="en-US" kern="0" dirty="0">
                <a:solidFill>
                  <a:srgbClr val="000099"/>
                </a:solidFill>
              </a:rPr>
              <a:t>	Tab. Metronidazole 400 mg bid X 14 days +</a:t>
            </a:r>
          </a:p>
          <a:p>
            <a:pPr marL="342900" indent="-342900">
              <a:buSzPct val="50000"/>
              <a:defRPr/>
            </a:pPr>
            <a:r>
              <a:rPr lang="en-US" kern="0" dirty="0">
                <a:solidFill>
                  <a:srgbClr val="000099"/>
                </a:solidFill>
              </a:rPr>
              <a:t>	Tab. </a:t>
            </a:r>
            <a:r>
              <a:rPr lang="en-US" kern="0" dirty="0" err="1">
                <a:solidFill>
                  <a:srgbClr val="000099"/>
                </a:solidFill>
              </a:rPr>
              <a:t>Doxycycline</a:t>
            </a:r>
            <a:r>
              <a:rPr lang="en-US" kern="0" dirty="0">
                <a:solidFill>
                  <a:srgbClr val="000099"/>
                </a:solidFill>
              </a:rPr>
              <a:t> 100 mg bid X 14 days</a:t>
            </a:r>
            <a:endParaRPr lang="en-GB" kern="0" dirty="0">
              <a:solidFill>
                <a:srgbClr val="000099"/>
              </a:solidFill>
            </a:endParaRPr>
          </a:p>
        </p:txBody>
      </p:sp>
      <p:pic>
        <p:nvPicPr>
          <p:cNvPr id="58373" name="Picture 7">
            <a:extLst>
              <a:ext uri="{FF2B5EF4-FFF2-40B4-BE49-F238E27FC236}">
                <a16:creationId xmlns:a16="http://schemas.microsoft.com/office/drawing/2014/main" id="{63205707-44C8-5F9D-C356-CB27BBCDCF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1690688"/>
            <a:ext cx="2362200" cy="3262312"/>
          </a:xfrm>
          <a:prstGeom prst="rect">
            <a:avLst/>
          </a:prstGeom>
          <a:noFill/>
          <a:ln w="317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 name="TextBox 3">
            <a:extLst>
              <a:ext uri="{FF2B5EF4-FFF2-40B4-BE49-F238E27FC236}">
                <a16:creationId xmlns:a16="http://schemas.microsoft.com/office/drawing/2014/main" id="{78AF4115-A4EB-4F31-BBAA-C593B0E76C10}"/>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31</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379EB9D5-6ACD-3AAE-DBB1-9593B07B54EA}"/>
              </a:ext>
            </a:extLst>
          </p:cNvPr>
          <p:cNvSpPr>
            <a:spLocks noGrp="1" noChangeArrowheads="1"/>
          </p:cNvSpPr>
          <p:nvPr>
            <p:ph type="title"/>
          </p:nvPr>
        </p:nvSpPr>
        <p:spPr/>
        <p:txBody>
          <a:bodyPr/>
          <a:lstStyle/>
          <a:p>
            <a:r>
              <a:rPr lang="en-US" altLang="en-US"/>
              <a:t>Inguinal Bubo</a:t>
            </a:r>
            <a:endParaRPr lang="en-GB" altLang="en-US"/>
          </a:p>
        </p:txBody>
      </p:sp>
      <p:sp>
        <p:nvSpPr>
          <p:cNvPr id="5" name="Content Placeholder 2">
            <a:extLst>
              <a:ext uri="{FF2B5EF4-FFF2-40B4-BE49-F238E27FC236}">
                <a16:creationId xmlns:a16="http://schemas.microsoft.com/office/drawing/2014/main" id="{893C19D3-D8E3-4D13-A217-F76CAB626D55}"/>
              </a:ext>
            </a:extLst>
          </p:cNvPr>
          <p:cNvSpPr txBox="1">
            <a:spLocks/>
          </p:cNvSpPr>
          <p:nvPr/>
        </p:nvSpPr>
        <p:spPr>
          <a:xfrm>
            <a:off x="4419601" y="1539876"/>
            <a:ext cx="3802063" cy="3336925"/>
          </a:xfrm>
          <a:prstGeom prst="rect">
            <a:avLst/>
          </a:prstGeom>
        </p:spPr>
        <p:txBody>
          <a:bodyPr/>
          <a:lstStyle/>
          <a:p>
            <a:pPr marL="342900" indent="-342900">
              <a:spcBef>
                <a:spcPts val="1200"/>
              </a:spcBef>
              <a:spcAft>
                <a:spcPts val="600"/>
              </a:spcAft>
              <a:buSzPct val="50000"/>
              <a:buBlip>
                <a:blip r:embed="rId3"/>
              </a:buBlip>
              <a:defRPr/>
            </a:pPr>
            <a:r>
              <a:rPr lang="en-US" sz="2200" kern="0" dirty="0"/>
              <a:t>Swelling in inguinal region, which may be painful</a:t>
            </a:r>
          </a:p>
          <a:p>
            <a:pPr marL="342900" indent="-342900">
              <a:spcBef>
                <a:spcPts val="1200"/>
              </a:spcBef>
              <a:spcAft>
                <a:spcPts val="600"/>
              </a:spcAft>
              <a:buSzPct val="50000"/>
              <a:buBlip>
                <a:blip r:embed="rId3"/>
              </a:buBlip>
              <a:defRPr/>
            </a:pPr>
            <a:r>
              <a:rPr lang="en-US" sz="2200" kern="0" dirty="0"/>
              <a:t>Preceding history of genital ulcer or discharge</a:t>
            </a:r>
          </a:p>
          <a:p>
            <a:pPr marL="342900" indent="-342900">
              <a:spcBef>
                <a:spcPts val="1200"/>
              </a:spcBef>
              <a:spcAft>
                <a:spcPts val="600"/>
              </a:spcAft>
              <a:buSzPct val="50000"/>
              <a:buBlip>
                <a:blip r:embed="rId3"/>
              </a:buBlip>
              <a:defRPr/>
            </a:pPr>
            <a:r>
              <a:rPr lang="en-US" sz="2200" kern="0" dirty="0"/>
              <a:t>Systemic symptoms like malaise, fever</a:t>
            </a:r>
          </a:p>
          <a:p>
            <a:pPr marL="342900" indent="-342900">
              <a:spcBef>
                <a:spcPts val="1200"/>
              </a:spcBef>
              <a:spcAft>
                <a:spcPts val="600"/>
              </a:spcAft>
              <a:buSzPct val="50000"/>
              <a:buBlip>
                <a:blip r:embed="rId3"/>
              </a:buBlip>
              <a:defRPr/>
            </a:pPr>
            <a:endParaRPr lang="en-GB" sz="2200" kern="0" dirty="0"/>
          </a:p>
        </p:txBody>
      </p:sp>
      <p:sp>
        <p:nvSpPr>
          <p:cNvPr id="7" name="Content Placeholder 2">
            <a:extLst>
              <a:ext uri="{FF2B5EF4-FFF2-40B4-BE49-F238E27FC236}">
                <a16:creationId xmlns:a16="http://schemas.microsoft.com/office/drawing/2014/main" id="{50F72C97-017F-4907-927F-073DDB979850}"/>
              </a:ext>
            </a:extLst>
          </p:cNvPr>
          <p:cNvSpPr txBox="1">
            <a:spLocks/>
          </p:cNvSpPr>
          <p:nvPr/>
        </p:nvSpPr>
        <p:spPr>
          <a:xfrm>
            <a:off x="2895600" y="4618038"/>
            <a:ext cx="6934200" cy="1630362"/>
          </a:xfrm>
          <a:prstGeom prst="rect">
            <a:avLst/>
          </a:prstGeom>
        </p:spPr>
        <p:txBody>
          <a:bodyPr anchor="ctr"/>
          <a:lstStyle/>
          <a:p>
            <a:pPr marL="342900" indent="-342900">
              <a:defRPr/>
            </a:pPr>
            <a:r>
              <a:rPr lang="en-US" sz="2400" kern="0" dirty="0">
                <a:solidFill>
                  <a:srgbClr val="C00000"/>
                </a:solidFill>
              </a:rPr>
              <a:t>Treatment:</a:t>
            </a:r>
          </a:p>
          <a:p>
            <a:pPr marL="342900" indent="-342900">
              <a:buSzPct val="50000"/>
              <a:buBlip>
                <a:blip r:embed="rId3"/>
              </a:buBlip>
              <a:defRPr/>
            </a:pPr>
            <a:r>
              <a:rPr lang="en-US" sz="2400" kern="0" dirty="0">
                <a:solidFill>
                  <a:srgbClr val="0000A8"/>
                </a:solidFill>
              </a:rPr>
              <a:t>Doxycycline 100 mg bid X 21 days + </a:t>
            </a:r>
          </a:p>
          <a:p>
            <a:pPr marL="342900" indent="-342900">
              <a:buSzPct val="50000"/>
              <a:defRPr/>
            </a:pPr>
            <a:r>
              <a:rPr lang="en-US" sz="2400" kern="0" dirty="0">
                <a:solidFill>
                  <a:srgbClr val="0000A8"/>
                </a:solidFill>
              </a:rPr>
              <a:t>	Tab. Azithromycin 1g single dose</a:t>
            </a:r>
          </a:p>
        </p:txBody>
      </p:sp>
      <p:pic>
        <p:nvPicPr>
          <p:cNvPr id="60421" name="Picture 7">
            <a:extLst>
              <a:ext uri="{FF2B5EF4-FFF2-40B4-BE49-F238E27FC236}">
                <a16:creationId xmlns:a16="http://schemas.microsoft.com/office/drawing/2014/main" id="{AC506E45-E538-1E7A-C43C-CC7816ED1E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326" y="1943100"/>
            <a:ext cx="2581275"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Picture 8">
            <a:extLst>
              <a:ext uri="{FF2B5EF4-FFF2-40B4-BE49-F238E27FC236}">
                <a16:creationId xmlns:a16="http://schemas.microsoft.com/office/drawing/2014/main" id="{88ADD6A1-A618-A1CE-2A1E-51041ED41AF4}"/>
              </a:ext>
            </a:extLst>
          </p:cNvPr>
          <p:cNvSpPr>
            <a:spLocks noChangeAspect="1" noChangeArrowheads="1"/>
          </p:cNvSpPr>
          <p:nvPr/>
        </p:nvSpPr>
        <p:spPr bwMode="auto">
          <a:xfrm>
            <a:off x="1752601" y="2895601"/>
            <a:ext cx="25765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SzPct val="50000"/>
              <a:buBlip>
                <a:blip r:embed="rId5"/>
              </a:buBlip>
              <a:defRPr sz="2200" b="1">
                <a:solidFill>
                  <a:srgbClr val="0000A8"/>
                </a:solidFill>
                <a:latin typeface="Arial" panose="020B0604020202020204" pitchFamily="34" charset="0"/>
              </a:defRPr>
            </a:lvl1pPr>
            <a:lvl2pPr marL="742950" indent="-285750">
              <a:spcBef>
                <a:spcPts val="600"/>
              </a:spcBef>
              <a:spcAft>
                <a:spcPts val="600"/>
              </a:spcAft>
              <a:buSzPct val="50000"/>
              <a:buBlip>
                <a:blip r:embed="rId5"/>
              </a:buBlip>
              <a:defRPr sz="2200" b="1">
                <a:solidFill>
                  <a:srgbClr val="0000A8"/>
                </a:solidFill>
                <a:latin typeface="Arial" panose="020B0604020202020204" pitchFamily="34" charset="0"/>
              </a:defRPr>
            </a:lvl2pPr>
            <a:lvl3pPr marL="1143000" indent="-228600">
              <a:spcBef>
                <a:spcPts val="600"/>
              </a:spcBef>
              <a:spcAft>
                <a:spcPts val="600"/>
              </a:spcAft>
              <a:buSzPct val="50000"/>
              <a:buBlip>
                <a:blip r:embed="rId5"/>
              </a:buBlip>
              <a:defRPr sz="2000" b="1">
                <a:solidFill>
                  <a:srgbClr val="0000A8"/>
                </a:solidFill>
                <a:latin typeface="Arial" panose="020B0604020202020204" pitchFamily="34" charset="0"/>
              </a:defRPr>
            </a:lvl3pPr>
            <a:lvl4pPr marL="1600200" indent="-228600">
              <a:spcBef>
                <a:spcPts val="600"/>
              </a:spcBef>
              <a:spcAft>
                <a:spcPts val="600"/>
              </a:spcAft>
              <a:buSzPct val="50000"/>
              <a:buBlip>
                <a:blip r:embed="rId5"/>
              </a:buBlip>
              <a:defRPr sz="2000" b="1">
                <a:solidFill>
                  <a:srgbClr val="0000A8"/>
                </a:solidFill>
                <a:latin typeface="Arial" panose="020B0604020202020204" pitchFamily="34" charset="0"/>
              </a:defRPr>
            </a:lvl4pPr>
            <a:lvl5pPr marL="2057400" indent="-228600">
              <a:spcBef>
                <a:spcPts val="600"/>
              </a:spcBef>
              <a:spcAft>
                <a:spcPts val="600"/>
              </a:spcAft>
              <a:buSzPct val="50000"/>
              <a:buBlip>
                <a:blip r:embed="rId5"/>
              </a:buBlip>
              <a:defRPr sz="2000" b="1">
                <a:solidFill>
                  <a:srgbClr val="0000A8"/>
                </a:solidFill>
                <a:latin typeface="Arial" panose="020B0604020202020204" pitchFamily="34" charset="0"/>
              </a:defRPr>
            </a:lvl5pPr>
            <a:lvl6pPr marL="25146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6pPr>
            <a:lvl7pPr marL="29718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7pPr>
            <a:lvl8pPr marL="34290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8pPr>
            <a:lvl9pPr marL="38862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9pPr>
          </a:lstStyle>
          <a:p>
            <a:pPr eaLnBrk="1" hangingPunct="1">
              <a:spcBef>
                <a:spcPct val="0"/>
              </a:spcBef>
              <a:spcAft>
                <a:spcPct val="0"/>
              </a:spcAft>
              <a:buSzTx/>
              <a:buFontTx/>
              <a:buNone/>
            </a:pPr>
            <a:endParaRPr lang="en-GB" altLang="en-US" sz="2000">
              <a:solidFill>
                <a:srgbClr val="FF9900"/>
              </a:solidFill>
              <a:latin typeface="Book Antiqua" panose="02040602050305030304" pitchFamily="18" charset="0"/>
            </a:endParaRPr>
          </a:p>
        </p:txBody>
      </p:sp>
      <p:sp>
        <p:nvSpPr>
          <p:cNvPr id="60423" name="Picture 9">
            <a:extLst>
              <a:ext uri="{FF2B5EF4-FFF2-40B4-BE49-F238E27FC236}">
                <a16:creationId xmlns:a16="http://schemas.microsoft.com/office/drawing/2014/main" id="{FE375511-D2C0-394D-C146-B5D3098D1C3D}"/>
              </a:ext>
            </a:extLst>
          </p:cNvPr>
          <p:cNvSpPr>
            <a:spLocks noChangeAspect="1" noChangeArrowheads="1"/>
          </p:cNvSpPr>
          <p:nvPr/>
        </p:nvSpPr>
        <p:spPr bwMode="auto">
          <a:xfrm>
            <a:off x="8001000" y="1371600"/>
            <a:ext cx="23685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SzPct val="50000"/>
              <a:buBlip>
                <a:blip r:embed="rId5"/>
              </a:buBlip>
              <a:defRPr sz="2200" b="1">
                <a:solidFill>
                  <a:srgbClr val="0000A8"/>
                </a:solidFill>
                <a:latin typeface="Arial" panose="020B0604020202020204" pitchFamily="34" charset="0"/>
              </a:defRPr>
            </a:lvl1pPr>
            <a:lvl2pPr marL="742950" indent="-285750">
              <a:spcBef>
                <a:spcPts val="600"/>
              </a:spcBef>
              <a:spcAft>
                <a:spcPts val="600"/>
              </a:spcAft>
              <a:buSzPct val="50000"/>
              <a:buBlip>
                <a:blip r:embed="rId5"/>
              </a:buBlip>
              <a:defRPr sz="2200" b="1">
                <a:solidFill>
                  <a:srgbClr val="0000A8"/>
                </a:solidFill>
                <a:latin typeface="Arial" panose="020B0604020202020204" pitchFamily="34" charset="0"/>
              </a:defRPr>
            </a:lvl2pPr>
            <a:lvl3pPr marL="1143000" indent="-228600">
              <a:spcBef>
                <a:spcPts val="600"/>
              </a:spcBef>
              <a:spcAft>
                <a:spcPts val="600"/>
              </a:spcAft>
              <a:buSzPct val="50000"/>
              <a:buBlip>
                <a:blip r:embed="rId5"/>
              </a:buBlip>
              <a:defRPr sz="2000" b="1">
                <a:solidFill>
                  <a:srgbClr val="0000A8"/>
                </a:solidFill>
                <a:latin typeface="Arial" panose="020B0604020202020204" pitchFamily="34" charset="0"/>
              </a:defRPr>
            </a:lvl3pPr>
            <a:lvl4pPr marL="1600200" indent="-228600">
              <a:spcBef>
                <a:spcPts val="600"/>
              </a:spcBef>
              <a:spcAft>
                <a:spcPts val="600"/>
              </a:spcAft>
              <a:buSzPct val="50000"/>
              <a:buBlip>
                <a:blip r:embed="rId5"/>
              </a:buBlip>
              <a:defRPr sz="2000" b="1">
                <a:solidFill>
                  <a:srgbClr val="0000A8"/>
                </a:solidFill>
                <a:latin typeface="Arial" panose="020B0604020202020204" pitchFamily="34" charset="0"/>
              </a:defRPr>
            </a:lvl4pPr>
            <a:lvl5pPr marL="2057400" indent="-228600">
              <a:spcBef>
                <a:spcPts val="600"/>
              </a:spcBef>
              <a:spcAft>
                <a:spcPts val="600"/>
              </a:spcAft>
              <a:buSzPct val="50000"/>
              <a:buBlip>
                <a:blip r:embed="rId5"/>
              </a:buBlip>
              <a:defRPr sz="2000" b="1">
                <a:solidFill>
                  <a:srgbClr val="0000A8"/>
                </a:solidFill>
                <a:latin typeface="Arial" panose="020B0604020202020204" pitchFamily="34" charset="0"/>
              </a:defRPr>
            </a:lvl5pPr>
            <a:lvl6pPr marL="25146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6pPr>
            <a:lvl7pPr marL="29718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7pPr>
            <a:lvl8pPr marL="34290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8pPr>
            <a:lvl9pPr marL="3886200" indent="-228600" eaLnBrk="0" fontAlgn="base" hangingPunct="0">
              <a:spcBef>
                <a:spcPts val="600"/>
              </a:spcBef>
              <a:spcAft>
                <a:spcPts val="600"/>
              </a:spcAft>
              <a:buSzPct val="50000"/>
              <a:buBlip>
                <a:blip r:embed="rId5"/>
              </a:buBlip>
              <a:defRPr sz="2000" b="1">
                <a:solidFill>
                  <a:srgbClr val="0000A8"/>
                </a:solidFill>
                <a:latin typeface="Arial" panose="020B0604020202020204" pitchFamily="34" charset="0"/>
              </a:defRPr>
            </a:lvl9pPr>
          </a:lstStyle>
          <a:p>
            <a:pPr eaLnBrk="1" hangingPunct="1">
              <a:spcBef>
                <a:spcPct val="0"/>
              </a:spcBef>
              <a:spcAft>
                <a:spcPct val="0"/>
              </a:spcAft>
              <a:buSzTx/>
              <a:buFontTx/>
              <a:buNone/>
            </a:pPr>
            <a:endParaRPr lang="en-GB" altLang="en-US" sz="2000">
              <a:solidFill>
                <a:srgbClr val="FF9900"/>
              </a:solidFill>
              <a:latin typeface="Book Antiqua" panose="02040602050305030304" pitchFamily="18" charset="0"/>
            </a:endParaRPr>
          </a:p>
        </p:txBody>
      </p:sp>
      <p:sp>
        <p:nvSpPr>
          <p:cNvPr id="8" name="TextBox 3">
            <a:extLst>
              <a:ext uri="{FF2B5EF4-FFF2-40B4-BE49-F238E27FC236}">
                <a16:creationId xmlns:a16="http://schemas.microsoft.com/office/drawing/2014/main" id="{4271E453-AE24-46AB-954D-0C39CAA144C6}"/>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32</a:t>
            </a:r>
          </a:p>
        </p:txBody>
      </p:sp>
      <p:sp>
        <p:nvSpPr>
          <p:cNvPr id="2" name="TextBox 1">
            <a:extLst>
              <a:ext uri="{FF2B5EF4-FFF2-40B4-BE49-F238E27FC236}">
                <a16:creationId xmlns:a16="http://schemas.microsoft.com/office/drawing/2014/main" id="{0BD9EE9E-C4FF-42FF-B79C-D09B7D741328}"/>
              </a:ext>
            </a:extLst>
          </p:cNvPr>
          <p:cNvSpPr txBox="1"/>
          <p:nvPr/>
        </p:nvSpPr>
        <p:spPr>
          <a:xfrm>
            <a:off x="8839200" y="2392364"/>
            <a:ext cx="1320800" cy="1200329"/>
          </a:xfrm>
          <a:prstGeom prst="rect">
            <a:avLst/>
          </a:prstGeom>
          <a:solidFill>
            <a:schemeClr val="tx1"/>
          </a:solidFill>
        </p:spPr>
        <p:txBody>
          <a:bodyPr>
            <a:spAutoFit/>
          </a:bodyPr>
          <a:lstStyle/>
          <a:p>
            <a:pPr algn="ctr">
              <a:defRPr/>
            </a:pPr>
            <a:endParaRPr lang="en-GB" dirty="0">
              <a:solidFill>
                <a:schemeClr val="bg1"/>
              </a:solidFill>
              <a:latin typeface="+mj-lt"/>
            </a:endParaRPr>
          </a:p>
          <a:p>
            <a:pPr algn="ctr">
              <a:defRPr/>
            </a:pPr>
            <a:r>
              <a:rPr lang="en-GB" dirty="0">
                <a:solidFill>
                  <a:schemeClr val="bg1"/>
                </a:solidFill>
                <a:latin typeface="+mj-lt"/>
              </a:rPr>
              <a:t>KIT 7</a:t>
            </a:r>
          </a:p>
          <a:p>
            <a:pPr algn="ctr">
              <a:defRPr/>
            </a:pPr>
            <a:r>
              <a:rPr lang="en-GB" dirty="0">
                <a:solidFill>
                  <a:schemeClr val="bg1"/>
                </a:solidFill>
                <a:latin typeface="+mj-lt"/>
              </a:rPr>
              <a:t>Black</a:t>
            </a:r>
          </a:p>
          <a:p>
            <a:pPr algn="ctr">
              <a:defRPr/>
            </a:pPr>
            <a:endParaRPr lang="en-GB" dirty="0">
              <a:solidFill>
                <a:schemeClr val="bg1"/>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263A29A-5558-457E-BA42-0177A6F40367}"/>
              </a:ext>
            </a:extLst>
          </p:cNvPr>
          <p:cNvSpPr>
            <a:spLocks noGrp="1"/>
          </p:cNvSpPr>
          <p:nvPr>
            <p:ph type="title"/>
          </p:nvPr>
        </p:nvSpPr>
        <p:spPr/>
        <p:txBody>
          <a:bodyPr>
            <a:noAutofit/>
          </a:bodyPr>
          <a:lstStyle/>
          <a:p>
            <a:pPr>
              <a:defRPr/>
            </a:pPr>
            <a:r>
              <a:rPr lang="en-US" sz="3200" dirty="0">
                <a:latin typeface="+mn-lt"/>
                <a:cs typeface="Times New Roman" panose="02020603050405020304" pitchFamily="18" charset="0"/>
              </a:rPr>
              <a:t>Syndromic management: Advantages</a:t>
            </a:r>
          </a:p>
        </p:txBody>
      </p:sp>
      <p:sp>
        <p:nvSpPr>
          <p:cNvPr id="62467" name="Content Placeholder 2">
            <a:extLst>
              <a:ext uri="{FF2B5EF4-FFF2-40B4-BE49-F238E27FC236}">
                <a16:creationId xmlns:a16="http://schemas.microsoft.com/office/drawing/2014/main" id="{2CD0B195-57A4-958A-6495-E1D64AB65563}"/>
              </a:ext>
            </a:extLst>
          </p:cNvPr>
          <p:cNvSpPr>
            <a:spLocks noGrp="1" noChangeArrowheads="1"/>
          </p:cNvSpPr>
          <p:nvPr>
            <p:ph idx="1"/>
          </p:nvPr>
        </p:nvSpPr>
        <p:spPr>
          <a:xfrm>
            <a:off x="1981200" y="1622425"/>
            <a:ext cx="8185150" cy="4503738"/>
          </a:xfrm>
        </p:spPr>
        <p:txBody>
          <a:bodyPr/>
          <a:lstStyle/>
          <a:p>
            <a:pPr marL="536575" indent="-455613" algn="just">
              <a:buSzPct val="100000"/>
              <a:buFont typeface="Gill Sans MT" panose="020B0502020104020203" pitchFamily="34" charset="0"/>
              <a:buAutoNum type="arabicPeriod"/>
            </a:pPr>
            <a:r>
              <a:rPr lang="en-US" altLang="en-US" sz="2000">
                <a:solidFill>
                  <a:srgbClr val="C00000"/>
                </a:solidFill>
                <a:ea typeface="Calibri" panose="020F0502020204030204" pitchFamily="34" charset="0"/>
                <a:cs typeface="Times New Roman" panose="02020603050405020304" pitchFamily="18" charset="0"/>
              </a:rPr>
              <a:t>Fast, the patient is diagnosed and treated in one visit</a:t>
            </a:r>
            <a:endParaRPr lang="en-IN" altLang="en-US" sz="2000">
              <a:solidFill>
                <a:srgbClr val="C00000"/>
              </a:solidFill>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ea typeface="Calibri" panose="020F0502020204030204" pitchFamily="34" charset="0"/>
                <a:cs typeface="Times New Roman" panose="02020603050405020304" pitchFamily="18" charset="0"/>
              </a:rPr>
              <a:t>Relatively inexpensive </a:t>
            </a:r>
            <a:endParaRPr lang="en-IN" altLang="en-US" sz="2000">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ea typeface="Calibri" panose="020F0502020204030204" pitchFamily="34" charset="0"/>
                <a:cs typeface="Times New Roman" panose="02020603050405020304" pitchFamily="18" charset="0"/>
              </a:rPr>
              <a:t>No need for patient to wait for lab results</a:t>
            </a:r>
            <a:endParaRPr lang="en-IN" altLang="en-US" sz="2000">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solidFill>
                  <a:srgbClr val="C00000"/>
                </a:solidFill>
                <a:ea typeface="Calibri" panose="020F0502020204030204" pitchFamily="34" charset="0"/>
                <a:cs typeface="Times New Roman" panose="02020603050405020304" pitchFamily="18" charset="0"/>
              </a:rPr>
              <a:t>All possible STIs causing common symptoms and signs are treated </a:t>
            </a:r>
            <a:endParaRPr lang="en-IN" altLang="en-US" sz="2000">
              <a:solidFill>
                <a:srgbClr val="C00000"/>
              </a:solidFill>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ea typeface="Calibri" panose="020F0502020204030204" pitchFamily="34" charset="0"/>
                <a:cs typeface="Times New Roman" panose="02020603050405020304" pitchFamily="18" charset="0"/>
              </a:rPr>
              <a:t>Scientifically proven strategy in many parts of the world</a:t>
            </a:r>
            <a:endParaRPr lang="en-IN" altLang="en-US" sz="2000">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ea typeface="Calibri" panose="020F0502020204030204" pitchFamily="34" charset="0"/>
                <a:cs typeface="Times New Roman" panose="02020603050405020304" pitchFamily="18" charset="0"/>
              </a:rPr>
              <a:t>Easy to learn and practice by health care workers </a:t>
            </a:r>
            <a:endParaRPr lang="en-IN" altLang="en-US" sz="2000">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solidFill>
                  <a:srgbClr val="C00000"/>
                </a:solidFill>
                <a:ea typeface="Calibri" panose="020F0502020204030204" pitchFamily="34" charset="0"/>
                <a:cs typeface="Times New Roman" panose="02020603050405020304" pitchFamily="18" charset="0"/>
              </a:rPr>
              <a:t>Easily added into primary health care services </a:t>
            </a:r>
            <a:endParaRPr lang="en-IN" altLang="en-US" sz="2000">
              <a:solidFill>
                <a:srgbClr val="C00000"/>
              </a:solidFill>
              <a:ea typeface="Calibri" panose="020F0502020204030204" pitchFamily="34" charset="0"/>
              <a:cs typeface="Times New Roman" panose="02020603050405020304" pitchFamily="18" charset="0"/>
            </a:endParaRPr>
          </a:p>
          <a:p>
            <a:pPr marL="536575" indent="-455613" algn="just">
              <a:buSzPct val="100000"/>
              <a:buFont typeface="Gill Sans MT" panose="020B0502020104020203" pitchFamily="34" charset="0"/>
              <a:buAutoNum type="arabicPeriod"/>
            </a:pPr>
            <a:r>
              <a:rPr lang="en-US" altLang="en-US" sz="2000">
                <a:ea typeface="Calibri" panose="020F0502020204030204" pitchFamily="34" charset="0"/>
                <a:cs typeface="Times New Roman" panose="02020603050405020304" pitchFamily="18" charset="0"/>
              </a:rPr>
              <a:t>Can be implemented by HCP at all levels of Health Care</a:t>
            </a:r>
          </a:p>
          <a:p>
            <a:pPr marL="536575" indent="-455613" algn="just">
              <a:buSzPct val="100000"/>
              <a:buFont typeface="Gill Sans MT" panose="020B0502020104020203" pitchFamily="34" charset="0"/>
              <a:buAutoNum type="arabicPeriod"/>
            </a:pPr>
            <a:r>
              <a:rPr lang="en-US" altLang="en-US" sz="2000">
                <a:solidFill>
                  <a:srgbClr val="C00000"/>
                </a:solidFill>
                <a:ea typeface="Calibri" panose="020F0502020204030204" pitchFamily="34" charset="0"/>
                <a:cs typeface="Times New Roman" panose="02020603050405020304" pitchFamily="18" charset="0"/>
              </a:rPr>
              <a:t>Facilitates standardisation of treatment regimens</a:t>
            </a:r>
            <a:endParaRPr lang="en-IN" altLang="en-US" sz="2000">
              <a:solidFill>
                <a:srgbClr val="C00000"/>
              </a:solidFill>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5CEE272-2A66-42D7-805F-AB802F616DA3}"/>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33</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8EF18C8-DDBC-4263-8695-88DFE223F9F0}"/>
              </a:ext>
            </a:extLst>
          </p:cNvPr>
          <p:cNvSpPr>
            <a:spLocks noGrp="1"/>
          </p:cNvSpPr>
          <p:nvPr>
            <p:ph type="title"/>
          </p:nvPr>
        </p:nvSpPr>
        <p:spPr/>
        <p:txBody>
          <a:bodyPr>
            <a:noAutofit/>
          </a:bodyPr>
          <a:lstStyle/>
          <a:p>
            <a:pPr>
              <a:defRPr/>
            </a:pPr>
            <a:r>
              <a:rPr lang="en-US" sz="3200" dirty="0">
                <a:latin typeface="+mn-lt"/>
                <a:cs typeface="Times New Roman" panose="02020603050405020304" pitchFamily="18" charset="0"/>
              </a:rPr>
              <a:t>Syndromic management: Limitations</a:t>
            </a:r>
          </a:p>
        </p:txBody>
      </p:sp>
      <p:sp>
        <p:nvSpPr>
          <p:cNvPr id="63491" name="Content Placeholder 2">
            <a:extLst>
              <a:ext uri="{FF2B5EF4-FFF2-40B4-BE49-F238E27FC236}">
                <a16:creationId xmlns:a16="http://schemas.microsoft.com/office/drawing/2014/main" id="{E6C7A145-3434-5541-BF90-3A4E8DEF1754}"/>
              </a:ext>
            </a:extLst>
          </p:cNvPr>
          <p:cNvSpPr>
            <a:spLocks noGrp="1" noChangeArrowheads="1"/>
          </p:cNvSpPr>
          <p:nvPr>
            <p:ph idx="1"/>
          </p:nvPr>
        </p:nvSpPr>
        <p:spPr>
          <a:xfrm>
            <a:off x="1981200" y="1622425"/>
            <a:ext cx="8185150" cy="4503738"/>
          </a:xfrm>
        </p:spPr>
        <p:txBody>
          <a:bodyPr/>
          <a:lstStyle/>
          <a:p>
            <a:pPr marL="636588" indent="-457200">
              <a:spcBef>
                <a:spcPts val="1200"/>
              </a:spcBef>
            </a:pPr>
            <a:r>
              <a:rPr lang="en-US" altLang="en-US">
                <a:cs typeface="Times New Roman" panose="02020603050405020304" pitchFamily="18" charset="0"/>
              </a:rPr>
              <a:t>Not useful in asymptomatic individuals</a:t>
            </a:r>
          </a:p>
          <a:p>
            <a:pPr marL="636588" indent="-457200">
              <a:spcBef>
                <a:spcPts val="1200"/>
              </a:spcBef>
            </a:pPr>
            <a:r>
              <a:rPr lang="en-US" altLang="en-US">
                <a:solidFill>
                  <a:srgbClr val="C00000"/>
                </a:solidFill>
                <a:cs typeface="Times New Roman" panose="02020603050405020304" pitchFamily="18" charset="0"/>
              </a:rPr>
              <a:t>Over-treatment</a:t>
            </a:r>
            <a:endParaRPr lang="en-IN" altLang="en-US">
              <a:solidFill>
                <a:srgbClr val="C00000"/>
              </a:solidFill>
              <a:cs typeface="Times New Roman" panose="02020603050405020304" pitchFamily="18" charset="0"/>
            </a:endParaRPr>
          </a:p>
          <a:p>
            <a:pPr marL="636588" indent="-457200">
              <a:spcBef>
                <a:spcPts val="1200"/>
              </a:spcBef>
            </a:pPr>
            <a:r>
              <a:rPr lang="en-US" altLang="en-US">
                <a:solidFill>
                  <a:srgbClr val="C00000"/>
                </a:solidFill>
                <a:cs typeface="Times New Roman" panose="02020603050405020304" pitchFamily="18" charset="0"/>
              </a:rPr>
              <a:t>Cost</a:t>
            </a:r>
            <a:r>
              <a:rPr lang="en-US" altLang="en-US">
                <a:solidFill>
                  <a:srgbClr val="FF0000"/>
                </a:solidFill>
                <a:cs typeface="Times New Roman" panose="02020603050405020304" pitchFamily="18" charset="0"/>
              </a:rPr>
              <a:t> </a:t>
            </a:r>
            <a:r>
              <a:rPr lang="en-US" altLang="en-US">
                <a:cs typeface="Times New Roman" panose="02020603050405020304" pitchFamily="18" charset="0"/>
              </a:rPr>
              <a:t>of over-treatment &amp; side-effects</a:t>
            </a:r>
            <a:endParaRPr lang="en-IN" altLang="en-US">
              <a:cs typeface="Times New Roman" panose="02020603050405020304" pitchFamily="18" charset="0"/>
            </a:endParaRPr>
          </a:p>
          <a:p>
            <a:pPr marL="636588" indent="-457200">
              <a:spcBef>
                <a:spcPts val="1200"/>
              </a:spcBef>
            </a:pPr>
            <a:r>
              <a:rPr lang="en-US" altLang="en-US">
                <a:cs typeface="Times New Roman" panose="02020603050405020304" pitchFamily="18" charset="0"/>
              </a:rPr>
              <a:t>Potential for </a:t>
            </a:r>
            <a:r>
              <a:rPr lang="en-US" altLang="en-US">
                <a:solidFill>
                  <a:srgbClr val="C00000"/>
                </a:solidFill>
                <a:cs typeface="Times New Roman" panose="02020603050405020304" pitchFamily="18" charset="0"/>
              </a:rPr>
              <a:t>antibiotic resistance </a:t>
            </a:r>
            <a:r>
              <a:rPr lang="en-US" altLang="en-US">
                <a:cs typeface="Times New Roman" panose="02020603050405020304" pitchFamily="18" charset="0"/>
              </a:rPr>
              <a:t>development</a:t>
            </a:r>
            <a:endParaRPr lang="en-IN" altLang="en-US">
              <a:cs typeface="Times New Roman" panose="02020603050405020304" pitchFamily="18" charset="0"/>
            </a:endParaRPr>
          </a:p>
          <a:p>
            <a:pPr marL="636588" indent="-457200">
              <a:spcBef>
                <a:spcPts val="1200"/>
              </a:spcBef>
            </a:pPr>
            <a:r>
              <a:rPr lang="en-US" altLang="en-US">
                <a:cs typeface="Times New Roman" panose="02020603050405020304" pitchFamily="18" charset="0"/>
              </a:rPr>
              <a:t>Poor sensitivity / specificity</a:t>
            </a:r>
            <a:endParaRPr lang="en-IN" altLang="en-US">
              <a:cs typeface="Times New Roman" panose="02020603050405020304" pitchFamily="18" charset="0"/>
            </a:endParaRPr>
          </a:p>
        </p:txBody>
      </p:sp>
      <p:sp>
        <p:nvSpPr>
          <p:cNvPr id="4" name="TextBox 3">
            <a:extLst>
              <a:ext uri="{FF2B5EF4-FFF2-40B4-BE49-F238E27FC236}">
                <a16:creationId xmlns:a16="http://schemas.microsoft.com/office/drawing/2014/main" id="{A5058F01-E239-4787-9E33-47260D2CD661}"/>
              </a:ext>
            </a:extLst>
          </p:cNvPr>
          <p:cNvSpPr txBox="1">
            <a:spLocks noChangeArrowheads="1"/>
          </p:cNvSpPr>
          <p:nvPr/>
        </p:nvSpPr>
        <p:spPr bwMode="auto">
          <a:xfrm>
            <a:off x="5791200" y="6324600"/>
            <a:ext cx="1143000" cy="338138"/>
          </a:xfrm>
          <a:prstGeom prst="rect">
            <a:avLst/>
          </a:prstGeom>
          <a:noFill/>
          <a:ln w="9525">
            <a:noFill/>
            <a:miter lim="800000"/>
            <a:headEnd/>
            <a:tailEnd/>
          </a:ln>
        </p:spPr>
        <p:txBody>
          <a:bodyPr>
            <a:spAutoFit/>
          </a:bodyPr>
          <a:lstStyle/>
          <a:p>
            <a:pPr algn="ctr">
              <a:defRPr/>
            </a:pPr>
            <a:r>
              <a:rPr lang="en-US" sz="1600" dirty="0"/>
              <a:t>34</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0E31F0-F62C-6772-77FF-9820E923E5A3}"/>
              </a:ext>
            </a:extLst>
          </p:cNvPr>
          <p:cNvSpPr txBox="1"/>
          <p:nvPr/>
        </p:nvSpPr>
        <p:spPr>
          <a:xfrm>
            <a:off x="4443984" y="2967335"/>
            <a:ext cx="3921907" cy="923330"/>
          </a:xfrm>
          <a:prstGeom prst="rect">
            <a:avLst/>
          </a:prstGeom>
          <a:noFill/>
        </p:spPr>
        <p:txBody>
          <a:bodyPr wrap="none" rtlCol="0">
            <a:spAutoFit/>
          </a:bodyPr>
          <a:lstStyle/>
          <a:p>
            <a:r>
              <a:rPr lang="en-US" sz="5400" b="1" dirty="0"/>
              <a:t>THANK YOU</a:t>
            </a:r>
          </a:p>
        </p:txBody>
      </p:sp>
    </p:spTree>
    <p:extLst>
      <p:ext uri="{BB962C8B-B14F-4D97-AF65-F5344CB8AC3E}">
        <p14:creationId xmlns:p14="http://schemas.microsoft.com/office/powerpoint/2010/main" val="1648543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TotalTime>
  <Words>3640</Words>
  <Application>Microsoft Office PowerPoint</Application>
  <PresentationFormat>Widescreen</PresentationFormat>
  <Paragraphs>406</Paragraphs>
  <Slides>35</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Aptos</vt:lpstr>
      <vt:lpstr>Aptos Display</vt:lpstr>
      <vt:lpstr>Arial</vt:lpstr>
      <vt:lpstr>Book Antiqua</vt:lpstr>
      <vt:lpstr>Calibri</vt:lpstr>
      <vt:lpstr>Courier New</vt:lpstr>
      <vt:lpstr>Gill Sans MT</vt:lpstr>
      <vt:lpstr>Times New Roman</vt:lpstr>
      <vt:lpstr>Wingdings</vt:lpstr>
      <vt:lpstr>Office Theme</vt:lpstr>
      <vt:lpstr>HIV Screening &amp;STI Syndromic Case Management-An Overview</vt:lpstr>
      <vt:lpstr>Historical Overview of HCT under NACP</vt:lpstr>
      <vt:lpstr>HCTS Delivery under NACP-Phase V</vt:lpstr>
      <vt:lpstr>HIV Screening and HIV Confirmation Test</vt:lpstr>
      <vt:lpstr> Priority population for HCTS include the following:  </vt:lpstr>
      <vt:lpstr> Package of services at HIV/Syphilis Screening Sites </vt:lpstr>
      <vt:lpstr>10S Screening </vt:lpstr>
      <vt:lpstr> Approaches for Community Based Screening  </vt:lpstr>
      <vt:lpstr>Client Flow at Screening Facilities</vt:lpstr>
      <vt:lpstr>Pre-Test Counselling and Post-Test Counselling  at Screening Facilities</vt:lpstr>
      <vt:lpstr>Content Of Pre-Test Counselling</vt:lpstr>
      <vt:lpstr>Content Of Pre-Test Counselling Contd.</vt:lpstr>
      <vt:lpstr>Content of Post Test Counselling</vt:lpstr>
      <vt:lpstr>Content for Post Test Counselling </vt:lpstr>
      <vt:lpstr>Index Testing Services</vt:lpstr>
      <vt:lpstr>Index Testing Contd.</vt:lpstr>
      <vt:lpstr>Index Testing Services Contd.</vt:lpstr>
      <vt:lpstr>SYNDROMIC MANAGEMENT OF STI</vt:lpstr>
      <vt:lpstr>Concentrated Epidemic among Key Risk Groups</vt:lpstr>
      <vt:lpstr>STI/HIV Inter-relationships</vt:lpstr>
      <vt:lpstr>PowerPoint Presentation</vt:lpstr>
      <vt:lpstr>STIs Management Approaches</vt:lpstr>
      <vt:lpstr>Syndromic Management</vt:lpstr>
      <vt:lpstr> Syndromes</vt:lpstr>
      <vt:lpstr> Urethral Discharge </vt:lpstr>
      <vt:lpstr>Cervical Discharge Syndrome (Cervicitis)</vt:lpstr>
      <vt:lpstr>Painful Scrotal Swelling</vt:lpstr>
      <vt:lpstr>Vaginal Discharge Syndrome</vt:lpstr>
      <vt:lpstr>Genital ulcer: Non Herpetic</vt:lpstr>
      <vt:lpstr>Genital ulcer: Herpetic</vt:lpstr>
      <vt:lpstr>Lower Abdominal Pain</vt:lpstr>
      <vt:lpstr>Inguinal Bubo</vt:lpstr>
      <vt:lpstr>Syndromic management: Advantages</vt:lpstr>
      <vt:lpstr>Syndromic management: Limitations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 Screening &amp;STI Syndromic Case Management-An Overview</dc:title>
  <dc:creator>Ingudum Lalit</dc:creator>
  <cp:lastModifiedBy>Farid Sayyed</cp:lastModifiedBy>
  <cp:revision>4</cp:revision>
  <dcterms:created xsi:type="dcterms:W3CDTF">2025-09-08T10:10:14Z</dcterms:created>
  <dcterms:modified xsi:type="dcterms:W3CDTF">2026-08-25T08:05:43Z</dcterms:modified>
</cp:coreProperties>
</file>